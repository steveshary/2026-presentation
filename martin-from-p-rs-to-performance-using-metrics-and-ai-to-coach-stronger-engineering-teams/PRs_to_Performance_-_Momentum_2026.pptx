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6.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60" r:id="rId2"/>
    <p:sldMasterId id="2147483648" r:id="rId3"/>
  </p:sldMasterIdLst>
  <p:notesMasterIdLst>
    <p:notesMasterId r:id="rId57"/>
  </p:notesMasterIdLst>
  <p:sldIdLst>
    <p:sldId id="439" r:id="rId4"/>
    <p:sldId id="440" r:id="rId5"/>
    <p:sldId id="283" r:id="rId6"/>
    <p:sldId id="396" r:id="rId7"/>
    <p:sldId id="397" r:id="rId8"/>
    <p:sldId id="398" r:id="rId9"/>
    <p:sldId id="399" r:id="rId10"/>
    <p:sldId id="282" r:id="rId11"/>
    <p:sldId id="400" r:id="rId12"/>
    <p:sldId id="401" r:id="rId13"/>
    <p:sldId id="402" r:id="rId14"/>
    <p:sldId id="403" r:id="rId15"/>
    <p:sldId id="404" r:id="rId16"/>
    <p:sldId id="273" r:id="rId17"/>
    <p:sldId id="405" r:id="rId18"/>
    <p:sldId id="406" r:id="rId19"/>
    <p:sldId id="407" r:id="rId20"/>
    <p:sldId id="408" r:id="rId21"/>
    <p:sldId id="409" r:id="rId22"/>
    <p:sldId id="410" r:id="rId23"/>
    <p:sldId id="411" r:id="rId24"/>
    <p:sldId id="274" r:id="rId25"/>
    <p:sldId id="413" r:id="rId26"/>
    <p:sldId id="414" r:id="rId27"/>
    <p:sldId id="415" r:id="rId28"/>
    <p:sldId id="416" r:id="rId29"/>
    <p:sldId id="417" r:id="rId30"/>
    <p:sldId id="418" r:id="rId31"/>
    <p:sldId id="287" r:id="rId32"/>
    <p:sldId id="419" r:id="rId33"/>
    <p:sldId id="420" r:id="rId34"/>
    <p:sldId id="421" r:id="rId35"/>
    <p:sldId id="422" r:id="rId36"/>
    <p:sldId id="423" r:id="rId37"/>
    <p:sldId id="424" r:id="rId38"/>
    <p:sldId id="425" r:id="rId39"/>
    <p:sldId id="426" r:id="rId40"/>
    <p:sldId id="427" r:id="rId41"/>
    <p:sldId id="428" r:id="rId42"/>
    <p:sldId id="292" r:id="rId43"/>
    <p:sldId id="429" r:id="rId44"/>
    <p:sldId id="295" r:id="rId45"/>
    <p:sldId id="430" r:id="rId46"/>
    <p:sldId id="431" r:id="rId47"/>
    <p:sldId id="432" r:id="rId48"/>
    <p:sldId id="393" r:id="rId49"/>
    <p:sldId id="394" r:id="rId50"/>
    <p:sldId id="433" r:id="rId51"/>
    <p:sldId id="434" r:id="rId52"/>
    <p:sldId id="435" r:id="rId53"/>
    <p:sldId id="436" r:id="rId54"/>
    <p:sldId id="437" r:id="rId55"/>
    <p:sldId id="412"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9226"/>
    <a:srgbClr val="6F4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13"/>
    <p:restoredTop sz="78471"/>
  </p:normalViewPr>
  <p:slideViewPr>
    <p:cSldViewPr>
      <p:cViewPr varScale="1">
        <p:scale>
          <a:sx n="88" d="100"/>
          <a:sy n="88" d="100"/>
        </p:scale>
        <p:origin x="18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Martin" userId="8483401fc9aa4dea" providerId="LiveId" clId="{50B2688A-6817-52D5-BB42-E8868B9FD1AD}"/>
    <pc:docChg chg="modSld sldOrd">
      <pc:chgData name="Eric Martin" userId="8483401fc9aa4dea" providerId="LiveId" clId="{50B2688A-6817-52D5-BB42-E8868B9FD1AD}" dt="2026-10-15T13:40:24.380" v="3" actId="20578"/>
      <pc:docMkLst>
        <pc:docMk/>
      </pc:docMkLst>
      <pc:sldChg chg="ord">
        <pc:chgData name="Eric Martin" userId="8483401fc9aa4dea" providerId="LiveId" clId="{50B2688A-6817-52D5-BB42-E8868B9FD1AD}" dt="2026-10-15T13:40:24.380" v="3" actId="20578"/>
        <pc:sldMkLst>
          <pc:docMk/>
          <pc:sldMk cId="1811961665" sldId="412"/>
        </pc:sldMkLst>
      </pc:sldChg>
      <pc:sldChg chg="modNotesTx">
        <pc:chgData name="Eric Martin" userId="8483401fc9aa4dea" providerId="LiveId" clId="{50B2688A-6817-52D5-BB42-E8868B9FD1AD}" dt="2026-10-15T13:25:04.388" v="1" actId="20577"/>
        <pc:sldMkLst>
          <pc:docMk/>
          <pc:sldMk cId="1665355" sldId="4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288A2-2DD4-3D44-9D18-1C3C61F982BC}"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D5230-766B-DD4D-889D-EA976530C6E9}" type="slidenum">
              <a:rPr lang="en-US" smtClean="0"/>
              <a:t>‹#›</a:t>
            </a:fld>
            <a:endParaRPr lang="en-US"/>
          </a:p>
        </p:txBody>
      </p:sp>
    </p:spTree>
    <p:extLst>
      <p:ext uri="{BB962C8B-B14F-4D97-AF65-F5344CB8AC3E}">
        <p14:creationId xmlns:p14="http://schemas.microsoft.com/office/powerpoint/2010/main" val="1208025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b</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have been in a meeting where someone pulled up a dashboard and every engineer in the room got *real* quiet? Yeah. That's the meeting we're trying to *not* have. Today I'm going to show you a different approach; one where metrics actually help your team instead of making them update their LinkedIn profile."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paint you a picture. You're an engineering director. Your VP asks, 'How productive is the team?' And you have two options. Option A: 'I think they're doing great, based on vibes.' Option B: you pull up a spreadsheet that makes your engineers feel like they're being graded on a curve in college. Neither of these is leadership. Both of these are what most organizations actually do.”</a:t>
            </a:r>
          </a:p>
          <a:p>
            <a:endParaRPr lang="en-US" dirty="0"/>
          </a:p>
          <a:p>
            <a:r>
              <a:rPr lang="en-US" dirty="0"/>
              <a:t>"I've seen teams where one senior engineer figured out that splitting a 5-point story into five 1-point stories made their velocity look incredible. Technically true. Practically useless. And the worst part? Nobody could call it out because the metric was the metric.”</a:t>
            </a:r>
          </a:p>
          <a:p>
            <a:endParaRPr lang="en-US" dirty="0"/>
          </a:p>
          <a:p>
            <a:r>
              <a:rPr lang="en-US" dirty="0"/>
              <a:t>Goodhart was a U.K. economist/banker. Observed banks/markets will work to “game” metrics once just an observation to make an informed decision.</a:t>
            </a:r>
          </a:p>
          <a:p>
            <a:endParaRPr lang="en-US" dirty="0"/>
          </a:p>
          <a:p>
            <a:r>
              <a:rPr lang="en-US" dirty="0"/>
              <a:t>*****************************************************************</a:t>
            </a:r>
          </a:p>
          <a:p>
            <a:r>
              <a:rPr lang="en-US" sz="1200" b="0" i="1" kern="1200" dirty="0">
                <a:solidFill>
                  <a:schemeClr val="tx1"/>
                </a:solidFill>
                <a:effectLst/>
                <a:latin typeface="+mn-lt"/>
                <a:ea typeface="+mn-ea"/>
                <a:cs typeface="+mn-cs"/>
              </a:rPr>
              <a:t>"You ever sit in one of those meetings where there's a 40-tab dashboard up on the screen, and the VP just goes, 'Yeah... it FEELS like the team's slowing down'?</a:t>
            </a:r>
          </a:p>
          <a:p>
            <a:r>
              <a:rPr lang="en-US" sz="1200" b="0" i="1" kern="1200" dirty="0">
                <a:solidFill>
                  <a:schemeClr val="tx1"/>
                </a:solidFill>
                <a:effectLst/>
                <a:latin typeface="+mn-lt"/>
                <a:ea typeface="+mn-ea"/>
                <a:cs typeface="+mn-cs"/>
              </a:rPr>
              <a:t>Cool. Cool cool cool. I spent six weeks wiring up Grafana so you could have a hunch."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landscape check, because I know some of you have DORA dashboards and SPACE slides in your own organizations. DORA: Google's research, four metrics, tells you if your delivery system is healthy at the team level. Excellent for benchmarking. SPACE: published in 2021, partly as a warning against using DORA as an individual scoreboard, says always pair quantitative with qualitative; also, excellent. Neither of them, on their own, tells you what to say in Monday's 1:1. That's the gap."</a:t>
            </a:r>
          </a:p>
          <a:p>
            <a:r>
              <a:rPr lang="en-US" dirty="0"/>
              <a:t>"Every organization is different. What works for us isn't meant to diminish DORA or SPACE, we borrowed heavily from both. Think of what I'm showing you as a simplification of SPACE; fewer dimensions, easier to explain to a busy director, with DORA-style thinking underneath about pairing speed with quality. Tuned for the coaching conversation, not the board deck. Use what works for your team."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mental model I want you to take away today. Outcomes tell you what happened; they're the rearview mirror. System signals tell you what's *about to* happen; they're the dashboard gauges. And behaviors tell you *why* things are happening; they're the engine light. Most organizations only measure outcomes, then wonder why they can't course-correct. It's like driving by only looking in the rearview mirror. Which, incidentally, is also how my teenager drives."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actually built. Nothing revolutionary about the architecture. You have your project management tool; we use Linear, but this works with Jira or whatever your team has Stockholm Syndrome about. You have GitHub. And you have a Rails app that pulls data from both, runs some calculations, and adds an AI analysis layer on top. The key insight: the AI doesn't generate the metrics. The AI *interprets* the metrics. Big difference. And all of this is automated; there's a single weekly pipeline job that runs on Sunday night, classifies new PR comments, recalculates scores, generates coaching summaries, and produces a trend analysis. By Monday morning, the dashboard is current. Nobody has to remember to press a button."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EBAA-3A33-C3AE-678C-04E254229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7001C-93E2-030B-36CD-A1E959A4D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FEE3C-E214-403E-CF84-A2FF91AFEA17}"/>
              </a:ext>
            </a:extLst>
          </p:cNvPr>
          <p:cNvSpPr>
            <a:spLocks noGrp="1"/>
          </p:cNvSpPr>
          <p:nvPr>
            <p:ph type="body" idx="1"/>
          </p:nvPr>
        </p:nvSpPr>
        <p:spPr/>
        <p:txBody>
          <a:bodyPr/>
          <a:lstStyle/>
          <a:p>
            <a:r>
              <a:rPr lang="en-US" dirty="0"/>
              <a:t>"This is the main dashboard. Two charts I want you to focus on. On the left, velocity by team over our two-week cycles. On the right, and this is the one that changed how I think about estimation, hours per point. This tells you how much calendar time one story point costs. If your team says a task is 3 points and your hours-per-point is 5, that's a day and a half of work. If another team's hours-per-point is 3, that same 3-point task takes about a day. Neither is wrong, but you need to know the conversion rate, or your forecasting is just astrology with a spreadsheet."</a:t>
            </a:r>
          </a:p>
        </p:txBody>
      </p:sp>
    </p:spTree>
    <p:extLst>
      <p:ext uri="{BB962C8B-B14F-4D97-AF65-F5344CB8AC3E}">
        <p14:creationId xmlns:p14="http://schemas.microsoft.com/office/powerpoint/2010/main" val="3996582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per point is my single favorite metric in this entire system, and I say that knowing it sounds like I'm picking a favorite child. Here's why. If Team A ships 50 points in a cycle and Team B ships 30, your instinct is to say Team A is more productive. But if Team A's hours-per-point is 3 and Team B's is 5, then Team A spent 150 hours and Team B spent 150 hours. Same effort, different calibration. Every VP I've shown this to has had a lightbulb moment. It's the metric that stops the 'well, that team ships more points' argument dead in its tracks."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it gets sensitive, and where most organizations mess it up. Individual velocity. Notice what I'm NOT doing here: I'm not ranking people. I'm not comparing Alice to Bob. Each chart shows one person's velocity over time, with a team average line for context. The question isn't 'who's fastest?' The question is 'is this person's pattern changing, and should I ask about it?' If someone who was consistently above average drops for three cycles, that's not a performance problem; that's a conversation starter. Maybe they're onboarding someone. Maybe they're dealing with tech debt. Maybe they're burning out. The metric doesn't tell you why. It tells you to *ask.*"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BA7EB-B51E-BE29-AF1F-7CD3AE6C7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EA7C6-65B7-C070-9615-C698871E6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44FEE-8989-9019-A15C-AA42317EF219}"/>
              </a:ext>
            </a:extLst>
          </p:cNvPr>
          <p:cNvSpPr>
            <a:spLocks noGrp="1"/>
          </p:cNvSpPr>
          <p:nvPr>
            <p:ph type="body" idx="1"/>
          </p:nvPr>
        </p:nvSpPr>
        <p:spPr/>
        <p:txBody>
          <a:bodyPr/>
          <a:lstStyle/>
          <a:p>
            <a:r>
              <a:rPr lang="en-US" dirty="0"/>
              <a:t>"Now here's where it gets sensitive, and where most organizations mess it up. Individual velocity. Notice what I'm NOT doing here: I'm not ranking people. I'm not comparing Alice to Bob. Each chart shows one person's velocity over time, with a team average line for context. The question isn't 'who's fastest?' The question is 'is this person's pattern changing, and should I ask about it?' If someone who was consistently above average drops for three cycles, that's not a performance problem; that's a conversation starter. Maybe they're onboarding someone. Maybe they're dealing with tech debt. Maybe they're burning out. The metric doesn't tell you why. It tells you to *ask.*"</a:t>
            </a:r>
          </a:p>
        </p:txBody>
      </p:sp>
    </p:spTree>
    <p:extLst>
      <p:ext uri="{BB962C8B-B14F-4D97-AF65-F5344CB8AC3E}">
        <p14:creationId xmlns:p14="http://schemas.microsoft.com/office/powerpoint/2010/main" val="3538454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433B1-1E4B-D008-C2F9-3EB1131CE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6CAF3-88F4-FA64-E252-B6E80F2FA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F6075-86F0-537D-918D-F367AE166058}"/>
              </a:ext>
            </a:extLst>
          </p:cNvPr>
          <p:cNvSpPr>
            <a:spLocks noGrp="1"/>
          </p:cNvSpPr>
          <p:nvPr>
            <p:ph type="body" idx="1"/>
          </p:nvPr>
        </p:nvSpPr>
        <p:spPr/>
        <p:txBody>
          <a:bodyPr/>
          <a:lstStyle/>
          <a:p>
            <a:r>
              <a:rPr lang="en-US" dirty="0"/>
              <a:t>"Hours per point is my single favorite metric in this entire system, and I say that knowing it sounds like I'm picking a favorite child. Here's why. If Team A ships 50 points in a cycle and Team B ships 30, your instinct is to say Team A is more productive. But if Team A's hours-per-point is 3 and Team B's is 5, then Team A spent 150 hours and Team B spent 150 hours. Same effort, different calibration. Every VP I've shown this to has had a lightbulb moment. It's the metric that stops the 'well, that team ships more points' argument dead in its tracks."</a:t>
            </a:r>
          </a:p>
        </p:txBody>
      </p:sp>
    </p:spTree>
    <p:extLst>
      <p:ext uri="{BB962C8B-B14F-4D97-AF65-F5344CB8AC3E}">
        <p14:creationId xmlns:p14="http://schemas.microsoft.com/office/powerpoint/2010/main" val="1723487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charts, four stories. Review rounds tells you how many back-and-forth cycles a PR goes through before merge. If this number is creeping up, your team might be shipping less-ready PRs, or your reviewers might be getting pickier; worth investigating. Time to merge; how long from PR open to merged. Changes requested rate; what percentage of PRs get pushed back. And time to first review, this is the collaboration metric. If PRs sit for 18 hours before anyone looks at them, you have a review culture problem, not a code quality problem."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A23D-7001-1B59-60F1-3A630A9F5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D36BC-E5A9-B2D9-081D-FC261A7E5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C7C40-A41E-4DDA-A205-8A0DE307BEC1}"/>
              </a:ext>
            </a:extLst>
          </p:cNvPr>
          <p:cNvSpPr>
            <a:spLocks noGrp="1"/>
          </p:cNvSpPr>
          <p:nvPr>
            <p:ph type="body" idx="1"/>
          </p:nvPr>
        </p:nvSpPr>
        <p:spPr/>
        <p:txBody>
          <a:bodyPr/>
          <a:lstStyle/>
          <a:p>
            <a:r>
              <a:rPr lang="en-US" dirty="0"/>
              <a:t>"Four charts, four stories. Review rounds tells you how many back-and-forth cycles a PR goes through before merge. If this number is creeping up, your team might be shipping less-ready PRs, or your reviewers might be getting pickier; worth investigating. Time to merge; how long from PR open to merged. Changes requested rate; what percentage of PRs get pushed back. And time to first review, this is the collaboration metric. If PRs sit for 18 hours before anyone looks at them, you have a review culture problem, not a code quality problem."</a:t>
            </a:r>
          </a:p>
        </p:txBody>
      </p:sp>
    </p:spTree>
    <p:extLst>
      <p:ext uri="{BB962C8B-B14F-4D97-AF65-F5344CB8AC3E}">
        <p14:creationId xmlns:p14="http://schemas.microsoft.com/office/powerpoint/2010/main" val="1835430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3F571-A9DB-7C22-42A0-135998FC5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00473-009C-7600-5A5D-298D0F190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19E67-00D6-27F4-35DF-A74C61A8686A}"/>
              </a:ext>
            </a:extLst>
          </p:cNvPr>
          <p:cNvSpPr>
            <a:spLocks noGrp="1"/>
          </p:cNvSpPr>
          <p:nvPr>
            <p:ph type="body" idx="1"/>
          </p:nvPr>
        </p:nvSpPr>
        <p:spPr/>
        <p:txBody>
          <a:bodyPr/>
          <a:lstStyle/>
          <a:p>
            <a:r>
              <a:rPr lang="en-US" dirty="0"/>
              <a:t>"Four charts, four stories. Review rounds tells you how many back-and-forth cycles a PR goes through before merge. If this number is creeping up, your team might be shipping less-ready PRs, or your reviewers might be getting pickier; worth investigating. Time to merge; how long from PR open to merged. Changes requested rate; what percentage of PRs get pushed back. And time to first review, this is the collaboration metric. If PRs sit for 18 hours before anyone looks at them, you have a review culture problem, not a code quality problem."</a:t>
            </a:r>
          </a:p>
        </p:txBody>
      </p:sp>
    </p:spTree>
    <p:extLst>
      <p:ext uri="{BB962C8B-B14F-4D97-AF65-F5344CB8AC3E}">
        <p14:creationId xmlns:p14="http://schemas.microsoft.com/office/powerpoint/2010/main" val="517868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CC604-9D95-E85B-31B2-FA01952E9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E3808-2A02-878E-3B8F-7044C9058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C9BA1-5F3B-385D-7923-AC9F848606FD}"/>
              </a:ext>
            </a:extLst>
          </p:cNvPr>
          <p:cNvSpPr>
            <a:spLocks noGrp="1"/>
          </p:cNvSpPr>
          <p:nvPr>
            <p:ph type="body" idx="1"/>
          </p:nvPr>
        </p:nvSpPr>
        <p:spPr/>
        <p:txBody>
          <a:bodyPr/>
          <a:lstStyle/>
          <a:p>
            <a:r>
              <a:rPr lang="en-US" dirty="0"/>
              <a:t>"Four charts, four stories. Review rounds tells you how many back-and-forth cycles a PR goes through before merge. If this number is creeping up, your team might be shipping less-ready PRs, or your reviewers might be getting pickier; worth investigating. Time to merge; how long from PR open to merged. Changes requested rate; what percentage of PRs get pushed back. And time to first review, this is the collaboration metric. If PRs sit for 18 hours before anyone looks at them, you have a review culture problem, not a code quality problem."</a:t>
            </a:r>
          </a:p>
        </p:txBody>
      </p:sp>
    </p:spTree>
    <p:extLst>
      <p:ext uri="{BB962C8B-B14F-4D97-AF65-F5344CB8AC3E}">
        <p14:creationId xmlns:p14="http://schemas.microsoft.com/office/powerpoint/2010/main" val="3613424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0416E-DC81-C4E8-2EAC-4B2D6B7CB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CF3412-149C-463D-AE05-0EBCCCB25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35F6D-498A-5A9A-4D80-557BE50E0C8A}"/>
              </a:ext>
            </a:extLst>
          </p:cNvPr>
          <p:cNvSpPr>
            <a:spLocks noGrp="1"/>
          </p:cNvSpPr>
          <p:nvPr>
            <p:ph type="body" idx="1"/>
          </p:nvPr>
        </p:nvSpPr>
        <p:spPr/>
        <p:txBody>
          <a:bodyPr/>
          <a:lstStyle/>
          <a:p>
            <a:r>
              <a:rPr lang="en-US" dirty="0"/>
              <a:t>"Four charts, four stories. Review rounds tells you how many back-and-forth cycles a PR goes through before merge. If this number is creeping up, your team might be shipping less-ready PRs, or your reviewers might be getting pickier; worth investigating. Time to merge; how long from PR open to merged. Changes requested rate; what percentage of PRs get pushed back. And time to first review, this is the collaboration metric. If PRs sit for 18 hours before anyone looks at them, you have a review culture problem, not a code quality problem."</a:t>
            </a:r>
          </a:p>
        </p:txBody>
      </p:sp>
    </p:spTree>
    <p:extLst>
      <p:ext uri="{BB962C8B-B14F-4D97-AF65-F5344CB8AC3E}">
        <p14:creationId xmlns:p14="http://schemas.microsoft.com/office/powerpoint/2010/main" val="2470955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B1F2A-AA96-85D0-1B33-0D4A5DAC7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5720D-24E5-F1C4-1BE5-97ECEDA6B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4A7C1-98FC-3380-C6E9-BA5555743889}"/>
              </a:ext>
            </a:extLst>
          </p:cNvPr>
          <p:cNvSpPr>
            <a:spLocks noGrp="1"/>
          </p:cNvSpPr>
          <p:nvPr>
            <p:ph type="body" idx="1"/>
          </p:nvPr>
        </p:nvSpPr>
        <p:spPr/>
        <p:txBody>
          <a:bodyPr/>
          <a:lstStyle/>
          <a:p>
            <a:r>
              <a:rPr lang="en-US" dirty="0"/>
              <a:t>"Four charts, four stories. Review rounds tells you how many back-and-forth cycles a PR goes through before merge. If this number is creeping up, your team might be shipping less-ready PRs, or your reviewers might be getting pickier; worth investigating. Time to merge; how long from PR open to merged. Changes requested rate; what percentage of PRs get pushed back. And time to first review, this is the collaboration metric. If PRs sit for 18 hours before anyone looks at them, you have a review culture problem, not a code quality problem."</a:t>
            </a:r>
          </a:p>
        </p:txBody>
      </p:sp>
    </p:spTree>
    <p:extLst>
      <p:ext uri="{BB962C8B-B14F-4D97-AF65-F5344CB8AC3E}">
        <p14:creationId xmlns:p14="http://schemas.microsoft.com/office/powerpoint/2010/main" val="3612289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562E3-F223-B440-46DD-E857C9C56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4FCDA-50C0-ECBD-7AAC-EEC1A464D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E8CDC-1680-DC9F-BA31-D658978CD045}"/>
              </a:ext>
            </a:extLst>
          </p:cNvPr>
          <p:cNvSpPr>
            <a:spLocks noGrp="1"/>
          </p:cNvSpPr>
          <p:nvPr>
            <p:ph type="body" idx="1"/>
          </p:nvPr>
        </p:nvSpPr>
        <p:spPr/>
        <p:txBody>
          <a:bodyPr/>
          <a:lstStyle/>
          <a:p>
            <a:r>
              <a:rPr lang="en-US" dirty="0"/>
              <a:t>"Four charts, four stories. Review rounds tells you how many back-and-forth cycles a PR goes through before merge. If this number is creeping up, your team might be shipping less-ready PRs, or your reviewers might be getting pickier; worth investigating. Time to merge; how long from PR open to merged. Changes requested rate; what percentage of PRs get pushed back. And time to first review, this is the collaboration metric. If PRs sit for 18 hours before anyone looks at them, you have a review culture problem, not a code quality problem."</a:t>
            </a:r>
          </a:p>
        </p:txBody>
      </p:sp>
    </p:spTree>
    <p:extLst>
      <p:ext uri="{BB962C8B-B14F-4D97-AF65-F5344CB8AC3E}">
        <p14:creationId xmlns:p14="http://schemas.microsoft.com/office/powerpoint/2010/main" val="1938426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"We're going to use AI to classify code quality. Not JUDGE it. CLASSIFY it.</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Big difference. Judging is what your tech lead does on Slack at 11pm.</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Classifying is what the robot does. Politely. In a JSON response."</a:t>
            </a:r>
          </a:p>
          <a:p>
            <a:br>
              <a:rPr lang="en-US" dirty="0"/>
            </a:br>
            <a:endParaRPr lang="en-US" dirty="0"/>
          </a:p>
        </p:txBody>
      </p:sp>
      <p:sp>
        <p:nvSpPr>
          <p:cNvPr id="4" name="Slide Number Placeholder 3"/>
          <p:cNvSpPr>
            <a:spLocks noGrp="1"/>
          </p:cNvSpPr>
          <p:nvPr>
            <p:ph type="sldNum" sz="quarter" idx="5"/>
          </p:nvPr>
        </p:nvSpPr>
        <p:spPr/>
        <p:txBody>
          <a:bodyPr/>
          <a:lstStyle/>
          <a:p>
            <a:fld id="{1A8D5230-766B-DD4D-889D-EA976530C6E9}" type="slidenum">
              <a:rPr lang="en-US" smtClean="0"/>
              <a:t>22</a:t>
            </a:fld>
            <a:endParaRPr lang="en-US"/>
          </a:p>
        </p:txBody>
      </p:sp>
    </p:spTree>
    <p:extLst>
      <p:ext uri="{BB962C8B-B14F-4D97-AF65-F5344CB8AC3E}">
        <p14:creationId xmlns:p14="http://schemas.microsoft.com/office/powerpoint/2010/main" val="968325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 where half of you get excited and the other half get nervous. We're using Claude to analyze PR review comments. Not to replace code review. Not to judge engineers. To classify and pattern-match at a scale no human can do manually. Every PR review comment gets categorized, is this pointing out a bug? A missing test? A design issue? Praise? That classification feeds into per-engineer scoring across four dimensions. But, and this is the most important 'but' in this entire talk, every score comes with a confidence rating. Because if the AI is only 50% sure that comment was about a missing test, you should probably check before you bring it up in a 1:1."</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prompt, simplified for the slide but this is what runs. Notice a few things. First, we're asking for exactly one category per comment. No ambiguity. Second, we ask for a confidence score between 0 and 1. And third, we ask for reasoning, a brief explanation of why it chose that category. The reasoning is important because when I spot-check the AI's work, and you should always spot-check, I can see if it understood the comment or got confused. The model is Claude Opus, which costs more than Haiku but gave us about 5 percentage points more accuracy on the ambiguous categories."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dimensions, deliberately weighted. Testing is 30%, that's the heaviest weight because in my experience, testing habits are the highest-leverage behavior to improve. Code quality is 25%, bugs found, security issues. Collaboration is 25%, PR size, praise received, review engagement. Standards is 20%, design issues, DRY violations. I'm making an opinionated statement with these weights: I care more about whether you write tests than whether your code follows every design pattern. You should set weights that match YOUR team's values."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B5B02-A46B-D14D-6DD2-00590072A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D376D-3522-1CB1-952E-10BD5818E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A168D-BE5E-A5A4-D8D6-22C538C22D3F}"/>
              </a:ext>
            </a:extLst>
          </p:cNvPr>
          <p:cNvSpPr>
            <a:spLocks noGrp="1"/>
          </p:cNvSpPr>
          <p:nvPr>
            <p:ph type="body" idx="1"/>
          </p:nvPr>
        </p:nvSpPr>
        <p:spPr/>
        <p:txBody>
          <a:bodyPr/>
          <a:lstStyle/>
          <a:p>
            <a:r>
              <a:rPr lang="en-US" dirty="0"/>
              <a:t>"The team averages give you the 10,000-foot view. Testing at 4.7 out of 5, our team is pretty solid on testing. Standards at 3.7, that's our growth area. Then the per-engineer table. And notice the Trend column, those green arrows mean improving, red means declining. I don't use this table for performance reviews. I use it for 1:1 prep. If I see someone declining over two periods, I know to ask about it. Not accuse. Ask."</a:t>
            </a:r>
          </a:p>
        </p:txBody>
      </p:sp>
    </p:spTree>
    <p:extLst>
      <p:ext uri="{BB962C8B-B14F-4D97-AF65-F5344CB8AC3E}">
        <p14:creationId xmlns:p14="http://schemas.microsoft.com/office/powerpoint/2010/main" val="35841372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D3B29-40B0-B590-3421-DA8BB7C44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BEF97-41D5-7318-FFDD-FBED220D2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EB96B-3C1C-9A11-A70C-CD7E29772AED}"/>
              </a:ext>
            </a:extLst>
          </p:cNvPr>
          <p:cNvSpPr>
            <a:spLocks noGrp="1"/>
          </p:cNvSpPr>
          <p:nvPr>
            <p:ph type="body" idx="1"/>
          </p:nvPr>
        </p:nvSpPr>
        <p:spPr/>
        <p:txBody>
          <a:bodyPr/>
          <a:lstStyle/>
          <a:p>
            <a:r>
              <a:rPr lang="en-US" dirty="0"/>
              <a:t>"The team averages give you the 10,000-foot view. Testing at 4.7 out of 5, our team is pretty solid on testing. Standards at 3.7, that's our growth area. Then the per-engineer table. And notice the Trend column, those green arrows mean improving, red means declining. I don't use this table for performance reviews. I use it for 1:1 prep. If I see someone declining over two periods, I know to ask about it. Not accuse. Ask."</a:t>
            </a:r>
          </a:p>
        </p:txBody>
      </p:sp>
    </p:spTree>
    <p:extLst>
      <p:ext uri="{BB962C8B-B14F-4D97-AF65-F5344CB8AC3E}">
        <p14:creationId xmlns:p14="http://schemas.microsoft.com/office/powerpoint/2010/main" val="4286855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95795-3055-52E1-3EC7-817026BAC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0F9BD-DDA1-7A43-CBDE-84B6B8456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26D5D-9073-5E4F-4E98-522B6DE9299F}"/>
              </a:ext>
            </a:extLst>
          </p:cNvPr>
          <p:cNvSpPr>
            <a:spLocks noGrp="1"/>
          </p:cNvSpPr>
          <p:nvPr>
            <p:ph type="body" idx="1"/>
          </p:nvPr>
        </p:nvSpPr>
        <p:spPr/>
        <p:txBody>
          <a:bodyPr/>
          <a:lstStyle/>
          <a:p>
            <a:r>
              <a:rPr lang="en-US" dirty="0"/>
              <a:t>"The team averages give you the 10,000-foot view. Testing at 4.7 out of 5, our team is pretty solid on testing. Standards at 3.7, that's our growth area. Then the per-engineer table. And notice the Trend column, those green arrows mean improving, red means declining. I don't use this table for performance reviews. I use it for 1:1 prep. If I see someone declining over two periods, I know to ask about it. Not accuse. Ask."</a:t>
            </a:r>
          </a:p>
        </p:txBody>
      </p:sp>
    </p:spTree>
    <p:extLst>
      <p:ext uri="{BB962C8B-B14F-4D97-AF65-F5344CB8AC3E}">
        <p14:creationId xmlns:p14="http://schemas.microsoft.com/office/powerpoint/2010/main" val="810192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2A0C-C2E0-6E7D-69FA-0B08A2D8E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65BE5-1555-EAAE-D2B0-6E72D9D3B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1EC67-9E5B-0B94-A01E-FBDBDF8D9A40}"/>
              </a:ext>
            </a:extLst>
          </p:cNvPr>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extLst>
      <p:ext uri="{BB962C8B-B14F-4D97-AF65-F5344CB8AC3E}">
        <p14:creationId xmlns:p14="http://schemas.microsoft.com/office/powerpoint/2010/main" val="38765023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11B49-5C4B-7F07-B525-51A4B95B7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344FE-9456-A9DE-B757-414E6F560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58CBF-9358-ED97-98F7-0F2FD4FF6B77}"/>
              </a:ext>
            </a:extLst>
          </p:cNvPr>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extLst>
      <p:ext uri="{BB962C8B-B14F-4D97-AF65-F5344CB8AC3E}">
        <p14:creationId xmlns:p14="http://schemas.microsoft.com/office/powerpoint/2010/main" val="409971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C3F9-3A8B-A0EE-87AA-78116E3E6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5C2A9-9823-1B19-8193-0BF7FE69D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E215F-D126-7216-E243-D7D99DD993CB}"/>
              </a:ext>
            </a:extLst>
          </p:cNvPr>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extLst>
      <p:ext uri="{BB962C8B-B14F-4D97-AF65-F5344CB8AC3E}">
        <p14:creationId xmlns:p14="http://schemas.microsoft.com/office/powerpoint/2010/main" val="28136773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690D3-5880-2FCE-D609-235FF000A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2BB0F-E6FB-F150-0C99-2648B6449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342BC-81B9-C924-EB3C-55F0AF838AB4}"/>
              </a:ext>
            </a:extLst>
          </p:cNvPr>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extLst>
      <p:ext uri="{BB962C8B-B14F-4D97-AF65-F5344CB8AC3E}">
        <p14:creationId xmlns:p14="http://schemas.microsoft.com/office/powerpoint/2010/main" val="42743975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93B1B-2606-3168-B1A4-9AC7343D9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CA079-508E-5887-3D11-559267C98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AB18D-0D7B-2FAC-DEAF-9CDF22030ECC}"/>
              </a:ext>
            </a:extLst>
          </p:cNvPr>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extLst>
      <p:ext uri="{BB962C8B-B14F-4D97-AF65-F5344CB8AC3E}">
        <p14:creationId xmlns:p14="http://schemas.microsoft.com/office/powerpoint/2010/main" val="13037817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EDC8-FDC8-425E-2A8A-A37BD94CE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55F36-0525-31BE-6343-D3F256A2A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4E684-8B3C-4AB0-5D3E-A4A789A8675F}"/>
              </a:ext>
            </a:extLst>
          </p:cNvPr>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extLst>
      <p:ext uri="{BB962C8B-B14F-4D97-AF65-F5344CB8AC3E}">
        <p14:creationId xmlns:p14="http://schemas.microsoft.com/office/powerpoint/2010/main" val="31743675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7146D-F92E-D9C8-4D18-E74C81C8A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680A5-CBE8-2DE6-8D88-24ACC4017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F5540-B613-A95C-7E4C-3EE87540B68F}"/>
              </a:ext>
            </a:extLst>
          </p:cNvPr>
          <p:cNvSpPr>
            <a:spLocks noGrp="1"/>
          </p:cNvSpPr>
          <p:nvPr>
            <p:ph type="body" idx="1"/>
          </p:nvPr>
        </p:nvSpPr>
        <p:spPr/>
        <p:txBody>
          <a:bodyPr/>
          <a:lstStyle/>
          <a:p>
            <a:r>
              <a:rPr lang="en-US" dirty="0"/>
              <a:t>"This is what you see when you click into an individual engineer. Team context; they're in the 100th percentile, with deltas showing how they compare. PR signals; 3.1 average review rounds, 67.9% first-pass approval. And look at the Coaching Prompt card on the right; the AI is already suggesting a specific PR to discuss and what to watch for. The four score cards below give you the breakdown. This person is 5.0 on code quality and collaboration, 4.7 on testing, 4.3 on standards. That standards score tells me they might benefit from pairing on architecture decisions. Not because they're bad; because that's their growth edge."</a:t>
            </a:r>
          </a:p>
        </p:txBody>
      </p:sp>
    </p:spTree>
    <p:extLst>
      <p:ext uri="{BB962C8B-B14F-4D97-AF65-F5344CB8AC3E}">
        <p14:creationId xmlns:p14="http://schemas.microsoft.com/office/powerpoint/2010/main" val="41634520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coaching prompt. The one that takes all that quantitative data and turns it into a conversation guide. Notice the guardrails baked into the prompt: 'Frame growth areas as opportunities, not criticisms.' 'Reference actual numbers.' 'If scores are improving, acknowledge the progress.' The AI doesn't decide what to do. It gives you talking points. You decide what's actually relevant based on context the AI doesn't have, like the fact that this person just got back from parental leave, or they're leading a new initiative that doesn't show up in PR metrics."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you actually USE all of this without becoming Big Brother. Five steps. </a:t>
            </a:r>
            <a:br>
              <a:rPr lang="en-US" dirty="0"/>
            </a:br>
            <a:r>
              <a:rPr lang="en-US" dirty="0"/>
              <a:t>1. Notice: the dashboard flagged something. </a:t>
            </a:r>
          </a:p>
          <a:p>
            <a:r>
              <a:rPr lang="en-US" dirty="0"/>
              <a:t>2. Contextualize: before you say anything, ask yourself if there's an obvious explanation. </a:t>
            </a:r>
          </a:p>
          <a:p>
            <a:r>
              <a:rPr lang="en-US" dirty="0"/>
              <a:t>3. Discuss: use the coaching summary, not the raw numbers, in your 1:1. </a:t>
            </a:r>
          </a:p>
          <a:p>
            <a:r>
              <a:rPr lang="en-US" dirty="0"/>
              <a:t>4. Support: this is where leadership actually happens. </a:t>
            </a:r>
          </a:p>
          <a:p>
            <a:r>
              <a:rPr lang="en-US" dirty="0"/>
              <a:t>5. Track: check back next cycle. </a:t>
            </a:r>
          </a:p>
          <a:p>
            <a:endParaRPr lang="en-US" dirty="0"/>
          </a:p>
          <a:p>
            <a:r>
              <a:rPr lang="en-US" dirty="0"/>
              <a:t>Notice I said 'support,' not 'put on a PIP.' If your first instinct when you see a metric dip is to escalate, you've missed the entire point. These are coaching tools. If you use them as weapons, your best engineers will leave. And they should."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talk about trust, because without it, none of this works. First, presentation mode. One click in the nav bar and every name becomes an alias. Even team names get anonymized; Platform becomes Alpha, </a:t>
            </a:r>
            <a:r>
              <a:rPr lang="en-US" dirty="0" err="1"/>
              <a:t>Kompass</a:t>
            </a:r>
            <a:r>
              <a:rPr lang="en-US" dirty="0"/>
              <a:t> becomes Bravo, Audit becomes Charlie, so I can demo this to the whole company, or post a screenshot in a blog, without exposing individual data or org structure. Second, the UI literally says 'AI-assisted, not truth' on every page. Third, confidence badges. Fourth, and this is the one most organizations get wrong, engineers can see their own data. Transparency breeds trust. If you hide the metrics from the people being measured, they'll assume the worst. If you show them, they'll help you make the metrics better. And fifth, automation. A weekly pipeline regenerates everything on Sunday night, so nobody has to remember to press a button. If the data is always current, nobody can argue 'well, those numbers are stale.'"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build this. Seriously. The tech stack is straightforward; web app framework, DB, background jobs, charts for visualization, and AI API for the AI layer. The total API cost for classifying all our PR comments is about the same as your team's monthly coffee budget. The hardest part isn't the code. It's the conversation with your team about WHY you're doing it. Have that conversation first. Get their input on what dimensions matter. Let them help calibrate. If they feel ownership over the system, they'll trust it.”</a:t>
            </a:r>
          </a:p>
          <a:p>
            <a:endParaRPr lang="en-US" dirty="0"/>
          </a:p>
          <a:p>
            <a:r>
              <a:rPr lang="en-US" sz="1200" b="0" i="1" kern="1200" dirty="0">
                <a:solidFill>
                  <a:schemeClr val="tx1"/>
                </a:solidFill>
                <a:effectLst/>
                <a:latin typeface="+mn-lt"/>
                <a:ea typeface="+mn-ea"/>
                <a:cs typeface="+mn-cs"/>
              </a:rPr>
              <a:t>"I'm </a:t>
            </a:r>
            <a:r>
              <a:rPr lang="en-US" sz="1200" b="0" i="1" kern="1200" dirty="0" err="1">
                <a:solidFill>
                  <a:schemeClr val="tx1"/>
                </a:solidFill>
                <a:effectLst/>
                <a:latin typeface="+mn-lt"/>
                <a:ea typeface="+mn-ea"/>
                <a:cs typeface="+mn-cs"/>
              </a:rPr>
              <a:t>gonna</a:t>
            </a:r>
            <a:r>
              <a:rPr lang="en-US" sz="1200" b="0" i="1" kern="1200" dirty="0">
                <a:solidFill>
                  <a:schemeClr val="tx1"/>
                </a:solidFill>
                <a:effectLst/>
                <a:latin typeface="+mn-lt"/>
                <a:ea typeface="+mn-ea"/>
                <a:cs typeface="+mn-cs"/>
              </a:rPr>
              <a:t> show you how to build this yourself. It's not that hard.</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I mean — it WAS hard. For me. I did it.</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But for YOU? Probably fine.”</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(beat) "That's the most honest sentence in any conference talk you'll see today."</a:t>
            </a:r>
          </a:p>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take with you. </a:t>
            </a:r>
          </a:p>
          <a:p>
            <a:pPr marL="228600" indent="-228600">
              <a:buFont typeface="+mj-lt"/>
              <a:buAutoNum type="arabicPeriod"/>
            </a:pPr>
            <a:r>
              <a:rPr lang="en-US" dirty="0"/>
              <a:t>The three-tier framework; know the difference between outcomes, signals, and behaviors. </a:t>
            </a:r>
          </a:p>
          <a:p>
            <a:pPr marL="228600" indent="-228600">
              <a:buFont typeface="+mj-lt"/>
              <a:buAutoNum type="arabicPeriod"/>
            </a:pPr>
            <a:r>
              <a:rPr lang="en-US" dirty="0"/>
              <a:t>Hours-per-point. To calculate it this week. </a:t>
            </a:r>
          </a:p>
          <a:p>
            <a:pPr marL="228600" indent="-228600">
              <a:buFont typeface="+mj-lt"/>
              <a:buAutoNum type="arabicPeriod"/>
            </a:pPr>
            <a:r>
              <a:rPr lang="en-US" dirty="0"/>
              <a:t>AI confidence labels:  if you add AI to your metrics, add confidence, or you'll create a monster. </a:t>
            </a:r>
          </a:p>
          <a:p>
            <a:pPr marL="228600" indent="-228600">
              <a:buFont typeface="+mj-lt"/>
              <a:buAutoNum type="arabicPeriod"/>
            </a:pPr>
            <a:r>
              <a:rPr lang="en-US" dirty="0"/>
              <a:t>Guardrails: presentation mode, transparency, access control. </a:t>
            </a:r>
          </a:p>
          <a:p>
            <a:pPr marL="228600" indent="-228600">
              <a:buFont typeface="+mj-lt"/>
              <a:buAutoNum type="arabicPeriod"/>
            </a:pPr>
            <a:r>
              <a:rPr lang="en-US" dirty="0"/>
              <a:t>I cannot stress this enough; these metrics should start conversations. If the first thing you do with this data is put someone on a performance improvement plan, you've failed. If the first thing you do is have a curious, supportive 1:1 where you ask 'Hey, I noticed a pattern.  What's going on and how can I help?’, you've succeeded."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I'll be around for questions. And if anyone asks me to rank my engineers using this data, I will politely but firmly point you to slide 4. Alright, what questions do you have?"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C387E-FFE4-3588-9C3A-A070622C3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6DE09-1362-ABFA-A2C2-82941A450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305C8-3FF8-E84F-457B-746F39D0CBE3}"/>
              </a:ext>
            </a:extLst>
          </p:cNvPr>
          <p:cNvSpPr>
            <a:spLocks noGrp="1"/>
          </p:cNvSpPr>
          <p:nvPr>
            <p:ph type="body" idx="1"/>
          </p:nvPr>
        </p:nvSpPr>
        <p:spPr/>
        <p:txBody>
          <a:bodyPr/>
          <a:lstStyle/>
          <a:p>
            <a:r>
              <a:rPr lang="en-US"/>
              <a:t>"Hours per point is my single favorite metric in this entire system, and I say that knowing it sounds like I'm picking a favorite child. Here's why. If Team A ships 50 points in a cycle and Team B ships 30, your instinct is to say Team A is more productive. But if Team A's hours-per-point is 3 and Team B's is 5, then Team A spent 150 hours and Team B spent 150 hours. Same effort, different calibration. Every VP I've shown this to has had a lightbulb moment. It's the metric that stops the 'well, that team ships more points' argument dead in its tracks."</a:t>
            </a:r>
          </a:p>
        </p:txBody>
      </p:sp>
    </p:spTree>
    <p:extLst>
      <p:ext uri="{BB962C8B-B14F-4D97-AF65-F5344CB8AC3E}">
        <p14:creationId xmlns:p14="http://schemas.microsoft.com/office/powerpoint/2010/main" val="16056101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you keep AI from becoming 'truth.' Every classification has a confidence score. 86% overall, that's our team average. High confidence. But see that 50% badge on the 'Missing tests' classification? That means the AI wasn't sure. And honestly, when I spot-checked that one, it was a comment asking 'should we add a test for this?', which is technically a question, not a missing-test flag. The AI got confused. That's fine. That's why we show the confidence. Low-confidence items, anything under 60%, should be manually verified before you act on them. The dashboard literally tells you: 'AI guidance is a signal, not a verdict.'"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is not optional. It's the difference between a useful tool and a dangerous one. Here's our actual numbers. 9,600 comments classified. 83% average confidence. The AI is most confident on praise and bugs, because 'great job!' and 'this will crash in production' are hard to misinterpret. It's least confident on neutral comments and nitpicks, because 'you could also do it this way' could be a nitpick, a design suggestion, or just thinking out loud. Knowing this lets me ignore the categories where the AI struggles and trust the ones where it's reliable."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this system from the black-box AI products you've seen pitched. A lot of AI dashboards give you a score and say 'trust us, the model decided.' That's how you lose engineers. Here's how it actually works. The AI does one job, classification. It reads a comment and tags it. Is this a bug? A missing test? A design concern? A compliment? That's it. That's the only place Claude makes a decision."</a:t>
            </a:r>
          </a:p>
          <a:p>
            <a:r>
              <a:rPr lang="en-US" dirty="0"/>
              <a:t>"Then the scoring is just math. Every </a:t>
            </a:r>
            <a:r>
              <a:rPr lang="en-US" dirty="0" err="1"/>
              <a:t>bug_found</a:t>
            </a:r>
            <a:r>
              <a:rPr lang="en-US" dirty="0"/>
              <a:t> is worth minus 2 points. Every </a:t>
            </a:r>
            <a:r>
              <a:rPr lang="en-US" dirty="0" err="1"/>
              <a:t>missing_tests</a:t>
            </a:r>
            <a:r>
              <a:rPr lang="en-US" dirty="0"/>
              <a:t> is worth minus 2.5. Every praise is worth plus 0.3. We count them up per engineer, normalize per PR so someone who ships 50 PRs isn't penalized compared to someone who ships 5, then we weight the four dimensions and produce the final score."</a:t>
            </a:r>
          </a:p>
          <a:p>
            <a:r>
              <a:rPr lang="en-US" dirty="0"/>
              <a:t>"Why does this matter? Because when an engineer asks 'why is my code quality a 4.2 instead of a 4.5?', I can answer. I can pull up every </a:t>
            </a:r>
            <a:r>
              <a:rPr lang="en-US" dirty="0" err="1"/>
              <a:t>bug_found</a:t>
            </a:r>
            <a:r>
              <a:rPr lang="en-US" dirty="0"/>
              <a:t> comment that hit their PRs, show them the classifications, show them the weights, and walk them through the arithmetic. If an AI produced the final score directly, I couldn't do that. And that lack of transparency is exactly why so many engineering metrics dashboards fail."</a:t>
            </a:r>
          </a:p>
          <a:p>
            <a:r>
              <a:rPr lang="en-US" dirty="0"/>
              <a:t>"One more thing. You can change these weights. If your team's priority is security, crank up </a:t>
            </a:r>
            <a:r>
              <a:rPr lang="en-US" dirty="0" err="1"/>
              <a:t>security_issue</a:t>
            </a:r>
            <a:r>
              <a:rPr lang="en-US" dirty="0"/>
              <a:t> to -5. If you care more about design than testing, swap the dimension weights. These numbers are editorial choices, opinions, not truth. Make them *your* opinions, and be prepared to defend them."</a:t>
            </a:r>
          </a:p>
          <a:p>
            <a:r>
              <a:rPr lang="en-US" dirty="0"/>
              <a:t>"And notice at the bottom: three categories that are classified but *not* currently scored, `</a:t>
            </a:r>
            <a:r>
              <a:rPr lang="en-US" dirty="0" err="1"/>
              <a:t>breaking_change</a:t>
            </a:r>
            <a:r>
              <a:rPr lang="en-US" dirty="0"/>
              <a:t>`, `documentation`, and `nitpick`. I'm showing you that on purpose. If I hid it, someone in this audience would go read the code later and catch me. The AI still tags these categories, they're useful for trend analysis on the dashboard, but I haven't decided how much they should affect individual scores yet. That's the honest answer. Transparency includes being transparent about what's *not* done."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you what TO measure, let's have a moment of silence for the metrics we need to bury. Lines of code. I once had a developer who deleted 2,000 lines in a refactor. By lines-of-code metrics, he had a negative productivity week. By every other measure, he was the most productive person on the team. Commit frequency; if you're measuring this, you're basically telling your engineers that `git commit -m '</a:t>
            </a:r>
            <a:r>
              <a:rPr lang="en-US" dirty="0" err="1"/>
              <a:t>wip</a:t>
            </a:r>
            <a:r>
              <a:rPr lang="en-US" dirty="0"/>
              <a:t>'` fifteen times a day is what success looks like. Stop it."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that tells you if your codebase is getting better or worse over time. Standards drift. Each line represents a category of issues found in PR reviews, normalized per PR so that months where you ship more don't artificially spike. If that red 'Critical' line is trending up, you have a growing quality problem. If the purple 'Testing' line is dropping, your team is getting better at including tests. The normalization is key, it answers 'are we finding more issues per PR?' not just 'are we finding more issues because we shipped more PRs?'"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4CB70-048A-0431-86E2-57A5F256DF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69E6D5-2B8C-C757-8A39-91337F6DAC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1B1A45-2DA2-441C-2E17-37E6DEC089DB}"/>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0B7F9F2F-C327-49B7-1339-A1C696830C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4C624D-2D66-85EA-8E1E-9E832B3C8EE9}"/>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884052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D58C5-4E5D-2668-C270-49A8E47397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B1FE25-21FF-7ECF-6F96-A6776167BF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FA6573-8186-E5B6-AEC1-77DFD90C7896}"/>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913E9F7B-5938-7FE6-8F39-DA142EF30C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2518D-D86B-CD1A-F7E7-D84EB7C2C840}"/>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540592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A475-8C85-4033-8858-403DEF7757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1017EC-1AB2-4F4E-20A5-C4A29466A6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6436E8-427E-8A19-0500-35D658D401AA}"/>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2EAA8981-AAC5-66D9-40DB-3286A6549B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C3B109-91E7-203F-C12F-EF588431057E}"/>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501358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0DF1-60AA-49D9-23AC-DDBA871C19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708752-4540-C9E4-BB7D-9C79CEC927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9D6B66-AD42-FC4D-A943-3B1EDD24DA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30B643-A840-DBF7-C12D-7F9A6F709393}"/>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6" name="Footer Placeholder 5">
            <a:extLst>
              <a:ext uri="{FF2B5EF4-FFF2-40B4-BE49-F238E27FC236}">
                <a16:creationId xmlns:a16="http://schemas.microsoft.com/office/drawing/2014/main" id="{309B10B3-9E30-A307-FF5B-91A18D0005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42048-CBF5-774E-ED15-78A718537F3F}"/>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1820608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031F-E7B2-DB96-7FDB-0B38485502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B0BED7-36B5-F414-6184-3ECCDF0056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DE495-A130-E09F-8D0F-6A8E32E7EF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A06EE3-9D13-8510-26BE-90621BC845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FD9EF4-06F1-7001-8C3D-1937AE87DF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F4A417-A4B1-B802-C67D-994276033093}"/>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8" name="Footer Placeholder 7">
            <a:extLst>
              <a:ext uri="{FF2B5EF4-FFF2-40B4-BE49-F238E27FC236}">
                <a16:creationId xmlns:a16="http://schemas.microsoft.com/office/drawing/2014/main" id="{8C59365F-8245-91AE-0CC6-E46F2C77F2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6B723C-D668-CFD0-E795-DCFE11508521}"/>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716055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B310E-5D18-5D43-5BA1-BBD3ADD18B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ED96F9-92DF-5BFB-9374-466974DD66AE}"/>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4" name="Footer Placeholder 3">
            <a:extLst>
              <a:ext uri="{FF2B5EF4-FFF2-40B4-BE49-F238E27FC236}">
                <a16:creationId xmlns:a16="http://schemas.microsoft.com/office/drawing/2014/main" id="{A3F4DE6B-D142-F267-7ECB-795AA25388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994710-A2C7-F84E-3BA7-709A69E875BA}"/>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3811764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D988EC-2459-2443-5003-36F4F18CBB30}"/>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3" name="Footer Placeholder 2">
            <a:extLst>
              <a:ext uri="{FF2B5EF4-FFF2-40B4-BE49-F238E27FC236}">
                <a16:creationId xmlns:a16="http://schemas.microsoft.com/office/drawing/2014/main" id="{7524B776-A8A9-2972-F677-8D3D169852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631C27-9CE7-95D7-FB9E-D376CF8DB964}"/>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3696991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A8D7-B8C7-CDBD-B6B6-E1DDD02445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1B643D-CBE1-C407-45CF-22F0611AFD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9CB9AF-3E22-633C-78FA-3F3C0A9D7C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ADFF09-9368-6A85-D958-69FFC11AA79B}"/>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6" name="Footer Placeholder 5">
            <a:extLst>
              <a:ext uri="{FF2B5EF4-FFF2-40B4-BE49-F238E27FC236}">
                <a16:creationId xmlns:a16="http://schemas.microsoft.com/office/drawing/2014/main" id="{0F572DE1-FAEA-0BD1-9E5B-B44C22935C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AD5DCF-0D47-92C3-A1C9-9077C5F38064}"/>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931993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B4D16-C28E-D1C8-A04E-BAC9845917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E90C4B-A8EF-00A6-31A3-A5B85CD45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08BDBA-B939-E048-D354-83D8CAFF56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37AAD-66C5-F07A-E8F6-D468C15A1660}"/>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6" name="Footer Placeholder 5">
            <a:extLst>
              <a:ext uri="{FF2B5EF4-FFF2-40B4-BE49-F238E27FC236}">
                <a16:creationId xmlns:a16="http://schemas.microsoft.com/office/drawing/2014/main" id="{82B114E8-CCEF-F415-A05F-D32679C8B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0BAD48-6CED-6F47-2FA3-D3CF19FEE248}"/>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3381016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2E517-7FC8-9B1B-52CB-C912EC0F6F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14CD60-8016-4837-FD5E-656F3656A1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BAEC4-FAEE-BF48-E512-2511A7A1C9CA}"/>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3BFF2925-1300-CB75-A02E-190A957F12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B9505-0869-8062-8782-FCC77E6E5909}"/>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1209027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3CD7B8-689F-FAA6-0303-5EEBA0C1DA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D9C4FD-A7CD-5D76-E148-661FCCB65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EDCF6B-73C4-A347-D280-F52162DF07D2}"/>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CD10833B-C36A-7B73-A327-916F86C2A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F0246-BDD6-0840-16BB-DBFF5E0FCB4A}"/>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3529577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D58C5-4E5D-2668-C270-49A8E47397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B1FE25-21FF-7ECF-6F96-A6776167BF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FA6573-8186-E5B6-AEC1-77DFD90C7896}"/>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913E9F7B-5938-7FE6-8F39-DA142EF30C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2518D-D86B-CD1A-F7E7-D84EB7C2C840}"/>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540592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A475-8C85-4033-8858-403DEF7757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1017EC-1AB2-4F4E-20A5-C4A29466A6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6436E8-427E-8A19-0500-35D658D401AA}"/>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2EAA8981-AAC5-66D9-40DB-3286A6549B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C3B109-91E7-203F-C12F-EF588431057E}"/>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501358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0DF1-60AA-49D9-23AC-DDBA871C19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708752-4540-C9E4-BB7D-9C79CEC927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9D6B66-AD42-FC4D-A943-3B1EDD24DA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30B643-A840-DBF7-C12D-7F9A6F709393}"/>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6" name="Footer Placeholder 5">
            <a:extLst>
              <a:ext uri="{FF2B5EF4-FFF2-40B4-BE49-F238E27FC236}">
                <a16:creationId xmlns:a16="http://schemas.microsoft.com/office/drawing/2014/main" id="{309B10B3-9E30-A307-FF5B-91A18D0005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42048-CBF5-774E-ED15-78A718537F3F}"/>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1820608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031F-E7B2-DB96-7FDB-0B38485502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B0BED7-36B5-F414-6184-3ECCDF0056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DE495-A130-E09F-8D0F-6A8E32E7EF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A06EE3-9D13-8510-26BE-90621BC845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FD9EF4-06F1-7001-8C3D-1937AE87DF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F4A417-A4B1-B802-C67D-994276033093}"/>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8" name="Footer Placeholder 7">
            <a:extLst>
              <a:ext uri="{FF2B5EF4-FFF2-40B4-BE49-F238E27FC236}">
                <a16:creationId xmlns:a16="http://schemas.microsoft.com/office/drawing/2014/main" id="{8C59365F-8245-91AE-0CC6-E46F2C77F2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6B723C-D668-CFD0-E795-DCFE11508521}"/>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716055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D988EC-2459-2443-5003-36F4F18CBB30}"/>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3" name="Footer Placeholder 2">
            <a:extLst>
              <a:ext uri="{FF2B5EF4-FFF2-40B4-BE49-F238E27FC236}">
                <a16:creationId xmlns:a16="http://schemas.microsoft.com/office/drawing/2014/main" id="{7524B776-A8A9-2972-F677-8D3D169852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631C27-9CE7-95D7-FB9E-D376CF8DB964}"/>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3696991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A8D7-B8C7-CDBD-B6B6-E1DDD02445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1B643D-CBE1-C407-45CF-22F0611AFD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9CB9AF-3E22-633C-78FA-3F3C0A9D7C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ADFF09-9368-6A85-D958-69FFC11AA79B}"/>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6" name="Footer Placeholder 5">
            <a:extLst>
              <a:ext uri="{FF2B5EF4-FFF2-40B4-BE49-F238E27FC236}">
                <a16:creationId xmlns:a16="http://schemas.microsoft.com/office/drawing/2014/main" id="{0F572DE1-FAEA-0BD1-9E5B-B44C22935C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AD5DCF-0D47-92C3-A1C9-9077C5F38064}"/>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2931993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B4D16-C28E-D1C8-A04E-BAC9845917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E90C4B-A8EF-00A6-31A3-A5B85CD45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08BDBA-B939-E048-D354-83D8CAFF56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37AAD-66C5-F07A-E8F6-D468C15A1660}"/>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6" name="Footer Placeholder 5">
            <a:extLst>
              <a:ext uri="{FF2B5EF4-FFF2-40B4-BE49-F238E27FC236}">
                <a16:creationId xmlns:a16="http://schemas.microsoft.com/office/drawing/2014/main" id="{82B114E8-CCEF-F415-A05F-D32679C8B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0BAD48-6CED-6F47-2FA3-D3CF19FEE248}"/>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33810162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2E517-7FC8-9B1B-52CB-C912EC0F6F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14CD60-8016-4837-FD5E-656F3656A1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BAEC4-FAEE-BF48-E512-2511A7A1C9CA}"/>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3BFF2925-1300-CB75-A02E-190A957F12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B9505-0869-8062-8782-FCC77E6E5909}"/>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12090278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3CD7B8-689F-FAA6-0303-5EEBA0C1DA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D9C4FD-A7CD-5D76-E148-661FCCB65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EDCF6B-73C4-A347-D280-F52162DF07D2}"/>
              </a:ext>
            </a:extLst>
          </p:cNvPr>
          <p:cNvSpPr>
            <a:spLocks noGrp="1"/>
          </p:cNvSpPr>
          <p:nvPr>
            <p:ph type="dt" sz="half" idx="10"/>
          </p:nvPr>
        </p:nvSpPr>
        <p:spPr/>
        <p:txBody>
          <a:body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CD10833B-C36A-7B73-A327-916F86C2A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F0246-BDD6-0840-16BB-DBFF5E0FCB4A}"/>
              </a:ext>
            </a:extLst>
          </p:cNvPr>
          <p:cNvSpPr>
            <a:spLocks noGrp="1"/>
          </p:cNvSpPr>
          <p:nvPr>
            <p:ph type="sldNum" sz="quarter" idx="12"/>
          </p:nvPr>
        </p:nvSpPr>
        <p:spPr/>
        <p:txBody>
          <a:bodyPr/>
          <a:lstStyle/>
          <a:p>
            <a:fld id="{EF209B5A-88AF-754A-9B88-B6A1E1E0DC5E}" type="slidenum">
              <a:rPr lang="en-US" smtClean="0"/>
              <a:t>‹#›</a:t>
            </a:fld>
            <a:endParaRPr lang="en-US"/>
          </a:p>
        </p:txBody>
      </p:sp>
    </p:spTree>
    <p:extLst>
      <p:ext uri="{BB962C8B-B14F-4D97-AF65-F5344CB8AC3E}">
        <p14:creationId xmlns:p14="http://schemas.microsoft.com/office/powerpoint/2010/main" val="3529577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25B0E1-D720-4877-98A6-4C231DC58E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68B757-6427-7F1A-D05C-8A1BECE9C9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0DC39B-D1B2-A462-83BD-EA931D9D4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A7BE8650-EF63-3D6F-9658-D055C4D189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BCD8E0-D1F5-9725-7E50-ACF02E2B26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209B5A-88AF-754A-9B88-B6A1E1E0DC5E}" type="slidenum">
              <a:rPr lang="en-US" smtClean="0"/>
              <a:t>‹#›</a:t>
            </a:fld>
            <a:endParaRPr lang="en-US"/>
          </a:p>
        </p:txBody>
      </p:sp>
    </p:spTree>
    <p:extLst>
      <p:ext uri="{BB962C8B-B14F-4D97-AF65-F5344CB8AC3E}">
        <p14:creationId xmlns:p14="http://schemas.microsoft.com/office/powerpoint/2010/main" val="3209259366"/>
      </p:ext>
    </p:extLst>
  </p:cSld>
  <p:clrMap bg1="lt1" tx1="dk1" bg2="lt2" tx2="dk2" accent1="accent1" accent2="accent2" accent3="accent3" accent4="accent4" accent5="accent5" accent6="accent6" hlink="hlink" folHlink="folHlink"/>
  <p:sldLayoutIdLst>
    <p:sldLayoutId id="2147483673"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25B0E1-D720-4877-98A6-4C231DC58E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68B757-6427-7F1A-D05C-8A1BECE9C9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0DC39B-D1B2-A462-83BD-EA931D9D4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9C3C7D-0079-CB49-98C6-3ACC9BDA43E2}" type="datetimeFigureOut">
              <a:rPr lang="en-US" smtClean="0"/>
              <a:t>10/15/26</a:t>
            </a:fld>
            <a:endParaRPr lang="en-US"/>
          </a:p>
        </p:txBody>
      </p:sp>
      <p:sp>
        <p:nvSpPr>
          <p:cNvPr id="5" name="Footer Placeholder 4">
            <a:extLst>
              <a:ext uri="{FF2B5EF4-FFF2-40B4-BE49-F238E27FC236}">
                <a16:creationId xmlns:a16="http://schemas.microsoft.com/office/drawing/2014/main" id="{A7BE8650-EF63-3D6F-9658-D055C4D189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BCD8E0-D1F5-9725-7E50-ACF02E2B26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209B5A-88AF-754A-9B88-B6A1E1E0DC5E}" type="slidenum">
              <a:rPr lang="en-US" smtClean="0"/>
              <a:t>‹#›</a:t>
            </a:fld>
            <a:endParaRPr lang="en-US"/>
          </a:p>
        </p:txBody>
      </p:sp>
    </p:spTree>
    <p:extLst>
      <p:ext uri="{BB962C8B-B14F-4D97-AF65-F5344CB8AC3E}">
        <p14:creationId xmlns:p14="http://schemas.microsoft.com/office/powerpoint/2010/main" val="320925936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7" r:id="rId5"/>
    <p:sldLayoutId id="2147483668" r:id="rId6"/>
    <p:sldLayoutId id="2147483669" r:id="rId7"/>
    <p:sldLayoutId id="2147483670" r:id="rId8"/>
    <p:sldLayoutId id="2147483671"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hyperlink" Target="https://www.linkedin.com/in/ericemartin1" TargetMode="External"/><Relationship Id="rId4" Type="http://schemas.openxmlformats.org/officeDocument/2006/relationships/hyperlink" Target="https://www.linkedin.com/in/ericemartin1/"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lay"/>
              <a:buNone/>
            </a:pP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pic>
        <p:nvPicPr>
          <p:cNvPr id="86" name="Google Shape;86;p1" descr="A blue screen with white text&#10;&#10;AI-generated content may be incorrect."/>
          <p:cNvPicPr preferRelativeResize="0"/>
          <p:nvPr/>
        </p:nvPicPr>
        <p:blipFill rotWithShape="1">
          <a:blip r:embed="rId3">
            <a:alphaModFix/>
          </a:blip>
          <a:srcRect/>
          <a:stretch/>
        </p:blipFill>
        <p:spPr>
          <a:xfrm>
            <a:off x="0" y="0"/>
            <a:ext cx="12205252" cy="6858000"/>
          </a:xfrm>
          <a:prstGeom prst="rect">
            <a:avLst/>
          </a:prstGeom>
          <a:noFill/>
          <a:ln>
            <a:noFill/>
          </a:ln>
        </p:spPr>
      </p:pic>
      <p:sp>
        <p:nvSpPr>
          <p:cNvPr id="87" name="Google Shape;87;p1"/>
          <p:cNvSpPr txBox="1"/>
          <p:nvPr/>
        </p:nvSpPr>
        <p:spPr>
          <a:xfrm>
            <a:off x="762000" y="2316163"/>
            <a:ext cx="10668000" cy="116951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dirty="0">
                <a:solidFill>
                  <a:schemeClr val="lt1"/>
                </a:solidFill>
                <a:latin typeface="Montserrat"/>
                <a:ea typeface="Montserrat"/>
                <a:cs typeface="Montserrat"/>
                <a:sym typeface="Montserrat"/>
              </a:rPr>
              <a:t>From PRs to Performance</a:t>
            </a:r>
            <a:endParaRPr sz="3600">
              <a:latin typeface="Montserrat"/>
              <a:ea typeface="Montserrat"/>
              <a:cs typeface="Montserrat"/>
              <a:sym typeface="Montserrat"/>
            </a:endParaRPr>
          </a:p>
          <a:p>
            <a:pPr marL="0" marR="0" lvl="0" indent="0" algn="ctr" rtl="0">
              <a:spcBef>
                <a:spcPts val="1200"/>
              </a:spcBef>
              <a:spcAft>
                <a:spcPts val="0"/>
              </a:spcAft>
              <a:buNone/>
            </a:pPr>
            <a:r>
              <a:rPr lang="en-US" sz="2400" b="1" dirty="0">
                <a:solidFill>
                  <a:schemeClr val="lt1"/>
                </a:solidFill>
                <a:latin typeface="Montserrat"/>
                <a:ea typeface="Montserrat"/>
                <a:cs typeface="Montserrat"/>
                <a:sym typeface="Montserrat"/>
              </a:rPr>
              <a:t>Using metrics and AI to coach stronger engineering teams</a:t>
            </a:r>
            <a:endParaRPr sz="2400">
              <a:latin typeface="Montserrat"/>
              <a:ea typeface="Montserrat"/>
              <a:cs typeface="Montserrat"/>
              <a:sym typeface="Montserrat"/>
            </a:endParaRPr>
          </a:p>
        </p:txBody>
      </p:sp>
    </p:spTree>
    <p:extLst>
      <p:ext uri="{BB962C8B-B14F-4D97-AF65-F5344CB8AC3E}">
        <p14:creationId xmlns:p14="http://schemas.microsoft.com/office/powerpoint/2010/main" val="1665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F67E23-1C72-E54B-95A7-26669052B972}"/>
              </a:ext>
            </a:extLst>
          </p:cNvPr>
          <p:cNvSpPr txBox="1"/>
          <p:nvPr/>
        </p:nvSpPr>
        <p:spPr>
          <a:xfrm>
            <a:off x="1016000" y="2159000"/>
            <a:ext cx="10160000" cy="1016000"/>
          </a:xfrm>
          <a:prstGeom prst="rect">
            <a:avLst/>
          </a:prstGeom>
          <a:noFill/>
          <a:ln>
            <a:noFill/>
          </a:ln>
        </p:spPr>
        <p:txBody>
          <a:bodyPr vertOverflow="overflow" vert="horz" wrap="square" rtlCol="0" anchor="t" anchorCtr="0">
            <a:noAutofit/>
          </a:bodyPr>
          <a:lstStyle/>
          <a:p>
            <a:pPr algn="l"/>
            <a:r>
              <a:rPr lang="en-US" sz="5200" b="1" dirty="0">
                <a:solidFill>
                  <a:srgbClr val="102033"/>
                </a:solidFill>
                <a:latin typeface="Futura"/>
                <a:cs typeface="Futura"/>
              </a:rPr>
              <a:t>Eric Martin</a:t>
            </a:r>
          </a:p>
        </p:txBody>
      </p:sp>
      <p:sp>
        <p:nvSpPr>
          <p:cNvPr id="5" name="TextBox 4">
            <a:extLst>
              <a:ext uri="{FF2B5EF4-FFF2-40B4-BE49-F238E27FC236}">
                <a16:creationId xmlns:a16="http://schemas.microsoft.com/office/drawing/2014/main" id="{47D8B1CF-4C4C-034E-8053-C9B457B06B7F}"/>
              </a:ext>
            </a:extLst>
          </p:cNvPr>
          <p:cNvSpPr txBox="1"/>
          <p:nvPr/>
        </p:nvSpPr>
        <p:spPr>
          <a:xfrm>
            <a:off x="1016000" y="2984500"/>
            <a:ext cx="10160000" cy="508000"/>
          </a:xfrm>
          <a:prstGeom prst="rect">
            <a:avLst/>
          </a:prstGeom>
          <a:noFill/>
          <a:ln>
            <a:noFill/>
          </a:ln>
        </p:spPr>
        <p:txBody>
          <a:bodyPr vertOverflow="overflow" vert="horz" wrap="square" rtlCol="0" anchor="t" anchorCtr="0">
            <a:noAutofit/>
          </a:bodyPr>
          <a:lstStyle/>
          <a:p>
            <a:pPr algn="l"/>
            <a:r>
              <a:rPr lang="en-US" sz="2600" dirty="0">
                <a:solidFill>
                  <a:srgbClr val="102033"/>
                </a:solidFill>
                <a:latin typeface="Futura Medium"/>
                <a:cs typeface="Futura Medium"/>
              </a:rPr>
              <a:t>Director of Software Engineering, KODE Health</a:t>
            </a:r>
          </a:p>
        </p:txBody>
      </p:sp>
      <p:sp>
        <p:nvSpPr>
          <p:cNvPr id="6" name="Rectangle 5">
            <a:extLst>
              <a:ext uri="{FF2B5EF4-FFF2-40B4-BE49-F238E27FC236}">
                <a16:creationId xmlns:a16="http://schemas.microsoft.com/office/drawing/2014/main" id="{3A4E7AAC-AC97-104D-B89A-3E808A98935D}"/>
              </a:ext>
            </a:extLst>
          </p:cNvPr>
          <p:cNvSpPr/>
          <p:nvPr/>
        </p:nvSpPr>
        <p:spPr>
          <a:xfrm>
            <a:off x="1107440" y="3746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819386CD-0063-D645-93CE-6BB2AB063797}"/>
              </a:ext>
            </a:extLst>
          </p:cNvPr>
          <p:cNvSpPr txBox="1"/>
          <p:nvPr/>
        </p:nvSpPr>
        <p:spPr>
          <a:xfrm>
            <a:off x="1016000" y="4000500"/>
            <a:ext cx="10160000" cy="431800"/>
          </a:xfrm>
          <a:prstGeom prst="rect">
            <a:avLst/>
          </a:prstGeom>
          <a:noFill/>
          <a:ln>
            <a:noFill/>
          </a:ln>
        </p:spPr>
        <p:txBody>
          <a:bodyPr vertOverflow="overflow" vert="horz" wrap="square" rtlCol="0" anchor="t" anchorCtr="0">
            <a:noAutofit/>
          </a:bodyPr>
          <a:lstStyle/>
          <a:p>
            <a:pPr algn="l"/>
            <a:r>
              <a:rPr lang="en-US" sz="2200" i="1">
                <a:solidFill>
                  <a:srgbClr val="102033"/>
                </a:solidFill>
                <a:latin typeface="Futura Medium"/>
                <a:cs typeface="Futura Medium"/>
              </a:rPr>
              <a:t>Metrics should start conversations, not end careers.</a:t>
            </a:r>
          </a:p>
        </p:txBody>
      </p:sp>
      <p:sp>
        <p:nvSpPr>
          <p:cNvPr id="10" name="Rectangle 9">
            <a:extLst>
              <a:ext uri="{FF2B5EF4-FFF2-40B4-BE49-F238E27FC236}">
                <a16:creationId xmlns:a16="http://schemas.microsoft.com/office/drawing/2014/main" id="{E4480368-B902-8B4A-B948-8DBB26C11651}"/>
              </a:ext>
            </a:extLst>
          </p:cNvPr>
          <p:cNvSpPr/>
          <p:nvPr/>
        </p:nvSpPr>
        <p:spPr>
          <a:xfrm>
            <a:off x="1016000" y="63500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494B40DF-C844-2B43-B9A9-0D78FD7DCC44}"/>
              </a:ext>
            </a:extLst>
          </p:cNvPr>
          <p:cNvSpPr txBox="1"/>
          <p:nvPr/>
        </p:nvSpPr>
        <p:spPr>
          <a:xfrm>
            <a:off x="8636000" y="6477000"/>
            <a:ext cx="2540000" cy="228600"/>
          </a:xfrm>
          <a:prstGeom prst="rect">
            <a:avLst/>
          </a:prstGeom>
          <a:noFill/>
          <a:ln>
            <a:noFill/>
          </a:ln>
        </p:spPr>
        <p:txBody>
          <a:bodyPr vertOverflow="overflow" vert="horz" wrap="square" rtlCol="0" anchor="t" anchorCtr="0">
            <a:noAutofit/>
          </a:bodyPr>
          <a:lstStyle/>
          <a:p>
            <a:pPr algn="l"/>
            <a:r>
              <a:rPr lang="en-US" sz="1100">
                <a:solidFill>
                  <a:srgbClr val="4A5663"/>
                </a:solidFill>
                <a:latin typeface="Futura Light"/>
              </a:rPr>
              <a:t>Momentum 2026</a:t>
            </a:r>
          </a:p>
        </p:txBody>
      </p:sp>
    </p:spTree>
    <p:extLst>
      <p:ext uri="{BB962C8B-B14F-4D97-AF65-F5344CB8AC3E}">
        <p14:creationId xmlns:p14="http://schemas.microsoft.com/office/powerpoint/2010/main" val="3867510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BAC91F-5261-0942-B941-2BE9AF6D723E}"/>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DFF12470-C87E-D84C-8A32-718F10BF989A}"/>
              </a:ext>
            </a:extLst>
          </p:cNvPr>
          <p:cNvSpPr txBox="1"/>
          <p:nvPr/>
        </p:nvSpPr>
        <p:spPr>
          <a:xfrm>
            <a:off x="1016000" y="3302000"/>
            <a:ext cx="2540000" cy="381000"/>
          </a:xfrm>
          <a:prstGeom prst="rect">
            <a:avLst/>
          </a:prstGeom>
          <a:noFill/>
          <a:ln>
            <a:noFill/>
          </a:ln>
        </p:spPr>
        <p:txBody>
          <a:bodyPr vertOverflow="overflow" vert="horz" wrap="square" rtlCol="0" anchor="t">
            <a:noAutofit/>
          </a:bodyPr>
          <a:lstStyle/>
          <a:p>
            <a:pPr algn="l"/>
            <a:r>
              <a:rPr lang="en-US" sz="1400" b="1">
                <a:solidFill>
                  <a:srgbClr val="F79226"/>
                </a:solidFill>
                <a:latin typeface="Futura"/>
                <a:cs typeface="Futura"/>
              </a:rPr>
              <a:t>01</a:t>
            </a:r>
          </a:p>
        </p:txBody>
      </p:sp>
      <p:sp>
        <p:nvSpPr>
          <p:cNvPr id="4" name="Rectangle 3">
            <a:extLst>
              <a:ext uri="{FF2B5EF4-FFF2-40B4-BE49-F238E27FC236}">
                <a16:creationId xmlns:a16="http://schemas.microsoft.com/office/drawing/2014/main" id="{7F2D8E75-3B1B-5545-9AED-BFA822097C03}"/>
              </a:ext>
            </a:extLst>
          </p:cNvPr>
          <p:cNvSpPr/>
          <p:nvPr/>
        </p:nvSpPr>
        <p:spPr>
          <a:xfrm>
            <a:off x="1016000" y="3746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12BFFB5-9802-7442-88F4-0064E0215236}"/>
              </a:ext>
            </a:extLst>
          </p:cNvPr>
          <p:cNvSpPr txBox="1"/>
          <p:nvPr/>
        </p:nvSpPr>
        <p:spPr>
          <a:xfrm>
            <a:off x="1016000" y="4064000"/>
            <a:ext cx="10160000" cy="635000"/>
          </a:xfrm>
          <a:prstGeom prst="rect">
            <a:avLst/>
          </a:prstGeom>
          <a:noFill/>
          <a:ln>
            <a:noFill/>
          </a:ln>
        </p:spPr>
        <p:txBody>
          <a:bodyPr vertOverflow="overflow" vert="horz" wrap="square" rtlCol="0" anchor="t">
            <a:noAutofit/>
          </a:bodyPr>
          <a:lstStyle/>
          <a:p>
            <a:pPr algn="l"/>
            <a:r>
              <a:rPr lang="en-US" sz="3400" b="1">
                <a:solidFill>
                  <a:srgbClr val="FFFFFF"/>
                </a:solidFill>
                <a:latin typeface="Futura"/>
                <a:cs typeface="Futura"/>
              </a:rPr>
              <a:t>PROBLEMS WITH METRICS</a:t>
            </a:r>
          </a:p>
        </p:txBody>
      </p:sp>
      <p:sp>
        <p:nvSpPr>
          <p:cNvPr id="6" name="TextBox 5">
            <a:extLst>
              <a:ext uri="{FF2B5EF4-FFF2-40B4-BE49-F238E27FC236}">
                <a16:creationId xmlns:a16="http://schemas.microsoft.com/office/drawing/2014/main" id="{5AD4EBC7-125E-9047-860A-9A59A9542CA2}"/>
              </a:ext>
            </a:extLst>
          </p:cNvPr>
          <p:cNvSpPr txBox="1"/>
          <p:nvPr/>
        </p:nvSpPr>
        <p:spPr>
          <a:xfrm>
            <a:off x="1016000" y="5016500"/>
            <a:ext cx="10160000" cy="304800"/>
          </a:xfrm>
          <a:prstGeom prst="rect">
            <a:avLst/>
          </a:prstGeom>
          <a:noFill/>
          <a:ln>
            <a:noFill/>
          </a:ln>
        </p:spPr>
        <p:txBody>
          <a:bodyPr vertOverflow="overflow" vert="horz" wrap="square" rtlCol="0" anchor="t">
            <a:noAutofit/>
          </a:bodyPr>
          <a:lstStyle/>
          <a:p>
            <a:pPr algn="l"/>
            <a:r>
              <a:rPr lang="en-US" sz="1500" i="1">
                <a:solidFill>
                  <a:srgbClr val="C8D1DC"/>
                </a:solidFill>
                <a:latin typeface="Futura"/>
                <a:cs typeface="Futura"/>
              </a:rPr>
              <a:t>Why many scoreboards kill morale.</a:t>
            </a:r>
          </a:p>
        </p:txBody>
      </p:sp>
      <p:sp>
        <p:nvSpPr>
          <p:cNvPr id="7" name="Rectangle 6">
            <a:extLst>
              <a:ext uri="{FF2B5EF4-FFF2-40B4-BE49-F238E27FC236}">
                <a16:creationId xmlns:a16="http://schemas.microsoft.com/office/drawing/2014/main" id="{CF7D684F-7248-324E-A215-C56069F26DCD}"/>
              </a:ext>
            </a:extLst>
          </p:cNvPr>
          <p:cNvSpPr/>
          <p:nvPr/>
        </p:nvSpPr>
        <p:spPr>
          <a:xfrm>
            <a:off x="1016000" y="6223000"/>
            <a:ext cx="10160000" cy="12700"/>
          </a:xfrm>
          <a:prstGeom prst="rect">
            <a:avLst/>
          </a:prstGeom>
          <a:solidFill>
            <a:srgbClr val="2A3A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AA704670-F0B2-6C4F-A9B4-F7FD00A11E24}"/>
              </a:ext>
            </a:extLst>
          </p:cNvPr>
          <p:cNvSpPr txBox="1"/>
          <p:nvPr/>
        </p:nvSpPr>
        <p:spPr>
          <a:xfrm>
            <a:off x="8636000" y="6413500"/>
            <a:ext cx="2540000" cy="228600"/>
          </a:xfrm>
          <a:prstGeom prst="rect">
            <a:avLst/>
          </a:prstGeom>
          <a:noFill/>
          <a:ln>
            <a:noFill/>
          </a:ln>
        </p:spPr>
        <p:txBody>
          <a:bodyPr vertOverflow="overflow" vert="horz" wrap="square" rtlCol="0" anchor="t">
            <a:noAutofit/>
          </a:bodyPr>
          <a:lstStyle/>
          <a:p>
            <a:pPr algn="l"/>
            <a:r>
              <a:rPr lang="en-US" sz="1000">
                <a:solidFill>
                  <a:srgbClr val="9AA4B2"/>
                </a:solidFill>
                <a:latin typeface="Futura"/>
                <a:cs typeface="Futura"/>
              </a:rPr>
              <a:t>SECTION 01 / 07</a:t>
            </a:r>
          </a:p>
        </p:txBody>
      </p:sp>
    </p:spTree>
    <p:extLst>
      <p:ext uri="{BB962C8B-B14F-4D97-AF65-F5344CB8AC3E}">
        <p14:creationId xmlns:p14="http://schemas.microsoft.com/office/powerpoint/2010/main" val="3703162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7F734E-4830-404A-9363-2B4452008BD9}"/>
              </a:ext>
            </a:extLst>
          </p:cNvPr>
          <p:cNvSpPr txBox="1"/>
          <p:nvPr/>
        </p:nvSpPr>
        <p:spPr>
          <a:xfrm>
            <a:off x="1016000" y="952500"/>
            <a:ext cx="10414000" cy="508000"/>
          </a:xfrm>
          <a:prstGeom prst="rect">
            <a:avLst/>
          </a:prstGeom>
          <a:noFill/>
          <a:ln>
            <a:noFill/>
          </a:ln>
        </p:spPr>
        <p:txBody>
          <a:bodyPr vertOverflow="overflow" vert="horz" wrap="square" rtlCol="0" anchor="t" anchorCtr="0">
            <a:noAutofit/>
          </a:bodyPr>
          <a:lstStyle/>
          <a:p>
            <a:pPr algn="l"/>
            <a:r>
              <a:rPr lang="en-US" sz="2600" b="1">
                <a:solidFill>
                  <a:srgbClr val="102033"/>
                </a:solidFill>
                <a:latin typeface="Futura"/>
                <a:cs typeface="Futura"/>
              </a:rPr>
              <a:t>Why most engineering metrics fail in practice</a:t>
            </a:r>
          </a:p>
        </p:txBody>
      </p:sp>
      <p:sp>
        <p:nvSpPr>
          <p:cNvPr id="3" name="Rectangle 2">
            <a:extLst>
              <a:ext uri="{FF2B5EF4-FFF2-40B4-BE49-F238E27FC236}">
                <a16:creationId xmlns:a16="http://schemas.microsoft.com/office/drawing/2014/main" id="{8135F641-AFA6-C64C-99EF-F3E453313B66}"/>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2CF95FE1-E783-A840-B595-CD4D80B70409}"/>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F59B189A-FABD-B141-B5ED-323C81EDD3D4}"/>
              </a:ext>
            </a:extLst>
          </p:cNvPr>
          <p:cNvSpPr txBox="1"/>
          <p:nvPr/>
        </p:nvSpPr>
        <p:spPr>
          <a:xfrm>
            <a:off x="1016000" y="6540500"/>
            <a:ext cx="2540000" cy="228600"/>
          </a:xfrm>
          <a:prstGeom prst="rect">
            <a:avLst/>
          </a:prstGeom>
          <a:noFill/>
          <a:ln>
            <a:noFill/>
          </a:ln>
        </p:spPr>
        <p:txBody>
          <a:bodyPr vertOverflow="overflow" vert="horz" wrap="square" rtlCol="0" anchor="t" anchorCtr="0">
            <a:noAutofit/>
          </a:bodyPr>
          <a:lstStyle/>
          <a:p>
            <a:pPr algn="l"/>
            <a:r>
              <a:rPr lang="en-US" sz="1100">
                <a:solidFill>
                  <a:srgbClr val="6C757D"/>
                </a:solidFill>
                <a:latin typeface="Futura Light"/>
              </a:rPr>
              <a:t>Eric Martin</a:t>
            </a:r>
          </a:p>
        </p:txBody>
      </p:sp>
      <p:sp>
        <p:nvSpPr>
          <p:cNvPr id="7" name="TextBox 6">
            <a:extLst>
              <a:ext uri="{FF2B5EF4-FFF2-40B4-BE49-F238E27FC236}">
                <a16:creationId xmlns:a16="http://schemas.microsoft.com/office/drawing/2014/main" id="{E4A184DD-D99F-CC4F-ACA3-30C984588B9F}"/>
              </a:ext>
            </a:extLst>
          </p:cNvPr>
          <p:cNvSpPr txBox="1"/>
          <p:nvPr/>
        </p:nvSpPr>
        <p:spPr>
          <a:xfrm>
            <a:off x="3556000" y="6540500"/>
            <a:ext cx="5080000" cy="228600"/>
          </a:xfrm>
          <a:prstGeom prst="rect">
            <a:avLst/>
          </a:prstGeom>
          <a:noFill/>
          <a:ln>
            <a:noFill/>
          </a:ln>
        </p:spPr>
        <p:txBody>
          <a:bodyPr vertOverflow="overflow" vert="horz" wrap="square" rtlCol="0" anchor="t" anchorCtr="0">
            <a:noAutofit/>
          </a:bodyPr>
          <a:lstStyle/>
          <a:p>
            <a:pPr algn="l"/>
            <a:r>
              <a:rPr lang="en-US" sz="1100" i="1">
                <a:solidFill>
                  <a:srgbClr val="6C757D"/>
                </a:solidFill>
                <a:latin typeface="Futura Light"/>
              </a:rPr>
              <a:t>From PRs to Performance</a:t>
            </a:r>
          </a:p>
        </p:txBody>
      </p:sp>
      <p:sp>
        <p:nvSpPr>
          <p:cNvPr id="8" name="TextBox 7">
            <a:extLst>
              <a:ext uri="{FF2B5EF4-FFF2-40B4-BE49-F238E27FC236}">
                <a16:creationId xmlns:a16="http://schemas.microsoft.com/office/drawing/2014/main" id="{E38CFA13-3282-2A48-98E4-D4162047854F}"/>
              </a:ext>
            </a:extLst>
          </p:cNvPr>
          <p:cNvSpPr txBox="1"/>
          <p:nvPr/>
        </p:nvSpPr>
        <p:spPr>
          <a:xfrm>
            <a:off x="8636000" y="6540500"/>
            <a:ext cx="2540000" cy="228600"/>
          </a:xfrm>
          <a:prstGeom prst="rect">
            <a:avLst/>
          </a:prstGeom>
          <a:noFill/>
          <a:ln>
            <a:noFill/>
          </a:ln>
        </p:spPr>
        <p:txBody>
          <a:bodyPr vertOverflow="overflow" vert="horz" wrap="square" rtlCol="0" anchor="t" anchorCtr="0">
            <a:noAutofit/>
          </a:bodyPr>
          <a:lstStyle/>
          <a:p>
            <a:pPr algn="l"/>
            <a:r>
              <a:rPr lang="en-US" sz="1100">
                <a:solidFill>
                  <a:srgbClr val="6C757D"/>
                </a:solidFill>
                <a:latin typeface="Futura Light"/>
              </a:rPr>
              <a:t>Momentum 2026</a:t>
            </a:r>
          </a:p>
        </p:txBody>
      </p:sp>
      <p:sp>
        <p:nvSpPr>
          <p:cNvPr id="9" name="Rectangle 8">
            <a:extLst>
              <a:ext uri="{FF2B5EF4-FFF2-40B4-BE49-F238E27FC236}">
                <a16:creationId xmlns:a16="http://schemas.microsoft.com/office/drawing/2014/main" id="{FE930921-1511-E948-A2BF-D301799C1934}"/>
              </a:ext>
            </a:extLst>
          </p:cNvPr>
          <p:cNvSpPr/>
          <p:nvPr/>
        </p:nvSpPr>
        <p:spPr>
          <a:xfrm>
            <a:off x="1016000" y="2222500"/>
            <a:ext cx="4826000" cy="1460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CDD3EEEA-FA64-4340-A502-391FEA124E8D}"/>
              </a:ext>
            </a:extLst>
          </p:cNvPr>
          <p:cNvSpPr/>
          <p:nvPr/>
        </p:nvSpPr>
        <p:spPr>
          <a:xfrm>
            <a:off x="1016000" y="2222500"/>
            <a:ext cx="38100" cy="14605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C0A46242-CC0C-FD48-8577-AE2AB1A69345}"/>
              </a:ext>
            </a:extLst>
          </p:cNvPr>
          <p:cNvSpPr txBox="1"/>
          <p:nvPr/>
        </p:nvSpPr>
        <p:spPr>
          <a:xfrm>
            <a:off x="1270000" y="2451100"/>
            <a:ext cx="4318000" cy="381000"/>
          </a:xfrm>
          <a:prstGeom prst="rect">
            <a:avLst/>
          </a:prstGeom>
          <a:noFill/>
          <a:ln>
            <a:noFill/>
          </a:ln>
        </p:spPr>
        <p:txBody>
          <a:bodyPr vertOverflow="overflow" vert="horz" wrap="square" rtlCol="0" anchor="t" anchorCtr="0">
            <a:noAutofit/>
          </a:bodyPr>
          <a:lstStyle/>
          <a:p>
            <a:pPr algn="l"/>
            <a:r>
              <a:rPr lang="en-US" b="1">
                <a:solidFill>
                  <a:srgbClr val="102033"/>
                </a:solidFill>
                <a:latin typeface="Futura"/>
                <a:cs typeface="Futura"/>
              </a:rPr>
              <a:t>Metrics Ignored</a:t>
            </a:r>
          </a:p>
        </p:txBody>
      </p:sp>
      <p:sp>
        <p:nvSpPr>
          <p:cNvPr id="12" name="TextBox 11">
            <a:extLst>
              <a:ext uri="{FF2B5EF4-FFF2-40B4-BE49-F238E27FC236}">
                <a16:creationId xmlns:a16="http://schemas.microsoft.com/office/drawing/2014/main" id="{3F9EE690-F909-F242-B4EC-AB8117226E4D}"/>
              </a:ext>
            </a:extLst>
          </p:cNvPr>
          <p:cNvSpPr txBox="1"/>
          <p:nvPr/>
        </p:nvSpPr>
        <p:spPr>
          <a:xfrm>
            <a:off x="1270000" y="2882900"/>
            <a:ext cx="4318000" cy="698500"/>
          </a:xfrm>
          <a:prstGeom prst="rect">
            <a:avLst/>
          </a:prstGeom>
          <a:noFill/>
          <a:ln>
            <a:noFill/>
          </a:ln>
        </p:spPr>
        <p:txBody>
          <a:bodyPr vertOverflow="overflow" vert="horz" wrap="square" rtlCol="0" anchor="t" anchorCtr="0">
            <a:noAutofit/>
          </a:bodyPr>
          <a:lstStyle/>
          <a:p>
            <a:pPr algn="l"/>
            <a:r>
              <a:rPr lang="en-US" sz="1400">
                <a:solidFill>
                  <a:srgbClr val="6C757D"/>
                </a:solidFill>
                <a:latin typeface="Futura Medium"/>
                <a:cs typeface="Futura Medium"/>
              </a:rPr>
              <a:t>Dashboards exist, but leadership still decides on vibes.</a:t>
            </a:r>
          </a:p>
        </p:txBody>
      </p:sp>
      <p:sp>
        <p:nvSpPr>
          <p:cNvPr id="13" name="Rectangle 12">
            <a:extLst>
              <a:ext uri="{FF2B5EF4-FFF2-40B4-BE49-F238E27FC236}">
                <a16:creationId xmlns:a16="http://schemas.microsoft.com/office/drawing/2014/main" id="{9F7E6E0F-92BD-AB42-AA1D-537254BA1D0E}"/>
              </a:ext>
            </a:extLst>
          </p:cNvPr>
          <p:cNvSpPr/>
          <p:nvPr/>
        </p:nvSpPr>
        <p:spPr>
          <a:xfrm>
            <a:off x="6350000" y="2222500"/>
            <a:ext cx="4826000" cy="1460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2837A585-7E08-4A4B-81C4-D2BA93046DC3}"/>
              </a:ext>
            </a:extLst>
          </p:cNvPr>
          <p:cNvSpPr/>
          <p:nvPr/>
        </p:nvSpPr>
        <p:spPr>
          <a:xfrm>
            <a:off x="6350000" y="2222500"/>
            <a:ext cx="38100" cy="14605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EE431DC1-15FC-E048-BD14-3F34E277A3B7}"/>
              </a:ext>
            </a:extLst>
          </p:cNvPr>
          <p:cNvSpPr txBox="1"/>
          <p:nvPr/>
        </p:nvSpPr>
        <p:spPr>
          <a:xfrm>
            <a:off x="6604000" y="2451100"/>
            <a:ext cx="4318000" cy="381000"/>
          </a:xfrm>
          <a:prstGeom prst="rect">
            <a:avLst/>
          </a:prstGeom>
          <a:noFill/>
          <a:ln>
            <a:noFill/>
          </a:ln>
        </p:spPr>
        <p:txBody>
          <a:bodyPr vertOverflow="overflow" vert="horz" wrap="square" rtlCol="0" anchor="t" anchorCtr="0">
            <a:noAutofit/>
          </a:bodyPr>
          <a:lstStyle/>
          <a:p>
            <a:pPr algn="l"/>
            <a:r>
              <a:rPr lang="en-US" b="1">
                <a:solidFill>
                  <a:srgbClr val="102033"/>
                </a:solidFill>
                <a:latin typeface="Futura"/>
                <a:cs typeface="Futura"/>
              </a:rPr>
              <a:t>Individual Scoreboards</a:t>
            </a:r>
          </a:p>
        </p:txBody>
      </p:sp>
      <p:sp>
        <p:nvSpPr>
          <p:cNvPr id="16" name="TextBox 15">
            <a:extLst>
              <a:ext uri="{FF2B5EF4-FFF2-40B4-BE49-F238E27FC236}">
                <a16:creationId xmlns:a16="http://schemas.microsoft.com/office/drawing/2014/main" id="{712A4ADE-7CCF-6444-A9DE-BCEAE5133F59}"/>
              </a:ext>
            </a:extLst>
          </p:cNvPr>
          <p:cNvSpPr txBox="1"/>
          <p:nvPr/>
        </p:nvSpPr>
        <p:spPr>
          <a:xfrm>
            <a:off x="6604000" y="2882900"/>
            <a:ext cx="4318000" cy="698500"/>
          </a:xfrm>
          <a:prstGeom prst="rect">
            <a:avLst/>
          </a:prstGeom>
          <a:noFill/>
          <a:ln>
            <a:noFill/>
          </a:ln>
        </p:spPr>
        <p:txBody>
          <a:bodyPr vertOverflow="overflow" vert="horz" wrap="square" rtlCol="0" anchor="t" anchorCtr="0">
            <a:noAutofit/>
          </a:bodyPr>
          <a:lstStyle/>
          <a:p>
            <a:pPr algn="l"/>
            <a:r>
              <a:rPr lang="en-US" sz="1400">
                <a:solidFill>
                  <a:srgbClr val="6C757D"/>
                </a:solidFill>
                <a:latin typeface="Futura Medium"/>
                <a:cs typeface="Futura Medium"/>
              </a:rPr>
              <a:t>Overcorrecting into per-engineer rankings that breed fear.</a:t>
            </a:r>
          </a:p>
        </p:txBody>
      </p:sp>
      <p:sp>
        <p:nvSpPr>
          <p:cNvPr id="17" name="Rectangle 16">
            <a:extLst>
              <a:ext uri="{FF2B5EF4-FFF2-40B4-BE49-F238E27FC236}">
                <a16:creationId xmlns:a16="http://schemas.microsoft.com/office/drawing/2014/main" id="{82D2CC36-67FA-A84A-A190-B88C6FBB791F}"/>
              </a:ext>
            </a:extLst>
          </p:cNvPr>
          <p:cNvSpPr/>
          <p:nvPr/>
        </p:nvSpPr>
        <p:spPr>
          <a:xfrm>
            <a:off x="1016000" y="3937000"/>
            <a:ext cx="4826000" cy="1460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3A8A2398-A60F-CD41-98E0-A7017C441518}"/>
              </a:ext>
            </a:extLst>
          </p:cNvPr>
          <p:cNvSpPr/>
          <p:nvPr/>
        </p:nvSpPr>
        <p:spPr>
          <a:xfrm>
            <a:off x="1016000" y="3937000"/>
            <a:ext cx="38100" cy="14605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2C2F387B-BE57-3847-B55B-A0B4598104D0}"/>
              </a:ext>
            </a:extLst>
          </p:cNvPr>
          <p:cNvSpPr txBox="1"/>
          <p:nvPr/>
        </p:nvSpPr>
        <p:spPr>
          <a:xfrm>
            <a:off x="1270000" y="4165600"/>
            <a:ext cx="4318000" cy="381000"/>
          </a:xfrm>
          <a:prstGeom prst="rect">
            <a:avLst/>
          </a:prstGeom>
          <a:noFill/>
          <a:ln>
            <a:noFill/>
          </a:ln>
        </p:spPr>
        <p:txBody>
          <a:bodyPr vertOverflow="overflow" vert="horz" wrap="square" rtlCol="0" anchor="t" anchorCtr="0">
            <a:noAutofit/>
          </a:bodyPr>
          <a:lstStyle/>
          <a:p>
            <a:pPr algn="l"/>
            <a:r>
              <a:rPr lang="en-US" b="1">
                <a:solidFill>
                  <a:srgbClr val="102033"/>
                </a:solidFill>
                <a:latin typeface="Futura"/>
                <a:cs typeface="Futura"/>
              </a:rPr>
              <a:t>Velocity Without Context</a:t>
            </a:r>
          </a:p>
        </p:txBody>
      </p:sp>
      <p:sp>
        <p:nvSpPr>
          <p:cNvPr id="20" name="TextBox 19">
            <a:extLst>
              <a:ext uri="{FF2B5EF4-FFF2-40B4-BE49-F238E27FC236}">
                <a16:creationId xmlns:a16="http://schemas.microsoft.com/office/drawing/2014/main" id="{77166B61-4B46-1242-8F48-38113CDEBD70}"/>
              </a:ext>
            </a:extLst>
          </p:cNvPr>
          <p:cNvSpPr txBox="1"/>
          <p:nvPr/>
        </p:nvSpPr>
        <p:spPr>
          <a:xfrm>
            <a:off x="1270000" y="4597400"/>
            <a:ext cx="4318000" cy="698500"/>
          </a:xfrm>
          <a:prstGeom prst="rect">
            <a:avLst/>
          </a:prstGeom>
          <a:noFill/>
          <a:ln>
            <a:noFill/>
          </a:ln>
        </p:spPr>
        <p:txBody>
          <a:bodyPr vertOverflow="overflow" vert="horz" wrap="square" rtlCol="0" anchor="t" anchorCtr="0">
            <a:noAutofit/>
          </a:bodyPr>
          <a:lstStyle/>
          <a:p>
            <a:pPr algn="l"/>
            <a:r>
              <a:rPr lang="en-US" sz="1400">
                <a:solidFill>
                  <a:srgbClr val="6C757D"/>
                </a:solidFill>
                <a:latin typeface="Futura Medium"/>
                <a:cs typeface="Futura Medium"/>
              </a:rPr>
              <a:t>A number you argue about in retro, not one that drives decisions.</a:t>
            </a:r>
          </a:p>
        </p:txBody>
      </p:sp>
      <p:sp>
        <p:nvSpPr>
          <p:cNvPr id="21" name="Rectangle 20">
            <a:extLst>
              <a:ext uri="{FF2B5EF4-FFF2-40B4-BE49-F238E27FC236}">
                <a16:creationId xmlns:a16="http://schemas.microsoft.com/office/drawing/2014/main" id="{A137FED1-D794-0C48-9081-1FA3D31A7E21}"/>
              </a:ext>
            </a:extLst>
          </p:cNvPr>
          <p:cNvSpPr/>
          <p:nvPr/>
        </p:nvSpPr>
        <p:spPr>
          <a:xfrm>
            <a:off x="6350000" y="3937000"/>
            <a:ext cx="4826000" cy="1460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44F3C134-327D-644D-B05C-2A7DB40E7237}"/>
              </a:ext>
            </a:extLst>
          </p:cNvPr>
          <p:cNvSpPr/>
          <p:nvPr/>
        </p:nvSpPr>
        <p:spPr>
          <a:xfrm>
            <a:off x="6350000" y="3937000"/>
            <a:ext cx="38100" cy="14605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587EC2F7-48E7-1140-8EBC-5C915D635CE2}"/>
              </a:ext>
            </a:extLst>
          </p:cNvPr>
          <p:cNvSpPr txBox="1"/>
          <p:nvPr/>
        </p:nvSpPr>
        <p:spPr>
          <a:xfrm>
            <a:off x="6604000" y="4165600"/>
            <a:ext cx="4318000" cy="381000"/>
          </a:xfrm>
          <a:prstGeom prst="rect">
            <a:avLst/>
          </a:prstGeom>
          <a:noFill/>
          <a:ln>
            <a:noFill/>
          </a:ln>
        </p:spPr>
        <p:txBody>
          <a:bodyPr vertOverflow="overflow" vert="horz" wrap="square" rtlCol="0" anchor="t" anchorCtr="0">
            <a:noAutofit/>
          </a:bodyPr>
          <a:lstStyle/>
          <a:p>
            <a:pPr algn="l"/>
            <a:r>
              <a:rPr lang="en-US" b="1">
                <a:solidFill>
                  <a:srgbClr val="102033"/>
                </a:solidFill>
                <a:latin typeface="Futura"/>
                <a:cs typeface="Futura"/>
              </a:rPr>
              <a:t>Optimize for the Metric</a:t>
            </a:r>
          </a:p>
        </p:txBody>
      </p:sp>
      <p:sp>
        <p:nvSpPr>
          <p:cNvPr id="24" name="TextBox 23">
            <a:extLst>
              <a:ext uri="{FF2B5EF4-FFF2-40B4-BE49-F238E27FC236}">
                <a16:creationId xmlns:a16="http://schemas.microsoft.com/office/drawing/2014/main" id="{9C8367E0-4DB7-984C-A818-BA1A50ABAA47}"/>
              </a:ext>
            </a:extLst>
          </p:cNvPr>
          <p:cNvSpPr txBox="1"/>
          <p:nvPr/>
        </p:nvSpPr>
        <p:spPr>
          <a:xfrm>
            <a:off x="6604000" y="4597400"/>
            <a:ext cx="4318000" cy="698500"/>
          </a:xfrm>
          <a:prstGeom prst="rect">
            <a:avLst/>
          </a:prstGeom>
          <a:noFill/>
          <a:ln>
            <a:noFill/>
          </a:ln>
        </p:spPr>
        <p:txBody>
          <a:bodyPr vertOverflow="overflow" vert="horz" wrap="square" rtlCol="0" anchor="t" anchorCtr="0">
            <a:noAutofit/>
          </a:bodyPr>
          <a:lstStyle/>
          <a:p>
            <a:pPr algn="l"/>
            <a:r>
              <a:rPr lang="en-US" sz="1400">
                <a:solidFill>
                  <a:srgbClr val="6C757D"/>
                </a:solidFill>
                <a:latin typeface="Futura Medium"/>
                <a:cs typeface="Futura Medium"/>
              </a:rPr>
              <a:t>Engineers game the measure instead of pursuing the outcome.</a:t>
            </a:r>
          </a:p>
        </p:txBody>
      </p:sp>
      <p:sp>
        <p:nvSpPr>
          <p:cNvPr id="25" name="TextBox 24">
            <a:extLst>
              <a:ext uri="{FF2B5EF4-FFF2-40B4-BE49-F238E27FC236}">
                <a16:creationId xmlns:a16="http://schemas.microsoft.com/office/drawing/2014/main" id="{77DF076A-3AA6-9B47-93F7-1DAA8FD0127A}"/>
              </a:ext>
            </a:extLst>
          </p:cNvPr>
          <p:cNvSpPr txBox="1"/>
          <p:nvPr/>
        </p:nvSpPr>
        <p:spPr>
          <a:xfrm>
            <a:off x="1016000" y="5930900"/>
            <a:ext cx="10160000" cy="381000"/>
          </a:xfrm>
          <a:prstGeom prst="rect">
            <a:avLst/>
          </a:prstGeom>
          <a:noFill/>
          <a:ln>
            <a:noFill/>
          </a:ln>
        </p:spPr>
        <p:txBody>
          <a:bodyPr vertOverflow="overflow" vert="horz" wrap="square" rtlCol="0" anchor="ctr" anchorCtr="0">
            <a:noAutofit/>
          </a:bodyPr>
          <a:lstStyle/>
          <a:p>
            <a:pPr algn="l"/>
            <a:r>
              <a:rPr lang="en-US" i="1">
                <a:solidFill>
                  <a:srgbClr val="102033"/>
                </a:solidFill>
                <a:latin typeface="Futura Medium"/>
                <a:cs typeface="Futura Medium"/>
              </a:rPr>
              <a:t>“What gets measured gets gamed.”  — Goodhart’s Law</a:t>
            </a:r>
          </a:p>
        </p:txBody>
      </p:sp>
    </p:spTree>
    <p:custDataLst>
      <p:tags r:id="rId1"/>
    </p:custDataLst>
    <p:extLst>
      <p:ext uri="{BB962C8B-B14F-4D97-AF65-F5344CB8AC3E}">
        <p14:creationId xmlns:p14="http://schemas.microsoft.com/office/powerpoint/2010/main" val="3956475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up)">
                                      <p:cBhvr>
                                        <p:cTn id="10" dur="500"/>
                                        <p:tgtEl>
                                          <p:spTgt spid="1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up)">
                                      <p:cBhvr>
                                        <p:cTn id="21" dur="500"/>
                                        <p:tgtEl>
                                          <p:spTgt spid="18"/>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500"/>
                                        <p:tgtEl>
                                          <p:spTgt spid="17"/>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50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500"/>
                                        <p:tgtEl>
                                          <p:spTgt spid="22"/>
                                        </p:tgtEl>
                                      </p:cBhvr>
                                    </p:animEffect>
                                  </p:childTnLst>
                                </p:cTn>
                              </p:par>
                              <p:par>
                                <p:cTn id="36" presetID="22" presetClass="entr" presetSubtype="1" fill="hold" grpId="0" nodeType="withEffect">
                                  <p:stCondLst>
                                    <p:cond delay="250"/>
                                  </p:stCondLst>
                                  <p:childTnLst>
                                    <p:set>
                                      <p:cBhvr>
                                        <p:cTn id="37" dur="1" fill="hold">
                                          <p:stCondLst>
                                            <p:cond delay="0"/>
                                          </p:stCondLst>
                                        </p:cTn>
                                        <p:tgtEl>
                                          <p:spTgt spid="21"/>
                                        </p:tgtEl>
                                        <p:attrNameLst>
                                          <p:attrName>style.visibility</p:attrName>
                                        </p:attrNameLst>
                                      </p:cBhvr>
                                      <p:to>
                                        <p:strVal val="visible"/>
                                      </p:to>
                                    </p:set>
                                    <p:animEffect transition="in" filter="wipe(up)">
                                      <p:cBhvr>
                                        <p:cTn id="38" dur="500"/>
                                        <p:tgtEl>
                                          <p:spTgt spid="21"/>
                                        </p:tgtEl>
                                      </p:cBhvr>
                                    </p:animEffect>
                                  </p:childTnLst>
                                </p:cTn>
                              </p:par>
                              <p:par>
                                <p:cTn id="39" presetID="10" presetClass="entr" presetSubtype="0" fill="hold" grpId="0" nodeType="withEffect">
                                  <p:stCondLst>
                                    <p:cond delay="25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par>
                                <p:cTn id="42" presetID="10" presetClass="entr" presetSubtype="0" fill="hold" grpId="0" nodeType="withEffect">
                                  <p:stCondLst>
                                    <p:cond delay="5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childTnLst>
                          </p:cTn>
                        </p:par>
                        <p:par>
                          <p:cTn id="45" fill="hold">
                            <p:stCondLst>
                              <p:cond delay="1000"/>
                            </p:stCondLst>
                            <p:childTnLst>
                              <p:par>
                                <p:cTn id="46" presetID="10" presetClass="entr" presetSubtype="0"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18" grpId="0" animBg="1"/>
      <p:bldP spid="19" grpId="0"/>
      <p:bldP spid="20" grpId="0"/>
      <p:bldP spid="21" grpId="0" animBg="1"/>
      <p:bldP spid="22" grpId="0" animBg="1"/>
      <p:bldP spid="23"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E98718-A5B5-684C-9CAD-A8F7D7AAE595}"/>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dirty="0">
                <a:solidFill>
                  <a:srgbClr val="102033"/>
                </a:solidFill>
                <a:latin typeface="Futura"/>
                <a:cs typeface="Futura"/>
              </a:rPr>
              <a:t>Where our approach fits in the landscape</a:t>
            </a:r>
          </a:p>
        </p:txBody>
      </p:sp>
      <p:sp>
        <p:nvSpPr>
          <p:cNvPr id="3" name="Rectangle 2">
            <a:extLst>
              <a:ext uri="{FF2B5EF4-FFF2-40B4-BE49-F238E27FC236}">
                <a16:creationId xmlns:a16="http://schemas.microsoft.com/office/drawing/2014/main" id="{D1C6E248-262B-494B-9C35-C70A9F99EC7C}"/>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9B923FB-8758-AE44-ACE0-82088EC837D0}"/>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We didn't invent this. We borrowed the best ideas and tuned them for coaching.</a:t>
            </a:r>
          </a:p>
        </p:txBody>
      </p:sp>
      <p:sp>
        <p:nvSpPr>
          <p:cNvPr id="5" name="Rectangle 4">
            <a:extLst>
              <a:ext uri="{FF2B5EF4-FFF2-40B4-BE49-F238E27FC236}">
                <a16:creationId xmlns:a16="http://schemas.microsoft.com/office/drawing/2014/main" id="{9CEBAA9B-E28B-CE4A-8B94-ADDD73F6B9B4}"/>
              </a:ext>
            </a:extLst>
          </p:cNvPr>
          <p:cNvSpPr/>
          <p:nvPr/>
        </p:nvSpPr>
        <p:spPr>
          <a:xfrm>
            <a:off x="1016000" y="2286000"/>
            <a:ext cx="3302000" cy="38100"/>
          </a:xfrm>
          <a:prstGeom prst="rect">
            <a:avLst/>
          </a:prstGeom>
          <a:solidFill>
            <a:srgbClr val="0D6EF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78465231-9EDA-2A45-A62B-1DC28B6141B0}"/>
              </a:ext>
            </a:extLst>
          </p:cNvPr>
          <p:cNvSpPr/>
          <p:nvPr/>
        </p:nvSpPr>
        <p:spPr>
          <a:xfrm>
            <a:off x="1016000" y="2324100"/>
            <a:ext cx="3302000" cy="3111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2FD3A6BA-5B27-7C4C-9C53-60B7CE36F0FD}"/>
              </a:ext>
            </a:extLst>
          </p:cNvPr>
          <p:cNvSpPr txBox="1"/>
          <p:nvPr/>
        </p:nvSpPr>
        <p:spPr>
          <a:xfrm>
            <a:off x="1270000" y="2540000"/>
            <a:ext cx="2794000" cy="203200"/>
          </a:xfrm>
          <a:prstGeom prst="rect">
            <a:avLst/>
          </a:prstGeom>
          <a:noFill/>
          <a:ln>
            <a:noFill/>
          </a:ln>
        </p:spPr>
        <p:txBody>
          <a:bodyPr vertOverflow="overflow" vert="horz" wrap="square" rtlCol="0" anchor="t">
            <a:noAutofit/>
          </a:bodyPr>
          <a:lstStyle/>
          <a:p>
            <a:pPr algn="l"/>
            <a:r>
              <a:rPr lang="en-US" sz="1000" b="1">
                <a:solidFill>
                  <a:srgbClr val="0D6EFD"/>
                </a:solidFill>
                <a:latin typeface="Futura"/>
                <a:cs typeface="Futura"/>
              </a:rPr>
              <a:t>BENCHMARK</a:t>
            </a:r>
          </a:p>
        </p:txBody>
      </p:sp>
      <p:sp>
        <p:nvSpPr>
          <p:cNvPr id="8" name="TextBox 7">
            <a:extLst>
              <a:ext uri="{FF2B5EF4-FFF2-40B4-BE49-F238E27FC236}">
                <a16:creationId xmlns:a16="http://schemas.microsoft.com/office/drawing/2014/main" id="{7B94FFA2-00C4-F141-970E-8871514FF7FD}"/>
              </a:ext>
            </a:extLst>
          </p:cNvPr>
          <p:cNvSpPr txBox="1"/>
          <p:nvPr/>
        </p:nvSpPr>
        <p:spPr>
          <a:xfrm>
            <a:off x="1270000" y="2794000"/>
            <a:ext cx="2794000" cy="406400"/>
          </a:xfrm>
          <a:prstGeom prst="rect">
            <a:avLst/>
          </a:prstGeom>
          <a:noFill/>
          <a:ln>
            <a:noFill/>
          </a:ln>
        </p:spPr>
        <p:txBody>
          <a:bodyPr vertOverflow="overflow" vert="horz" wrap="square" rtlCol="0" anchor="t">
            <a:noAutofit/>
          </a:bodyPr>
          <a:lstStyle/>
          <a:p>
            <a:pPr algn="l"/>
            <a:r>
              <a:rPr lang="en-US" sz="2200" b="1">
                <a:solidFill>
                  <a:srgbClr val="102033"/>
                </a:solidFill>
                <a:latin typeface="Futura"/>
                <a:cs typeface="Futura"/>
              </a:rPr>
              <a:t>DORA</a:t>
            </a:r>
          </a:p>
        </p:txBody>
      </p:sp>
      <p:sp>
        <p:nvSpPr>
          <p:cNvPr id="9" name="TextBox 8">
            <a:extLst>
              <a:ext uri="{FF2B5EF4-FFF2-40B4-BE49-F238E27FC236}">
                <a16:creationId xmlns:a16="http://schemas.microsoft.com/office/drawing/2014/main" id="{9CC335E4-6598-5143-A4D1-4FB271A6D98E}"/>
              </a:ext>
            </a:extLst>
          </p:cNvPr>
          <p:cNvSpPr txBox="1"/>
          <p:nvPr/>
        </p:nvSpPr>
        <p:spPr>
          <a:xfrm>
            <a:off x="1270000" y="3225800"/>
            <a:ext cx="2794000" cy="2032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Google research · 4 metrics</a:t>
            </a:r>
          </a:p>
        </p:txBody>
      </p:sp>
      <p:sp>
        <p:nvSpPr>
          <p:cNvPr id="10" name="Rectangle 9">
            <a:extLst>
              <a:ext uri="{FF2B5EF4-FFF2-40B4-BE49-F238E27FC236}">
                <a16:creationId xmlns:a16="http://schemas.microsoft.com/office/drawing/2014/main" id="{6E312067-C8E2-AA4B-9853-D17A59A3AB86}"/>
              </a:ext>
            </a:extLst>
          </p:cNvPr>
          <p:cNvSpPr/>
          <p:nvPr/>
        </p:nvSpPr>
        <p:spPr>
          <a:xfrm>
            <a:off x="1270000" y="3530600"/>
            <a:ext cx="381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0BD1F9E6-6AF3-A248-A556-AC26101A3CCF}"/>
              </a:ext>
            </a:extLst>
          </p:cNvPr>
          <p:cNvSpPr txBox="1"/>
          <p:nvPr/>
        </p:nvSpPr>
        <p:spPr>
          <a:xfrm>
            <a:off x="1270000" y="3657600"/>
            <a:ext cx="2794000" cy="1016000"/>
          </a:xfrm>
          <a:prstGeom prst="rect">
            <a:avLst/>
          </a:prstGeom>
          <a:noFill/>
          <a:ln>
            <a:noFill/>
          </a:ln>
        </p:spPr>
        <p:txBody>
          <a:bodyPr vertOverflow="overflow" vert="horz" wrap="square" rtlCol="0" anchor="t">
            <a:noAutofit/>
          </a:bodyPr>
          <a:lstStyle/>
          <a:p>
            <a:pPr algn="l"/>
            <a:r>
              <a:rPr lang="en-US" sz="1200">
                <a:solidFill>
                  <a:srgbClr val="102033"/>
                </a:solidFill>
                <a:latin typeface="Futura"/>
                <a:cs typeface="Futura"/>
              </a:rPr>
              <a:t>—  Deployment frequency
—  Lead time for changes
—  Change failure rate
—  Time to restore</a:t>
            </a:r>
          </a:p>
        </p:txBody>
      </p:sp>
      <p:sp>
        <p:nvSpPr>
          <p:cNvPr id="12" name="TextBox 11">
            <a:extLst>
              <a:ext uri="{FF2B5EF4-FFF2-40B4-BE49-F238E27FC236}">
                <a16:creationId xmlns:a16="http://schemas.microsoft.com/office/drawing/2014/main" id="{AF175C63-2BEF-7841-B19C-D0E81E4DE480}"/>
              </a:ext>
            </a:extLst>
          </p:cNvPr>
          <p:cNvSpPr txBox="1"/>
          <p:nvPr/>
        </p:nvSpPr>
        <p:spPr>
          <a:xfrm>
            <a:off x="1270000" y="4826000"/>
            <a:ext cx="2794000" cy="457200"/>
          </a:xfrm>
          <a:prstGeom prst="rect">
            <a:avLst/>
          </a:prstGeom>
          <a:noFill/>
          <a:ln>
            <a:noFill/>
          </a:ln>
        </p:spPr>
        <p:txBody>
          <a:bodyPr vertOverflow="overflow" vert="horz" wrap="square" rtlCol="0" anchor="t">
            <a:noAutofit/>
          </a:bodyPr>
          <a:lstStyle/>
          <a:p>
            <a:pPr algn="l"/>
            <a:r>
              <a:rPr lang="en-US" sz="1100" b="1" i="1">
                <a:solidFill>
                  <a:srgbClr val="0D6EFD"/>
                </a:solidFill>
                <a:latin typeface="Futura"/>
                <a:cs typeface="Futura"/>
              </a:rPr>
              <a:t>Is the delivery system healthy?</a:t>
            </a:r>
          </a:p>
        </p:txBody>
      </p:sp>
      <p:sp>
        <p:nvSpPr>
          <p:cNvPr id="13" name="Rectangle 12">
            <a:extLst>
              <a:ext uri="{FF2B5EF4-FFF2-40B4-BE49-F238E27FC236}">
                <a16:creationId xmlns:a16="http://schemas.microsoft.com/office/drawing/2014/main" id="{CCF38BC0-B7BF-A94B-9B44-7A1053BFF350}"/>
              </a:ext>
            </a:extLst>
          </p:cNvPr>
          <p:cNvSpPr/>
          <p:nvPr/>
        </p:nvSpPr>
        <p:spPr>
          <a:xfrm>
            <a:off x="4572000" y="2286000"/>
            <a:ext cx="3302000" cy="38100"/>
          </a:xfrm>
          <a:prstGeom prst="rect">
            <a:avLst/>
          </a:prstGeom>
          <a:solidFill>
            <a:srgbClr val="6C757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AFC5BBFA-F6B9-6647-933D-7EE92F022C1C}"/>
              </a:ext>
            </a:extLst>
          </p:cNvPr>
          <p:cNvSpPr/>
          <p:nvPr/>
        </p:nvSpPr>
        <p:spPr>
          <a:xfrm>
            <a:off x="4572000" y="2324100"/>
            <a:ext cx="3302000" cy="3111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59DDB696-12D6-584E-AB75-8DD87EE59EBD}"/>
              </a:ext>
            </a:extLst>
          </p:cNvPr>
          <p:cNvSpPr txBox="1"/>
          <p:nvPr/>
        </p:nvSpPr>
        <p:spPr>
          <a:xfrm>
            <a:off x="4826000" y="2540000"/>
            <a:ext cx="2794000" cy="203200"/>
          </a:xfrm>
          <a:prstGeom prst="rect">
            <a:avLst/>
          </a:prstGeom>
          <a:noFill/>
          <a:ln>
            <a:noFill/>
          </a:ln>
        </p:spPr>
        <p:txBody>
          <a:bodyPr vertOverflow="overflow" vert="horz" wrap="square" rtlCol="0" anchor="t">
            <a:noAutofit/>
          </a:bodyPr>
          <a:lstStyle/>
          <a:p>
            <a:pPr algn="l"/>
            <a:r>
              <a:rPr lang="en-US" sz="1000" b="1" dirty="0">
                <a:solidFill>
                  <a:srgbClr val="6C757D"/>
                </a:solidFill>
                <a:latin typeface="Futura"/>
                <a:cs typeface="Futura"/>
              </a:rPr>
              <a:t>FRAMEWORK</a:t>
            </a:r>
          </a:p>
        </p:txBody>
      </p:sp>
      <p:sp>
        <p:nvSpPr>
          <p:cNvPr id="16" name="TextBox 15">
            <a:extLst>
              <a:ext uri="{FF2B5EF4-FFF2-40B4-BE49-F238E27FC236}">
                <a16:creationId xmlns:a16="http://schemas.microsoft.com/office/drawing/2014/main" id="{05C93D2F-999A-FF4B-B665-12B63B123448}"/>
              </a:ext>
            </a:extLst>
          </p:cNvPr>
          <p:cNvSpPr txBox="1"/>
          <p:nvPr/>
        </p:nvSpPr>
        <p:spPr>
          <a:xfrm>
            <a:off x="4826000" y="2794000"/>
            <a:ext cx="2794000" cy="406400"/>
          </a:xfrm>
          <a:prstGeom prst="rect">
            <a:avLst/>
          </a:prstGeom>
          <a:noFill/>
          <a:ln>
            <a:noFill/>
          </a:ln>
        </p:spPr>
        <p:txBody>
          <a:bodyPr vertOverflow="overflow" vert="horz" wrap="square" rtlCol="0" anchor="t">
            <a:noAutofit/>
          </a:bodyPr>
          <a:lstStyle/>
          <a:p>
            <a:pPr algn="l"/>
            <a:r>
              <a:rPr lang="en-US" sz="2200" b="1" dirty="0">
                <a:solidFill>
                  <a:srgbClr val="102033"/>
                </a:solidFill>
                <a:latin typeface="Futura"/>
                <a:cs typeface="Futura"/>
              </a:rPr>
              <a:t>SPACE</a:t>
            </a:r>
          </a:p>
        </p:txBody>
      </p:sp>
      <p:sp>
        <p:nvSpPr>
          <p:cNvPr id="17" name="TextBox 16">
            <a:extLst>
              <a:ext uri="{FF2B5EF4-FFF2-40B4-BE49-F238E27FC236}">
                <a16:creationId xmlns:a16="http://schemas.microsoft.com/office/drawing/2014/main" id="{029DF153-6274-8C46-8527-D27AE89E3939}"/>
              </a:ext>
            </a:extLst>
          </p:cNvPr>
          <p:cNvSpPr txBox="1"/>
          <p:nvPr/>
        </p:nvSpPr>
        <p:spPr>
          <a:xfrm>
            <a:off x="4826000" y="3225800"/>
            <a:ext cx="2794000" cy="203200"/>
          </a:xfrm>
          <a:prstGeom prst="rect">
            <a:avLst/>
          </a:prstGeom>
          <a:noFill/>
          <a:ln>
            <a:noFill/>
          </a:ln>
        </p:spPr>
        <p:txBody>
          <a:bodyPr vertOverflow="overflow" vert="horz" wrap="square" rtlCol="0" anchor="t">
            <a:noAutofit/>
          </a:bodyPr>
          <a:lstStyle/>
          <a:p>
            <a:pPr algn="l"/>
            <a:r>
              <a:rPr lang="en-US" sz="1000" dirty="0">
                <a:solidFill>
                  <a:srgbClr val="6C757D"/>
                </a:solidFill>
                <a:latin typeface="Futura"/>
                <a:cs typeface="Futura"/>
              </a:rPr>
              <a:t>Microsoft research · 5 dimensions</a:t>
            </a:r>
          </a:p>
        </p:txBody>
      </p:sp>
      <p:sp>
        <p:nvSpPr>
          <p:cNvPr id="18" name="Rectangle 17">
            <a:extLst>
              <a:ext uri="{FF2B5EF4-FFF2-40B4-BE49-F238E27FC236}">
                <a16:creationId xmlns:a16="http://schemas.microsoft.com/office/drawing/2014/main" id="{D42D6EA7-97C7-134A-A48B-7F64E671941D}"/>
              </a:ext>
            </a:extLst>
          </p:cNvPr>
          <p:cNvSpPr/>
          <p:nvPr/>
        </p:nvSpPr>
        <p:spPr>
          <a:xfrm>
            <a:off x="4826000" y="3530600"/>
            <a:ext cx="381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B4C0A685-BC16-1744-8EA6-9032FAF0491D}"/>
              </a:ext>
            </a:extLst>
          </p:cNvPr>
          <p:cNvSpPr txBox="1"/>
          <p:nvPr/>
        </p:nvSpPr>
        <p:spPr>
          <a:xfrm>
            <a:off x="4826000" y="3657600"/>
            <a:ext cx="2794000" cy="1244600"/>
          </a:xfrm>
          <a:prstGeom prst="rect">
            <a:avLst/>
          </a:prstGeom>
          <a:noFill/>
          <a:ln>
            <a:noFill/>
          </a:ln>
        </p:spPr>
        <p:txBody>
          <a:bodyPr vertOverflow="overflow" vert="horz" wrap="square" rtlCol="0" anchor="t">
            <a:noAutofit/>
          </a:bodyPr>
          <a:lstStyle/>
          <a:p>
            <a:pPr algn="l"/>
            <a:r>
              <a:rPr lang="en-US" sz="1200" dirty="0">
                <a:solidFill>
                  <a:srgbClr val="102033"/>
                </a:solidFill>
                <a:latin typeface="Futura"/>
                <a:cs typeface="Futura"/>
              </a:rPr>
              <a:t>—  Satisfaction
—  Performance
—  Activity
—  Communication
—  Efficiency</a:t>
            </a:r>
          </a:p>
        </p:txBody>
      </p:sp>
      <p:sp>
        <p:nvSpPr>
          <p:cNvPr id="20" name="TextBox 19">
            <a:extLst>
              <a:ext uri="{FF2B5EF4-FFF2-40B4-BE49-F238E27FC236}">
                <a16:creationId xmlns:a16="http://schemas.microsoft.com/office/drawing/2014/main" id="{62A44508-B864-C449-9E61-E8D3B42F8D13}"/>
              </a:ext>
            </a:extLst>
          </p:cNvPr>
          <p:cNvSpPr txBox="1"/>
          <p:nvPr/>
        </p:nvSpPr>
        <p:spPr>
          <a:xfrm>
            <a:off x="4826000" y="4826000"/>
            <a:ext cx="2794000" cy="457200"/>
          </a:xfrm>
          <a:prstGeom prst="rect">
            <a:avLst/>
          </a:prstGeom>
          <a:noFill/>
          <a:ln>
            <a:noFill/>
          </a:ln>
        </p:spPr>
        <p:txBody>
          <a:bodyPr vertOverflow="overflow" vert="horz" wrap="square" rtlCol="0" anchor="t">
            <a:noAutofit/>
          </a:bodyPr>
          <a:lstStyle/>
          <a:p>
            <a:pPr algn="l"/>
            <a:r>
              <a:rPr lang="en-US" sz="1100" b="1" i="1" dirty="0">
                <a:solidFill>
                  <a:srgbClr val="6C757D"/>
                </a:solidFill>
                <a:latin typeface="Futura"/>
                <a:cs typeface="Futura"/>
              </a:rPr>
              <a:t>How to measure without weaponizing.</a:t>
            </a:r>
          </a:p>
        </p:txBody>
      </p:sp>
      <p:sp>
        <p:nvSpPr>
          <p:cNvPr id="21" name="Rectangle 20">
            <a:extLst>
              <a:ext uri="{FF2B5EF4-FFF2-40B4-BE49-F238E27FC236}">
                <a16:creationId xmlns:a16="http://schemas.microsoft.com/office/drawing/2014/main" id="{333B1AFB-80AA-4846-AABD-E0F820EF6708}"/>
              </a:ext>
            </a:extLst>
          </p:cNvPr>
          <p:cNvSpPr/>
          <p:nvPr/>
        </p:nvSpPr>
        <p:spPr>
          <a:xfrm>
            <a:off x="8128000" y="2286000"/>
            <a:ext cx="330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B673148A-204D-314B-BEE5-8E6132457CDE}"/>
              </a:ext>
            </a:extLst>
          </p:cNvPr>
          <p:cNvSpPr/>
          <p:nvPr/>
        </p:nvSpPr>
        <p:spPr>
          <a:xfrm>
            <a:off x="8128000" y="2324100"/>
            <a:ext cx="3302000" cy="3111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52DB7E41-F9F6-D745-A90D-578667659DF4}"/>
              </a:ext>
            </a:extLst>
          </p:cNvPr>
          <p:cNvSpPr txBox="1"/>
          <p:nvPr/>
        </p:nvSpPr>
        <p:spPr>
          <a:xfrm>
            <a:off x="8382000" y="2540000"/>
            <a:ext cx="2794000" cy="203200"/>
          </a:xfrm>
          <a:prstGeom prst="rect">
            <a:avLst/>
          </a:prstGeom>
          <a:noFill/>
          <a:ln>
            <a:noFill/>
          </a:ln>
        </p:spPr>
        <p:txBody>
          <a:bodyPr vertOverflow="overflow" vert="horz" wrap="square" rtlCol="0" anchor="t">
            <a:noAutofit/>
          </a:bodyPr>
          <a:lstStyle/>
          <a:p>
            <a:pPr algn="l"/>
            <a:r>
              <a:rPr lang="en-US" sz="1000" b="1" dirty="0">
                <a:solidFill>
                  <a:srgbClr val="F79226"/>
                </a:solidFill>
                <a:latin typeface="Futura"/>
                <a:cs typeface="Futura"/>
              </a:rPr>
              <a:t>THIS TALK</a:t>
            </a:r>
          </a:p>
        </p:txBody>
      </p:sp>
      <p:sp>
        <p:nvSpPr>
          <p:cNvPr id="24" name="TextBox 23">
            <a:extLst>
              <a:ext uri="{FF2B5EF4-FFF2-40B4-BE49-F238E27FC236}">
                <a16:creationId xmlns:a16="http://schemas.microsoft.com/office/drawing/2014/main" id="{2BA8ACD1-14D4-7948-AF90-CA2A7E68A160}"/>
              </a:ext>
            </a:extLst>
          </p:cNvPr>
          <p:cNvSpPr txBox="1"/>
          <p:nvPr/>
        </p:nvSpPr>
        <p:spPr>
          <a:xfrm>
            <a:off x="8382000" y="2794000"/>
            <a:ext cx="2794000" cy="406400"/>
          </a:xfrm>
          <a:prstGeom prst="rect">
            <a:avLst/>
          </a:prstGeom>
          <a:noFill/>
          <a:ln>
            <a:noFill/>
          </a:ln>
        </p:spPr>
        <p:txBody>
          <a:bodyPr vertOverflow="overflow" vert="horz" wrap="square" rtlCol="0" anchor="t">
            <a:noAutofit/>
          </a:bodyPr>
          <a:lstStyle/>
          <a:p>
            <a:pPr algn="l"/>
            <a:r>
              <a:rPr lang="en-US" sz="2200" b="1" dirty="0">
                <a:solidFill>
                  <a:srgbClr val="102033"/>
                </a:solidFill>
                <a:latin typeface="Futura"/>
                <a:cs typeface="Futura"/>
              </a:rPr>
              <a:t>Our take</a:t>
            </a:r>
          </a:p>
        </p:txBody>
      </p:sp>
      <p:sp>
        <p:nvSpPr>
          <p:cNvPr id="25" name="TextBox 24">
            <a:extLst>
              <a:ext uri="{FF2B5EF4-FFF2-40B4-BE49-F238E27FC236}">
                <a16:creationId xmlns:a16="http://schemas.microsoft.com/office/drawing/2014/main" id="{9CAC011D-2CE2-5A4D-A6D9-67588AE1983E}"/>
              </a:ext>
            </a:extLst>
          </p:cNvPr>
          <p:cNvSpPr txBox="1"/>
          <p:nvPr/>
        </p:nvSpPr>
        <p:spPr>
          <a:xfrm>
            <a:off x="8382000" y="3225800"/>
            <a:ext cx="2794000" cy="203200"/>
          </a:xfrm>
          <a:prstGeom prst="rect">
            <a:avLst/>
          </a:prstGeom>
          <a:noFill/>
          <a:ln>
            <a:noFill/>
          </a:ln>
        </p:spPr>
        <p:txBody>
          <a:bodyPr vertOverflow="overflow" vert="horz" wrap="square" rtlCol="0" anchor="t">
            <a:noAutofit/>
          </a:bodyPr>
          <a:lstStyle/>
          <a:p>
            <a:pPr algn="l"/>
            <a:r>
              <a:rPr lang="en-US" sz="1000" dirty="0">
                <a:solidFill>
                  <a:srgbClr val="6C757D"/>
                </a:solidFill>
                <a:latin typeface="Futura"/>
                <a:cs typeface="Futura"/>
              </a:rPr>
              <a:t>3 tiers · 1:1-ready</a:t>
            </a:r>
          </a:p>
        </p:txBody>
      </p:sp>
      <p:sp>
        <p:nvSpPr>
          <p:cNvPr id="26" name="Rectangle 25">
            <a:extLst>
              <a:ext uri="{FF2B5EF4-FFF2-40B4-BE49-F238E27FC236}">
                <a16:creationId xmlns:a16="http://schemas.microsoft.com/office/drawing/2014/main" id="{2FA50724-2C2B-4444-9E00-90D842BF02EF}"/>
              </a:ext>
            </a:extLst>
          </p:cNvPr>
          <p:cNvSpPr/>
          <p:nvPr/>
        </p:nvSpPr>
        <p:spPr>
          <a:xfrm>
            <a:off x="8382000" y="3530600"/>
            <a:ext cx="381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D1D74294-99A6-F14A-A35D-09B715C887E0}"/>
              </a:ext>
            </a:extLst>
          </p:cNvPr>
          <p:cNvSpPr txBox="1"/>
          <p:nvPr/>
        </p:nvSpPr>
        <p:spPr>
          <a:xfrm>
            <a:off x="8382000" y="3657600"/>
            <a:ext cx="2794000" cy="787400"/>
          </a:xfrm>
          <a:prstGeom prst="rect">
            <a:avLst/>
          </a:prstGeom>
          <a:noFill/>
          <a:ln>
            <a:noFill/>
          </a:ln>
        </p:spPr>
        <p:txBody>
          <a:bodyPr vertOverflow="overflow" vert="horz" wrap="square" rtlCol="0" anchor="t">
            <a:noAutofit/>
          </a:bodyPr>
          <a:lstStyle/>
          <a:p>
            <a:pPr algn="l"/>
            <a:r>
              <a:rPr lang="en-US" sz="1200" dirty="0">
                <a:solidFill>
                  <a:srgbClr val="102033"/>
                </a:solidFill>
                <a:latin typeface="Futura"/>
                <a:cs typeface="Futura"/>
              </a:rPr>
              <a:t>—  Outcomes
—  System Signals
—  Behaviors</a:t>
            </a:r>
          </a:p>
        </p:txBody>
      </p:sp>
      <p:sp>
        <p:nvSpPr>
          <p:cNvPr id="28" name="TextBox 27">
            <a:extLst>
              <a:ext uri="{FF2B5EF4-FFF2-40B4-BE49-F238E27FC236}">
                <a16:creationId xmlns:a16="http://schemas.microsoft.com/office/drawing/2014/main" id="{C5B995AC-2BEE-3544-968D-8A79193EAB11}"/>
              </a:ext>
            </a:extLst>
          </p:cNvPr>
          <p:cNvSpPr txBox="1"/>
          <p:nvPr/>
        </p:nvSpPr>
        <p:spPr>
          <a:xfrm>
            <a:off x="8382000" y="4826000"/>
            <a:ext cx="2794000" cy="457200"/>
          </a:xfrm>
          <a:prstGeom prst="rect">
            <a:avLst/>
          </a:prstGeom>
          <a:noFill/>
          <a:ln>
            <a:noFill/>
          </a:ln>
        </p:spPr>
        <p:txBody>
          <a:bodyPr vertOverflow="overflow" vert="horz" wrap="square" rtlCol="0" anchor="t">
            <a:noAutofit/>
          </a:bodyPr>
          <a:lstStyle/>
          <a:p>
            <a:pPr algn="l"/>
            <a:r>
              <a:rPr lang="en-US" sz="1100" b="1" i="1" dirty="0">
                <a:solidFill>
                  <a:srgbClr val="F79226"/>
                </a:solidFill>
                <a:latin typeface="Futura"/>
                <a:cs typeface="Futura"/>
              </a:rPr>
              <a:t>What do I say Monday morning?</a:t>
            </a:r>
          </a:p>
        </p:txBody>
      </p:sp>
      <p:sp>
        <p:nvSpPr>
          <p:cNvPr id="29" name="TextBox 28">
            <a:extLst>
              <a:ext uri="{FF2B5EF4-FFF2-40B4-BE49-F238E27FC236}">
                <a16:creationId xmlns:a16="http://schemas.microsoft.com/office/drawing/2014/main" id="{D0C3755A-3E64-4B4A-9F30-F3730EA143BD}"/>
              </a:ext>
            </a:extLst>
          </p:cNvPr>
          <p:cNvSpPr txBox="1"/>
          <p:nvPr/>
        </p:nvSpPr>
        <p:spPr>
          <a:xfrm>
            <a:off x="1016000" y="5918200"/>
            <a:ext cx="10414000" cy="381000"/>
          </a:xfrm>
          <a:prstGeom prst="rect">
            <a:avLst/>
          </a:prstGeom>
          <a:noFill/>
          <a:ln>
            <a:noFill/>
          </a:ln>
        </p:spPr>
        <p:txBody>
          <a:bodyPr vertOverflow="overflow" vert="horz" wrap="square" rtlCol="0" anchor="t">
            <a:noAutofit/>
          </a:bodyPr>
          <a:lstStyle/>
          <a:p>
            <a:pPr algn="l"/>
            <a:r>
              <a:rPr lang="en-US" i="1">
                <a:solidFill>
                  <a:schemeClr val="tx1">
                    <a:lumMod val="65000"/>
                    <a:lumOff val="35000"/>
                  </a:schemeClr>
                </a:solidFill>
                <a:latin typeface="Futura"/>
                <a:cs typeface="Futura"/>
              </a:rPr>
              <a:t>A simplification of SPACE with DORA-style thinking underneath; tuned for coaching conversations.</a:t>
            </a:r>
          </a:p>
        </p:txBody>
      </p:sp>
      <p:sp>
        <p:nvSpPr>
          <p:cNvPr id="30" name="Rectangle 29">
            <a:extLst>
              <a:ext uri="{FF2B5EF4-FFF2-40B4-BE49-F238E27FC236}">
                <a16:creationId xmlns:a16="http://schemas.microsoft.com/office/drawing/2014/main" id="{2A4E6D39-95C3-8B43-A2E9-E9EFC2B774B1}"/>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96544986-FB0E-774B-AA41-EC19C9466A21}"/>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32" name="TextBox 31">
            <a:extLst>
              <a:ext uri="{FF2B5EF4-FFF2-40B4-BE49-F238E27FC236}">
                <a16:creationId xmlns:a16="http://schemas.microsoft.com/office/drawing/2014/main" id="{2DEBA752-ADF2-A84E-99C9-CE2B4F7C52D1}"/>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33" name="TextBox 32">
            <a:extLst>
              <a:ext uri="{FF2B5EF4-FFF2-40B4-BE49-F238E27FC236}">
                <a16:creationId xmlns:a16="http://schemas.microsoft.com/office/drawing/2014/main" id="{9A6DCCAF-B402-1C45-9BE8-F70645791A47}"/>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custDataLst>
      <p:tags r:id="rId1"/>
    </p:custDataLst>
    <p:extLst>
      <p:ext uri="{BB962C8B-B14F-4D97-AF65-F5344CB8AC3E}">
        <p14:creationId xmlns:p14="http://schemas.microsoft.com/office/powerpoint/2010/main" val="2345576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2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22" presetClass="entr" presetSubtype="1" fill="hold" grpId="0" nodeType="withEffect">
                                  <p:stCondLst>
                                    <p:cond delay="60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par>
                                <p:cTn id="26" presetID="10" presetClass="entr" presetSubtype="0" fill="hold" grpId="0" nodeType="withEffect">
                                  <p:stCondLst>
                                    <p:cond delay="9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200"/>
                                        <p:tgtEl>
                                          <p:spTgt spid="21"/>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up)">
                                      <p:cBhvr>
                                        <p:cTn id="36" dur="500"/>
                                        <p:tgtEl>
                                          <p:spTgt spid="22"/>
                                        </p:tgtEl>
                                      </p:cBhvr>
                                    </p:animEffect>
                                  </p:childTnLst>
                                </p:cTn>
                              </p:par>
                              <p:par>
                                <p:cTn id="37" presetID="10" presetClass="entr" presetSubtype="0" fill="hold" grpId="0" nodeType="withEffect">
                                  <p:stCondLst>
                                    <p:cond delay="20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3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grpId="0" nodeType="withEffect">
                                  <p:stCondLst>
                                    <p:cond delay="40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50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par>
                                <p:cTn id="49" presetID="22" presetClass="entr" presetSubtype="1" fill="hold" grpId="0" nodeType="withEffect">
                                  <p:stCondLst>
                                    <p:cond delay="600"/>
                                  </p:stCondLst>
                                  <p:childTnLst>
                                    <p:set>
                                      <p:cBhvr>
                                        <p:cTn id="50" dur="1" fill="hold">
                                          <p:stCondLst>
                                            <p:cond delay="0"/>
                                          </p:stCondLst>
                                        </p:cTn>
                                        <p:tgtEl>
                                          <p:spTgt spid="27"/>
                                        </p:tgtEl>
                                        <p:attrNameLst>
                                          <p:attrName>style.visibility</p:attrName>
                                        </p:attrNameLst>
                                      </p:cBhvr>
                                      <p:to>
                                        <p:strVal val="visible"/>
                                      </p:to>
                                    </p:set>
                                    <p:animEffect transition="in" filter="wipe(up)">
                                      <p:cBhvr>
                                        <p:cTn id="51" dur="500"/>
                                        <p:tgtEl>
                                          <p:spTgt spid="27"/>
                                        </p:tgtEl>
                                      </p:cBhvr>
                                    </p:animEffect>
                                  </p:childTnLst>
                                </p:cTn>
                              </p:par>
                              <p:par>
                                <p:cTn id="52" presetID="10" presetClass="entr" presetSubtype="0" fill="hold" grpId="0" nodeType="withEffect">
                                  <p:stCondLst>
                                    <p:cond delay="80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par>
                          <p:cTn id="55" fill="hold">
                            <p:stCondLst>
                              <p:cond delay="1300"/>
                            </p:stCondLst>
                            <p:childTnLst>
                              <p:par>
                                <p:cTn id="56" presetID="10" presetClass="entr" presetSubtype="0" fill="hold" grpId="0" nodeType="after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p:bldP spid="18" grpId="0" animBg="1"/>
      <p:bldP spid="19" grpId="0"/>
      <p:bldP spid="20" grpId="0"/>
      <p:bldP spid="21" grpId="0" animBg="1"/>
      <p:bldP spid="22" grpId="0" animBg="1"/>
      <p:bldP spid="23" grpId="0"/>
      <p:bldP spid="24" grpId="0"/>
      <p:bldP spid="25" grpId="0"/>
      <p:bldP spid="26" grpId="0" animBg="1"/>
      <p:bldP spid="27"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442D70-2B00-7A48-8AE3-6E14A6ADF1AD}"/>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THE FRAMEWORK</a:t>
            </a:r>
          </a:p>
        </p:txBody>
      </p:sp>
      <p:sp>
        <p:nvSpPr>
          <p:cNvPr id="3" name="TextBox 2">
            <a:extLst>
              <a:ext uri="{FF2B5EF4-FFF2-40B4-BE49-F238E27FC236}">
                <a16:creationId xmlns:a16="http://schemas.microsoft.com/office/drawing/2014/main" id="{E26F32CE-8A9C-0C49-92BA-B90525CD19E0}"/>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Outcomes vs. System Signals vs. Behaviors</a:t>
            </a:r>
          </a:p>
        </p:txBody>
      </p:sp>
      <p:sp>
        <p:nvSpPr>
          <p:cNvPr id="4" name="Rectangle 3">
            <a:extLst>
              <a:ext uri="{FF2B5EF4-FFF2-40B4-BE49-F238E27FC236}">
                <a16:creationId xmlns:a16="http://schemas.microsoft.com/office/drawing/2014/main" id="{5C8DF4FB-1590-D449-B888-4EC14546EF57}"/>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62356531-C198-AF46-86D1-235B7B63ABE8}"/>
              </a:ext>
            </a:extLst>
          </p:cNvPr>
          <p:cNvSpPr/>
          <p:nvPr/>
        </p:nvSpPr>
        <p:spPr>
          <a:xfrm>
            <a:off x="1016000" y="2286000"/>
            <a:ext cx="3302000" cy="3238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A3E772AE-F506-0446-A28B-280945A8C1B3}"/>
              </a:ext>
            </a:extLst>
          </p:cNvPr>
          <p:cNvSpPr/>
          <p:nvPr/>
        </p:nvSpPr>
        <p:spPr>
          <a:xfrm>
            <a:off x="1016000" y="2286000"/>
            <a:ext cx="330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ACF475DB-52EF-8941-AD0E-0E8765926422}"/>
              </a:ext>
            </a:extLst>
          </p:cNvPr>
          <p:cNvSpPr txBox="1"/>
          <p:nvPr/>
        </p:nvSpPr>
        <p:spPr>
          <a:xfrm>
            <a:off x="1320800" y="2590800"/>
            <a:ext cx="26924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LAGGING</a:t>
            </a:r>
          </a:p>
        </p:txBody>
      </p:sp>
      <p:sp>
        <p:nvSpPr>
          <p:cNvPr id="8" name="TextBox 7">
            <a:extLst>
              <a:ext uri="{FF2B5EF4-FFF2-40B4-BE49-F238E27FC236}">
                <a16:creationId xmlns:a16="http://schemas.microsoft.com/office/drawing/2014/main" id="{7D47CFDA-3CE0-494A-A5A4-83102D16A3E0}"/>
              </a:ext>
            </a:extLst>
          </p:cNvPr>
          <p:cNvSpPr txBox="1"/>
          <p:nvPr/>
        </p:nvSpPr>
        <p:spPr>
          <a:xfrm>
            <a:off x="1320800" y="2921000"/>
            <a:ext cx="2692400" cy="508000"/>
          </a:xfrm>
          <a:prstGeom prst="rect">
            <a:avLst/>
          </a:prstGeom>
          <a:noFill/>
          <a:ln>
            <a:noFill/>
          </a:ln>
        </p:spPr>
        <p:txBody>
          <a:bodyPr vertOverflow="overflow" vert="horz" wrap="square" rtlCol="0" anchor="t">
            <a:noAutofit/>
          </a:bodyPr>
          <a:lstStyle/>
          <a:p>
            <a:pPr algn="l"/>
            <a:r>
              <a:rPr lang="en-US" sz="2200" b="1">
                <a:solidFill>
                  <a:srgbClr val="102033"/>
                </a:solidFill>
                <a:latin typeface="Futura"/>
                <a:cs typeface="Futura"/>
              </a:rPr>
              <a:t>Outcomes</a:t>
            </a:r>
          </a:p>
        </p:txBody>
      </p:sp>
      <p:sp>
        <p:nvSpPr>
          <p:cNvPr id="9" name="TextBox 8">
            <a:extLst>
              <a:ext uri="{FF2B5EF4-FFF2-40B4-BE49-F238E27FC236}">
                <a16:creationId xmlns:a16="http://schemas.microsoft.com/office/drawing/2014/main" id="{C124FC56-F97E-BC4C-A586-BAD800938D19}"/>
              </a:ext>
            </a:extLst>
          </p:cNvPr>
          <p:cNvSpPr txBox="1"/>
          <p:nvPr/>
        </p:nvSpPr>
        <p:spPr>
          <a:xfrm>
            <a:off x="1320800" y="3683000"/>
            <a:ext cx="2692400" cy="1143000"/>
          </a:xfrm>
          <a:prstGeom prst="rect">
            <a:avLst/>
          </a:prstGeom>
          <a:noFill/>
          <a:ln>
            <a:noFill/>
          </a:ln>
        </p:spPr>
        <p:txBody>
          <a:bodyPr vertOverflow="overflow" vert="horz" wrap="square" rtlCol="0" anchor="t">
            <a:noAutofit/>
          </a:bodyPr>
          <a:lstStyle/>
          <a:p>
            <a:pPr algn="l"/>
            <a:r>
              <a:rPr lang="en-US" sz="1400">
                <a:solidFill>
                  <a:srgbClr val="4A5663"/>
                </a:solidFill>
                <a:latin typeface="Futura"/>
                <a:cs typeface="Futura"/>
              </a:rPr>
              <a:t>Did we ship? Did customers adopt it? Did revenue move?</a:t>
            </a:r>
          </a:p>
        </p:txBody>
      </p:sp>
      <p:sp>
        <p:nvSpPr>
          <p:cNvPr id="10" name="TextBox 9">
            <a:extLst>
              <a:ext uri="{FF2B5EF4-FFF2-40B4-BE49-F238E27FC236}">
                <a16:creationId xmlns:a16="http://schemas.microsoft.com/office/drawing/2014/main" id="{433DE116-1B43-3940-8CE7-21A7D74E1EA3}"/>
              </a:ext>
            </a:extLst>
          </p:cNvPr>
          <p:cNvSpPr txBox="1"/>
          <p:nvPr/>
        </p:nvSpPr>
        <p:spPr>
          <a:xfrm>
            <a:off x="1320800" y="5016500"/>
            <a:ext cx="2692400" cy="279400"/>
          </a:xfrm>
          <a:prstGeom prst="rect">
            <a:avLst/>
          </a:prstGeom>
          <a:noFill/>
          <a:ln>
            <a:noFill/>
          </a:ln>
        </p:spPr>
        <p:txBody>
          <a:bodyPr vertOverflow="overflow" vert="horz" wrap="square" rtlCol="0" anchor="t">
            <a:noAutofit/>
          </a:bodyPr>
          <a:lstStyle/>
          <a:p>
            <a:pPr algn="l"/>
            <a:r>
              <a:rPr lang="en-US" sz="1400" i="1">
                <a:solidFill>
                  <a:srgbClr val="102033"/>
                </a:solidFill>
                <a:latin typeface="Futura"/>
                <a:cs typeface="Futura"/>
              </a:rPr>
              <a:t>The rearview mirror.</a:t>
            </a:r>
          </a:p>
        </p:txBody>
      </p:sp>
      <p:sp>
        <p:nvSpPr>
          <p:cNvPr id="11" name="Rectangle 10">
            <a:extLst>
              <a:ext uri="{FF2B5EF4-FFF2-40B4-BE49-F238E27FC236}">
                <a16:creationId xmlns:a16="http://schemas.microsoft.com/office/drawing/2014/main" id="{9DB298CF-F773-A946-A35C-6BD1A4791BDE}"/>
              </a:ext>
            </a:extLst>
          </p:cNvPr>
          <p:cNvSpPr/>
          <p:nvPr/>
        </p:nvSpPr>
        <p:spPr>
          <a:xfrm>
            <a:off x="4572000" y="2286000"/>
            <a:ext cx="3302000" cy="3238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57602EAE-A2BA-FF43-B27E-FB4B3AD0741B}"/>
              </a:ext>
            </a:extLst>
          </p:cNvPr>
          <p:cNvSpPr/>
          <p:nvPr/>
        </p:nvSpPr>
        <p:spPr>
          <a:xfrm>
            <a:off x="4572000" y="2286000"/>
            <a:ext cx="330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6D8DDFF3-F09E-D240-ACE5-EA3869379593}"/>
              </a:ext>
            </a:extLst>
          </p:cNvPr>
          <p:cNvSpPr txBox="1"/>
          <p:nvPr/>
        </p:nvSpPr>
        <p:spPr>
          <a:xfrm>
            <a:off x="4876800" y="2590800"/>
            <a:ext cx="2692400" cy="228600"/>
          </a:xfrm>
          <a:prstGeom prst="rect">
            <a:avLst/>
          </a:prstGeom>
          <a:noFill/>
          <a:ln>
            <a:noFill/>
          </a:ln>
        </p:spPr>
        <p:txBody>
          <a:bodyPr vertOverflow="overflow" vert="horz" wrap="square" rtlCol="0" anchor="t">
            <a:noAutofit/>
          </a:bodyPr>
          <a:lstStyle/>
          <a:p>
            <a:pPr algn="l"/>
            <a:r>
              <a:rPr lang="en-US" sz="1000" b="1" dirty="0">
                <a:solidFill>
                  <a:srgbClr val="102033"/>
                </a:solidFill>
                <a:latin typeface="Futura"/>
                <a:cs typeface="Futura"/>
              </a:rPr>
              <a:t>LEADING</a:t>
            </a:r>
          </a:p>
        </p:txBody>
      </p:sp>
      <p:sp>
        <p:nvSpPr>
          <p:cNvPr id="14" name="TextBox 13">
            <a:extLst>
              <a:ext uri="{FF2B5EF4-FFF2-40B4-BE49-F238E27FC236}">
                <a16:creationId xmlns:a16="http://schemas.microsoft.com/office/drawing/2014/main" id="{75F6AB2F-3A53-184F-A2BC-88410495CB1F}"/>
              </a:ext>
            </a:extLst>
          </p:cNvPr>
          <p:cNvSpPr txBox="1"/>
          <p:nvPr/>
        </p:nvSpPr>
        <p:spPr>
          <a:xfrm>
            <a:off x="4876800" y="2921000"/>
            <a:ext cx="2692400" cy="508000"/>
          </a:xfrm>
          <a:prstGeom prst="rect">
            <a:avLst/>
          </a:prstGeom>
          <a:noFill/>
          <a:ln>
            <a:noFill/>
          </a:ln>
        </p:spPr>
        <p:txBody>
          <a:bodyPr vertOverflow="overflow" vert="horz" wrap="square" rtlCol="0" anchor="t">
            <a:noAutofit/>
          </a:bodyPr>
          <a:lstStyle/>
          <a:p>
            <a:pPr algn="l"/>
            <a:r>
              <a:rPr lang="en-US" sz="2200" b="1" dirty="0">
                <a:solidFill>
                  <a:srgbClr val="102033"/>
                </a:solidFill>
                <a:latin typeface="Futura"/>
                <a:cs typeface="Futura"/>
              </a:rPr>
              <a:t>System Signals</a:t>
            </a:r>
          </a:p>
        </p:txBody>
      </p:sp>
      <p:sp>
        <p:nvSpPr>
          <p:cNvPr id="15" name="TextBox 14">
            <a:extLst>
              <a:ext uri="{FF2B5EF4-FFF2-40B4-BE49-F238E27FC236}">
                <a16:creationId xmlns:a16="http://schemas.microsoft.com/office/drawing/2014/main" id="{8DE8305B-D15F-7C4A-AC59-8E2EDC3ED330}"/>
              </a:ext>
            </a:extLst>
          </p:cNvPr>
          <p:cNvSpPr txBox="1"/>
          <p:nvPr/>
        </p:nvSpPr>
        <p:spPr>
          <a:xfrm>
            <a:off x="4876800" y="3683000"/>
            <a:ext cx="2692400" cy="1143000"/>
          </a:xfrm>
          <a:prstGeom prst="rect">
            <a:avLst/>
          </a:prstGeom>
          <a:noFill/>
          <a:ln>
            <a:noFill/>
          </a:ln>
        </p:spPr>
        <p:txBody>
          <a:bodyPr vertOverflow="overflow" vert="horz" wrap="square" rtlCol="0" anchor="t">
            <a:noAutofit/>
          </a:bodyPr>
          <a:lstStyle/>
          <a:p>
            <a:pPr algn="l"/>
            <a:r>
              <a:rPr lang="en-US" sz="1400" dirty="0">
                <a:solidFill>
                  <a:srgbClr val="4A5663"/>
                </a:solidFill>
                <a:latin typeface="Futura"/>
                <a:cs typeface="Futura"/>
              </a:rPr>
              <a:t>Velocity trends, hours-per-point, time-to-merge, review rounds.</a:t>
            </a:r>
          </a:p>
        </p:txBody>
      </p:sp>
      <p:sp>
        <p:nvSpPr>
          <p:cNvPr id="16" name="TextBox 15">
            <a:extLst>
              <a:ext uri="{FF2B5EF4-FFF2-40B4-BE49-F238E27FC236}">
                <a16:creationId xmlns:a16="http://schemas.microsoft.com/office/drawing/2014/main" id="{8436CB58-C665-3B41-9459-BB9F023030EB}"/>
              </a:ext>
            </a:extLst>
          </p:cNvPr>
          <p:cNvSpPr txBox="1"/>
          <p:nvPr/>
        </p:nvSpPr>
        <p:spPr>
          <a:xfrm>
            <a:off x="4876800" y="5016500"/>
            <a:ext cx="2692400" cy="279400"/>
          </a:xfrm>
          <a:prstGeom prst="rect">
            <a:avLst/>
          </a:prstGeom>
          <a:noFill/>
          <a:ln>
            <a:noFill/>
          </a:ln>
        </p:spPr>
        <p:txBody>
          <a:bodyPr vertOverflow="overflow" vert="horz" wrap="square" rtlCol="0" anchor="t">
            <a:noAutofit/>
          </a:bodyPr>
          <a:lstStyle/>
          <a:p>
            <a:pPr algn="l"/>
            <a:r>
              <a:rPr lang="en-US" sz="1400" i="1" dirty="0">
                <a:solidFill>
                  <a:srgbClr val="102033"/>
                </a:solidFill>
                <a:latin typeface="Futura"/>
                <a:cs typeface="Futura"/>
              </a:rPr>
              <a:t>The dashboard gauges.</a:t>
            </a:r>
          </a:p>
        </p:txBody>
      </p:sp>
      <p:sp>
        <p:nvSpPr>
          <p:cNvPr id="17" name="Rectangle 16">
            <a:extLst>
              <a:ext uri="{FF2B5EF4-FFF2-40B4-BE49-F238E27FC236}">
                <a16:creationId xmlns:a16="http://schemas.microsoft.com/office/drawing/2014/main" id="{24621223-8523-A444-B4D0-C9B956070B11}"/>
              </a:ext>
            </a:extLst>
          </p:cNvPr>
          <p:cNvSpPr/>
          <p:nvPr/>
        </p:nvSpPr>
        <p:spPr>
          <a:xfrm>
            <a:off x="8128000" y="2286000"/>
            <a:ext cx="3302000" cy="3238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FF770254-DA69-3340-B09F-94F1B7297697}"/>
              </a:ext>
            </a:extLst>
          </p:cNvPr>
          <p:cNvSpPr/>
          <p:nvPr/>
        </p:nvSpPr>
        <p:spPr>
          <a:xfrm>
            <a:off x="8128000" y="2286000"/>
            <a:ext cx="330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E5B07616-979D-EB42-91A4-F5409BBC0C14}"/>
              </a:ext>
            </a:extLst>
          </p:cNvPr>
          <p:cNvSpPr txBox="1"/>
          <p:nvPr/>
        </p:nvSpPr>
        <p:spPr>
          <a:xfrm>
            <a:off x="8432800" y="2590800"/>
            <a:ext cx="2692400" cy="228600"/>
          </a:xfrm>
          <a:prstGeom prst="rect">
            <a:avLst/>
          </a:prstGeom>
          <a:noFill/>
          <a:ln>
            <a:noFill/>
          </a:ln>
        </p:spPr>
        <p:txBody>
          <a:bodyPr vertOverflow="overflow" vert="horz" wrap="square" rtlCol="0" anchor="t">
            <a:noAutofit/>
          </a:bodyPr>
          <a:lstStyle/>
          <a:p>
            <a:pPr algn="l"/>
            <a:r>
              <a:rPr lang="en-US" sz="1000" b="1" dirty="0">
                <a:solidFill>
                  <a:srgbClr val="102033"/>
                </a:solidFill>
                <a:latin typeface="Futura"/>
                <a:cs typeface="Futura"/>
              </a:rPr>
              <a:t>QUALITATIVE</a:t>
            </a:r>
          </a:p>
        </p:txBody>
      </p:sp>
      <p:sp>
        <p:nvSpPr>
          <p:cNvPr id="20" name="TextBox 19">
            <a:extLst>
              <a:ext uri="{FF2B5EF4-FFF2-40B4-BE49-F238E27FC236}">
                <a16:creationId xmlns:a16="http://schemas.microsoft.com/office/drawing/2014/main" id="{16A5CFA6-83C7-1048-8DCF-FD25C59DF5D5}"/>
              </a:ext>
            </a:extLst>
          </p:cNvPr>
          <p:cNvSpPr txBox="1"/>
          <p:nvPr/>
        </p:nvSpPr>
        <p:spPr>
          <a:xfrm>
            <a:off x="8432800" y="2921000"/>
            <a:ext cx="2692400" cy="508000"/>
          </a:xfrm>
          <a:prstGeom prst="rect">
            <a:avLst/>
          </a:prstGeom>
          <a:noFill/>
          <a:ln>
            <a:noFill/>
          </a:ln>
        </p:spPr>
        <p:txBody>
          <a:bodyPr vertOverflow="overflow" vert="horz" wrap="square" rtlCol="0" anchor="t">
            <a:noAutofit/>
          </a:bodyPr>
          <a:lstStyle/>
          <a:p>
            <a:pPr algn="l"/>
            <a:r>
              <a:rPr lang="en-US" sz="2200" b="1" dirty="0">
                <a:solidFill>
                  <a:srgbClr val="102033"/>
                </a:solidFill>
                <a:latin typeface="Futura"/>
                <a:cs typeface="Futura"/>
              </a:rPr>
              <a:t>Behaviors</a:t>
            </a:r>
          </a:p>
        </p:txBody>
      </p:sp>
      <p:sp>
        <p:nvSpPr>
          <p:cNvPr id="21" name="TextBox 20">
            <a:extLst>
              <a:ext uri="{FF2B5EF4-FFF2-40B4-BE49-F238E27FC236}">
                <a16:creationId xmlns:a16="http://schemas.microsoft.com/office/drawing/2014/main" id="{B44D1AA0-F8B3-0846-8111-C8954279C6A5}"/>
              </a:ext>
            </a:extLst>
          </p:cNvPr>
          <p:cNvSpPr txBox="1"/>
          <p:nvPr/>
        </p:nvSpPr>
        <p:spPr>
          <a:xfrm>
            <a:off x="8432800" y="3683000"/>
            <a:ext cx="2692400" cy="1143000"/>
          </a:xfrm>
          <a:prstGeom prst="rect">
            <a:avLst/>
          </a:prstGeom>
          <a:noFill/>
          <a:ln>
            <a:noFill/>
          </a:ln>
        </p:spPr>
        <p:txBody>
          <a:bodyPr vertOverflow="overflow" vert="horz" wrap="square" rtlCol="0" anchor="t">
            <a:noAutofit/>
          </a:bodyPr>
          <a:lstStyle/>
          <a:p>
            <a:pPr algn="l"/>
            <a:r>
              <a:rPr lang="en-US" sz="1400" dirty="0">
                <a:solidFill>
                  <a:srgbClr val="4A5663"/>
                </a:solidFill>
                <a:latin typeface="Futura"/>
                <a:cs typeface="Futura"/>
              </a:rPr>
              <a:t>Code review depth, testing habits, collaboration patterns.</a:t>
            </a:r>
          </a:p>
        </p:txBody>
      </p:sp>
      <p:sp>
        <p:nvSpPr>
          <p:cNvPr id="22" name="TextBox 21">
            <a:extLst>
              <a:ext uri="{FF2B5EF4-FFF2-40B4-BE49-F238E27FC236}">
                <a16:creationId xmlns:a16="http://schemas.microsoft.com/office/drawing/2014/main" id="{2B308164-B248-BC4C-93EF-8FA07248145F}"/>
              </a:ext>
            </a:extLst>
          </p:cNvPr>
          <p:cNvSpPr txBox="1"/>
          <p:nvPr/>
        </p:nvSpPr>
        <p:spPr>
          <a:xfrm>
            <a:off x="8432800" y="5016500"/>
            <a:ext cx="2692400" cy="279400"/>
          </a:xfrm>
          <a:prstGeom prst="rect">
            <a:avLst/>
          </a:prstGeom>
          <a:noFill/>
          <a:ln>
            <a:noFill/>
          </a:ln>
        </p:spPr>
        <p:txBody>
          <a:bodyPr vertOverflow="overflow" vert="horz" wrap="square" rtlCol="0" anchor="t">
            <a:noAutofit/>
          </a:bodyPr>
          <a:lstStyle/>
          <a:p>
            <a:pPr algn="l"/>
            <a:r>
              <a:rPr lang="en-US" sz="1400" i="1" dirty="0">
                <a:solidFill>
                  <a:srgbClr val="102033"/>
                </a:solidFill>
                <a:latin typeface="Futura"/>
                <a:cs typeface="Futura"/>
              </a:rPr>
              <a:t>The engine light.</a:t>
            </a:r>
          </a:p>
        </p:txBody>
      </p:sp>
      <p:sp>
        <p:nvSpPr>
          <p:cNvPr id="23" name="TextBox 22">
            <a:extLst>
              <a:ext uri="{FF2B5EF4-FFF2-40B4-BE49-F238E27FC236}">
                <a16:creationId xmlns:a16="http://schemas.microsoft.com/office/drawing/2014/main" id="{5AFE9DF3-A54B-074E-92E6-26656FB92333}"/>
              </a:ext>
            </a:extLst>
          </p:cNvPr>
          <p:cNvSpPr txBox="1"/>
          <p:nvPr/>
        </p:nvSpPr>
        <p:spPr>
          <a:xfrm>
            <a:off x="1016000" y="6019800"/>
            <a:ext cx="10414000" cy="279400"/>
          </a:xfrm>
          <a:prstGeom prst="rect">
            <a:avLst/>
          </a:prstGeom>
          <a:noFill/>
          <a:ln>
            <a:noFill/>
          </a:ln>
        </p:spPr>
        <p:txBody>
          <a:bodyPr vertOverflow="overflow" vert="horz" wrap="square" rtlCol="0" anchor="t">
            <a:noAutofit/>
          </a:bodyPr>
          <a:lstStyle/>
          <a:p>
            <a:pPr algn="l"/>
            <a:r>
              <a:rPr lang="en-US" sz="1500" i="1" dirty="0">
                <a:solidFill>
                  <a:schemeClr val="tx1">
                    <a:lumMod val="65000"/>
                    <a:lumOff val="35000"/>
                  </a:schemeClr>
                </a:solidFill>
                <a:latin typeface="Futura"/>
                <a:cs typeface="Futura"/>
              </a:rPr>
              <a:t>Most orgs only measure outcomes, then wonder why they can't course-correct.</a:t>
            </a:r>
          </a:p>
        </p:txBody>
      </p:sp>
      <p:sp>
        <p:nvSpPr>
          <p:cNvPr id="24" name="Rectangle 23">
            <a:extLst>
              <a:ext uri="{FF2B5EF4-FFF2-40B4-BE49-F238E27FC236}">
                <a16:creationId xmlns:a16="http://schemas.microsoft.com/office/drawing/2014/main" id="{0370D05D-A950-4046-BF91-A7941A1C4242}"/>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FDCA5B54-1392-DF40-A132-BE04DCAB60EF}"/>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26" name="TextBox 25">
            <a:extLst>
              <a:ext uri="{FF2B5EF4-FFF2-40B4-BE49-F238E27FC236}">
                <a16:creationId xmlns:a16="http://schemas.microsoft.com/office/drawing/2014/main" id="{10D18438-BE5F-5C4C-84EA-59D7B61873AF}"/>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7" name="TextBox 26">
            <a:extLst>
              <a:ext uri="{FF2B5EF4-FFF2-40B4-BE49-F238E27FC236}">
                <a16:creationId xmlns:a16="http://schemas.microsoft.com/office/drawing/2014/main" id="{06ED84AA-C28D-704E-9F9B-C174516F4549}"/>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spTree>
    <p:custDataLst>
      <p:tags r:id="rId1"/>
    </p:custDataLst>
    <p:extLst>
      <p:ext uri="{BB962C8B-B14F-4D97-AF65-F5344CB8AC3E}">
        <p14:creationId xmlns:p14="http://schemas.microsoft.com/office/powerpoint/2010/main" val="2108387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200"/>
                                        <p:tgtEl>
                                          <p:spTgt spid="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6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up)">
                                      <p:cBhvr>
                                        <p:cTn id="30" dur="500"/>
                                        <p:tgtEl>
                                          <p:spTgt spid="17"/>
                                        </p:tgtEl>
                                      </p:cBhvr>
                                    </p:animEffect>
                                  </p:childTnLst>
                                </p:cTn>
                              </p:par>
                              <p:par>
                                <p:cTn id="31" presetID="10" presetClass="entr" presetSubtype="0" fill="hold" grpId="0" nodeType="withEffect">
                                  <p:stCondLst>
                                    <p:cond delay="20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grpId="0" nodeType="withEffect">
                                  <p:stCondLst>
                                    <p:cond delay="30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nodeType="withEffect">
                                  <p:stCondLst>
                                    <p:cond delay="400"/>
                                  </p:stCondLst>
                                  <p:childTnLst>
                                    <p:set>
                                      <p:cBhvr>
                                        <p:cTn id="38" dur="1" fill="hold">
                                          <p:stCondLst>
                                            <p:cond delay="0"/>
                                          </p:stCondLst>
                                        </p:cTn>
                                        <p:tgtEl>
                                          <p:spTgt spid="21">
                                            <p:txEl>
                                              <p:pRg st="0" end="0"/>
                                            </p:txEl>
                                          </p:spTgt>
                                        </p:tgtEl>
                                        <p:attrNameLst>
                                          <p:attrName>style.visibility</p:attrName>
                                        </p:attrNameLst>
                                      </p:cBhvr>
                                      <p:to>
                                        <p:strVal val="visible"/>
                                      </p:to>
                                    </p:set>
                                    <p:animEffect transition="in" filter="fade">
                                      <p:cBhvr>
                                        <p:cTn id="39" dur="500"/>
                                        <p:tgtEl>
                                          <p:spTgt spid="21">
                                            <p:txEl>
                                              <p:pRg st="0" end="0"/>
                                            </p:txEl>
                                          </p:spTgt>
                                        </p:tgtEl>
                                      </p:cBhvr>
                                    </p:animEffect>
                                  </p:childTnLst>
                                </p:cTn>
                              </p:par>
                              <p:par>
                                <p:cTn id="40" presetID="10" presetClass="entr" presetSubtype="0" fill="hold" grpId="0" nodeType="withEffect">
                                  <p:stCondLst>
                                    <p:cond delay="6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par>
                          <p:cTn id="43" fill="hold">
                            <p:stCondLst>
                              <p:cond delay="1100"/>
                            </p:stCondLst>
                            <p:childTnLst>
                              <p:par>
                                <p:cTn id="44" presetID="10" presetClass="entr" presetSubtype="0"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4" grpId="0"/>
      <p:bldP spid="15" grpId="0"/>
      <p:bldP spid="16" grpId="0"/>
      <p:bldP spid="17" grpId="0" animBg="1"/>
      <p:bldP spid="18" grpId="0" animBg="1"/>
      <p:bldP spid="19" grpId="0"/>
      <p:bldP spid="20"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B1C6CF-A962-7045-9C93-0CECA3D3A74C}"/>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THE DASHBOARD BLUEPRINT</a:t>
            </a:r>
          </a:p>
        </p:txBody>
      </p:sp>
      <p:sp>
        <p:nvSpPr>
          <p:cNvPr id="3" name="TextBox 2">
            <a:extLst>
              <a:ext uri="{FF2B5EF4-FFF2-40B4-BE49-F238E27FC236}">
                <a16:creationId xmlns:a16="http://schemas.microsoft.com/office/drawing/2014/main" id="{DF78361A-8191-6C4D-A85D-A019497A4064}"/>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What we built</a:t>
            </a:r>
          </a:p>
        </p:txBody>
      </p:sp>
      <p:sp>
        <p:nvSpPr>
          <p:cNvPr id="4" name="Rectangle 3">
            <a:extLst>
              <a:ext uri="{FF2B5EF4-FFF2-40B4-BE49-F238E27FC236}">
                <a16:creationId xmlns:a16="http://schemas.microsoft.com/office/drawing/2014/main" id="{784D7C66-1D5A-A94C-A05D-8AA6CA468C77}"/>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E1B910C5-10CB-8045-9A08-3D70E74C5B87}"/>
              </a:ext>
            </a:extLst>
          </p:cNvPr>
          <p:cNvSpPr txBox="1"/>
          <p:nvPr/>
        </p:nvSpPr>
        <p:spPr>
          <a:xfrm>
            <a:off x="1016000" y="1841500"/>
            <a:ext cx="10414000" cy="279400"/>
          </a:xfrm>
          <a:prstGeom prst="rect">
            <a:avLst/>
          </a:prstGeom>
          <a:noFill/>
          <a:ln>
            <a:noFill/>
          </a:ln>
        </p:spPr>
        <p:txBody>
          <a:bodyPr vertOverflow="overflow" vert="horz" wrap="square" rtlCol="0" anchor="t">
            <a:noAutofit/>
          </a:bodyPr>
          <a:lstStyle/>
          <a:p>
            <a:pPr algn="l"/>
            <a:r>
              <a:rPr lang="en-US" sz="1500" i="1">
                <a:solidFill>
                  <a:srgbClr val="6C757D"/>
                </a:solidFill>
                <a:latin typeface="Futura"/>
                <a:cs typeface="Futura"/>
              </a:rPr>
              <a:t>Web Application, DB, Background Jobs, Charting, AI</a:t>
            </a:r>
          </a:p>
        </p:txBody>
      </p:sp>
      <p:sp>
        <p:nvSpPr>
          <p:cNvPr id="6" name="Rectangle 5">
            <a:extLst>
              <a:ext uri="{FF2B5EF4-FFF2-40B4-BE49-F238E27FC236}">
                <a16:creationId xmlns:a16="http://schemas.microsoft.com/office/drawing/2014/main" id="{416259F1-84DA-B44A-9F03-AA10B522DBB6}"/>
              </a:ext>
            </a:extLst>
          </p:cNvPr>
          <p:cNvSpPr/>
          <p:nvPr/>
        </p:nvSpPr>
        <p:spPr>
          <a:xfrm>
            <a:off x="1143000" y="2730500"/>
            <a:ext cx="2540000" cy="1524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C070A89E-8D4F-C04C-9449-A7CA58F3D7E3}"/>
              </a:ext>
            </a:extLst>
          </p:cNvPr>
          <p:cNvSpPr/>
          <p:nvPr/>
        </p:nvSpPr>
        <p:spPr>
          <a:xfrm>
            <a:off x="1143000" y="2730500"/>
            <a:ext cx="2540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E170C288-9AB0-174D-80F4-E53C965F1918}"/>
              </a:ext>
            </a:extLst>
          </p:cNvPr>
          <p:cNvSpPr txBox="1"/>
          <p:nvPr/>
        </p:nvSpPr>
        <p:spPr>
          <a:xfrm>
            <a:off x="1397000" y="2984500"/>
            <a:ext cx="2032000" cy="203200"/>
          </a:xfrm>
          <a:prstGeom prst="rect">
            <a:avLst/>
          </a:prstGeom>
          <a:noFill/>
          <a:ln>
            <a:noFill/>
          </a:ln>
        </p:spPr>
        <p:txBody>
          <a:bodyPr vertOverflow="overflow" vert="horz" wrap="square" rtlCol="0" anchor="t">
            <a:noAutofit/>
          </a:bodyPr>
          <a:lstStyle/>
          <a:p>
            <a:pPr algn="l"/>
            <a:r>
              <a:rPr lang="en-US" sz="1000" b="1">
                <a:solidFill>
                  <a:srgbClr val="6C757D"/>
                </a:solidFill>
                <a:latin typeface="Futura"/>
                <a:cs typeface="Futura"/>
              </a:rPr>
              <a:t>INPUT</a:t>
            </a:r>
          </a:p>
        </p:txBody>
      </p:sp>
      <p:sp>
        <p:nvSpPr>
          <p:cNvPr id="9" name="TextBox 8">
            <a:extLst>
              <a:ext uri="{FF2B5EF4-FFF2-40B4-BE49-F238E27FC236}">
                <a16:creationId xmlns:a16="http://schemas.microsoft.com/office/drawing/2014/main" id="{B8FFED29-037F-884F-9D1F-8D0C4359A459}"/>
              </a:ext>
            </a:extLst>
          </p:cNvPr>
          <p:cNvSpPr txBox="1"/>
          <p:nvPr/>
        </p:nvSpPr>
        <p:spPr>
          <a:xfrm>
            <a:off x="1397000" y="3289300"/>
            <a:ext cx="2032000" cy="406400"/>
          </a:xfrm>
          <a:prstGeom prst="rect">
            <a:avLst/>
          </a:prstGeom>
          <a:noFill/>
          <a:ln>
            <a:noFill/>
          </a:ln>
        </p:spPr>
        <p:txBody>
          <a:bodyPr vertOverflow="overflow" vert="horz" wrap="square" rtlCol="0" anchor="t">
            <a:noAutofit/>
          </a:bodyPr>
          <a:lstStyle/>
          <a:p>
            <a:pPr algn="l"/>
            <a:r>
              <a:rPr lang="en-US" sz="1700" b="1">
                <a:solidFill>
                  <a:srgbClr val="102033"/>
                </a:solidFill>
                <a:latin typeface="Futura"/>
                <a:cs typeface="Futura"/>
              </a:rPr>
              <a:t>GitHub + Linear</a:t>
            </a:r>
          </a:p>
        </p:txBody>
      </p:sp>
      <p:sp>
        <p:nvSpPr>
          <p:cNvPr id="10" name="TextBox 9">
            <a:extLst>
              <a:ext uri="{FF2B5EF4-FFF2-40B4-BE49-F238E27FC236}">
                <a16:creationId xmlns:a16="http://schemas.microsoft.com/office/drawing/2014/main" id="{53CB664E-2CF8-B54C-851A-4936ACB56D53}"/>
              </a:ext>
            </a:extLst>
          </p:cNvPr>
          <p:cNvSpPr txBox="1"/>
          <p:nvPr/>
        </p:nvSpPr>
        <p:spPr>
          <a:xfrm>
            <a:off x="1397000" y="3771900"/>
            <a:ext cx="2032000" cy="381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PR events, reviews, stories, cycles</a:t>
            </a:r>
          </a:p>
        </p:txBody>
      </p:sp>
      <p:sp>
        <p:nvSpPr>
          <p:cNvPr id="11" name="Rectangle 10">
            <a:extLst>
              <a:ext uri="{FF2B5EF4-FFF2-40B4-BE49-F238E27FC236}">
                <a16:creationId xmlns:a16="http://schemas.microsoft.com/office/drawing/2014/main" id="{DCD75DE0-CBA8-704A-8740-963BDD12D66D}"/>
              </a:ext>
            </a:extLst>
          </p:cNvPr>
          <p:cNvSpPr/>
          <p:nvPr/>
        </p:nvSpPr>
        <p:spPr>
          <a:xfrm>
            <a:off x="4699000" y="2730500"/>
            <a:ext cx="2540000" cy="1524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03ABF273-8363-2646-8DD7-433301FF1368}"/>
              </a:ext>
            </a:extLst>
          </p:cNvPr>
          <p:cNvSpPr/>
          <p:nvPr/>
        </p:nvSpPr>
        <p:spPr>
          <a:xfrm>
            <a:off x="4699000" y="2730500"/>
            <a:ext cx="2540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15189822-5874-AD48-A3CB-CE354909D5B3}"/>
              </a:ext>
            </a:extLst>
          </p:cNvPr>
          <p:cNvSpPr txBox="1"/>
          <p:nvPr/>
        </p:nvSpPr>
        <p:spPr>
          <a:xfrm>
            <a:off x="4953000" y="2984500"/>
            <a:ext cx="2032000" cy="203200"/>
          </a:xfrm>
          <a:prstGeom prst="rect">
            <a:avLst/>
          </a:prstGeom>
          <a:noFill/>
          <a:ln>
            <a:noFill/>
          </a:ln>
        </p:spPr>
        <p:txBody>
          <a:bodyPr vertOverflow="overflow" vert="horz" wrap="square" rtlCol="0" anchor="t">
            <a:noAutofit/>
          </a:bodyPr>
          <a:lstStyle/>
          <a:p>
            <a:pPr algn="l"/>
            <a:r>
              <a:rPr lang="en-US" sz="1000" b="1" dirty="0">
                <a:solidFill>
                  <a:srgbClr val="6C757D"/>
                </a:solidFill>
                <a:latin typeface="Futura"/>
                <a:cs typeface="Futura"/>
              </a:rPr>
              <a:t>ENGINE</a:t>
            </a:r>
          </a:p>
        </p:txBody>
      </p:sp>
      <p:sp>
        <p:nvSpPr>
          <p:cNvPr id="14" name="TextBox 13">
            <a:extLst>
              <a:ext uri="{FF2B5EF4-FFF2-40B4-BE49-F238E27FC236}">
                <a16:creationId xmlns:a16="http://schemas.microsoft.com/office/drawing/2014/main" id="{5B90C1D4-C4E1-5644-8AE9-1103DC8283F4}"/>
              </a:ext>
            </a:extLst>
          </p:cNvPr>
          <p:cNvSpPr txBox="1"/>
          <p:nvPr/>
        </p:nvSpPr>
        <p:spPr>
          <a:xfrm>
            <a:off x="4953000" y="3289300"/>
            <a:ext cx="2032000" cy="406400"/>
          </a:xfrm>
          <a:prstGeom prst="rect">
            <a:avLst/>
          </a:prstGeom>
          <a:noFill/>
          <a:ln>
            <a:noFill/>
          </a:ln>
        </p:spPr>
        <p:txBody>
          <a:bodyPr vertOverflow="overflow" vert="horz" wrap="square" rtlCol="0" anchor="t">
            <a:noAutofit/>
          </a:bodyPr>
          <a:lstStyle/>
          <a:p>
            <a:pPr algn="l"/>
            <a:r>
              <a:rPr lang="en-US" sz="1700" b="1" dirty="0" err="1">
                <a:solidFill>
                  <a:srgbClr val="102033"/>
                </a:solidFill>
                <a:latin typeface="Futura"/>
                <a:cs typeface="Futura"/>
              </a:rPr>
              <a:t>Kollator</a:t>
            </a:r>
            <a:endParaRPr lang="en-US" sz="1700" b="1" dirty="0">
              <a:solidFill>
                <a:srgbClr val="102033"/>
              </a:solidFill>
              <a:latin typeface="Futura"/>
              <a:cs typeface="Futura"/>
            </a:endParaRPr>
          </a:p>
        </p:txBody>
      </p:sp>
      <p:sp>
        <p:nvSpPr>
          <p:cNvPr id="15" name="TextBox 14">
            <a:extLst>
              <a:ext uri="{FF2B5EF4-FFF2-40B4-BE49-F238E27FC236}">
                <a16:creationId xmlns:a16="http://schemas.microsoft.com/office/drawing/2014/main" id="{BA163A32-EE22-EA45-9BE9-7E86EAC4C503}"/>
              </a:ext>
            </a:extLst>
          </p:cNvPr>
          <p:cNvSpPr txBox="1"/>
          <p:nvPr/>
        </p:nvSpPr>
        <p:spPr>
          <a:xfrm>
            <a:off x="4953000" y="3771900"/>
            <a:ext cx="2032000" cy="381000"/>
          </a:xfrm>
          <a:prstGeom prst="rect">
            <a:avLst/>
          </a:prstGeom>
          <a:noFill/>
          <a:ln>
            <a:noFill/>
          </a:ln>
        </p:spPr>
        <p:txBody>
          <a:bodyPr vertOverflow="overflow" vert="horz" wrap="square" rtlCol="0" anchor="t">
            <a:noAutofit/>
          </a:bodyPr>
          <a:lstStyle/>
          <a:p>
            <a:pPr algn="l"/>
            <a:r>
              <a:rPr lang="en-US" sz="1100" dirty="0">
                <a:solidFill>
                  <a:srgbClr val="4A5663"/>
                </a:solidFill>
                <a:latin typeface="Futura"/>
                <a:cs typeface="Futura"/>
              </a:rPr>
              <a:t>Rails · Postgres · </a:t>
            </a:r>
            <a:r>
              <a:rPr lang="en-US" sz="1100" dirty="0" err="1">
                <a:solidFill>
                  <a:srgbClr val="4A5663"/>
                </a:solidFill>
                <a:latin typeface="Futura"/>
                <a:cs typeface="Futura"/>
              </a:rPr>
              <a:t>Sidekiq</a:t>
            </a:r>
            <a:r>
              <a:rPr lang="en-US" sz="1100" dirty="0">
                <a:solidFill>
                  <a:srgbClr val="4A5663"/>
                </a:solidFill>
                <a:latin typeface="Futura"/>
                <a:cs typeface="Futura"/>
              </a:rPr>
              <a:t> · Claude</a:t>
            </a:r>
          </a:p>
        </p:txBody>
      </p:sp>
      <p:sp>
        <p:nvSpPr>
          <p:cNvPr id="16" name="Rectangle 15">
            <a:extLst>
              <a:ext uri="{FF2B5EF4-FFF2-40B4-BE49-F238E27FC236}">
                <a16:creationId xmlns:a16="http://schemas.microsoft.com/office/drawing/2014/main" id="{524ED6EA-F0C8-3F44-B465-70FCA372D413}"/>
              </a:ext>
            </a:extLst>
          </p:cNvPr>
          <p:cNvSpPr/>
          <p:nvPr/>
        </p:nvSpPr>
        <p:spPr>
          <a:xfrm>
            <a:off x="8255000" y="2730500"/>
            <a:ext cx="2540000" cy="1524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DAD78B78-267F-4742-9A74-8E2403D6B874}"/>
              </a:ext>
            </a:extLst>
          </p:cNvPr>
          <p:cNvSpPr/>
          <p:nvPr/>
        </p:nvSpPr>
        <p:spPr>
          <a:xfrm>
            <a:off x="8255000" y="2730500"/>
            <a:ext cx="2540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7FEDF777-E150-3E47-9E42-51A806719643}"/>
              </a:ext>
            </a:extLst>
          </p:cNvPr>
          <p:cNvSpPr txBox="1"/>
          <p:nvPr/>
        </p:nvSpPr>
        <p:spPr>
          <a:xfrm>
            <a:off x="8509000" y="2984500"/>
            <a:ext cx="2032000" cy="203200"/>
          </a:xfrm>
          <a:prstGeom prst="rect">
            <a:avLst/>
          </a:prstGeom>
          <a:noFill/>
          <a:ln>
            <a:noFill/>
          </a:ln>
        </p:spPr>
        <p:txBody>
          <a:bodyPr vertOverflow="overflow" vert="horz" wrap="square" rtlCol="0" anchor="t">
            <a:noAutofit/>
          </a:bodyPr>
          <a:lstStyle/>
          <a:p>
            <a:pPr algn="l"/>
            <a:r>
              <a:rPr lang="en-US" sz="1000" b="1" dirty="0">
                <a:solidFill>
                  <a:srgbClr val="6C757D"/>
                </a:solidFill>
                <a:latin typeface="Futura"/>
                <a:cs typeface="Futura"/>
              </a:rPr>
              <a:t>OUTPUT</a:t>
            </a:r>
          </a:p>
        </p:txBody>
      </p:sp>
      <p:sp>
        <p:nvSpPr>
          <p:cNvPr id="19" name="TextBox 18">
            <a:extLst>
              <a:ext uri="{FF2B5EF4-FFF2-40B4-BE49-F238E27FC236}">
                <a16:creationId xmlns:a16="http://schemas.microsoft.com/office/drawing/2014/main" id="{E769276E-1B7B-D14C-B5A2-05CD847DD6EF}"/>
              </a:ext>
            </a:extLst>
          </p:cNvPr>
          <p:cNvSpPr txBox="1"/>
          <p:nvPr/>
        </p:nvSpPr>
        <p:spPr>
          <a:xfrm>
            <a:off x="8509000" y="3289300"/>
            <a:ext cx="2032000" cy="4064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Dashboards</a:t>
            </a:r>
          </a:p>
        </p:txBody>
      </p:sp>
      <p:sp>
        <p:nvSpPr>
          <p:cNvPr id="20" name="TextBox 19">
            <a:extLst>
              <a:ext uri="{FF2B5EF4-FFF2-40B4-BE49-F238E27FC236}">
                <a16:creationId xmlns:a16="http://schemas.microsoft.com/office/drawing/2014/main" id="{F05CBCD5-A32F-1049-8496-5C8F0140F65C}"/>
              </a:ext>
            </a:extLst>
          </p:cNvPr>
          <p:cNvSpPr txBox="1"/>
          <p:nvPr/>
        </p:nvSpPr>
        <p:spPr>
          <a:xfrm>
            <a:off x="8509000" y="3771900"/>
            <a:ext cx="2032000" cy="381000"/>
          </a:xfrm>
          <a:prstGeom prst="rect">
            <a:avLst/>
          </a:prstGeom>
          <a:noFill/>
          <a:ln>
            <a:noFill/>
          </a:ln>
        </p:spPr>
        <p:txBody>
          <a:bodyPr vertOverflow="overflow" vert="horz" wrap="square" rtlCol="0" anchor="t">
            <a:noAutofit/>
          </a:bodyPr>
          <a:lstStyle/>
          <a:p>
            <a:pPr algn="l"/>
            <a:r>
              <a:rPr lang="en-US" sz="1100" dirty="0">
                <a:solidFill>
                  <a:srgbClr val="4A5663"/>
                </a:solidFill>
                <a:latin typeface="Futura"/>
                <a:cs typeface="Futura"/>
              </a:rPr>
              <a:t>Velocity, quality, coaching</a:t>
            </a:r>
          </a:p>
        </p:txBody>
      </p:sp>
      <p:sp>
        <p:nvSpPr>
          <p:cNvPr id="21" name="Right Arrow 20">
            <a:extLst>
              <a:ext uri="{FF2B5EF4-FFF2-40B4-BE49-F238E27FC236}">
                <a16:creationId xmlns:a16="http://schemas.microsoft.com/office/drawing/2014/main" id="{7D3B994A-1ABE-C545-BFE6-2F6546ECBE8B}"/>
              </a:ext>
            </a:extLst>
          </p:cNvPr>
          <p:cNvSpPr/>
          <p:nvPr/>
        </p:nvSpPr>
        <p:spPr>
          <a:xfrm>
            <a:off x="3810000" y="3378200"/>
            <a:ext cx="762000" cy="228600"/>
          </a:xfrm>
          <a:prstGeom prst="rightArrow">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ight Arrow 21">
            <a:extLst>
              <a:ext uri="{FF2B5EF4-FFF2-40B4-BE49-F238E27FC236}">
                <a16:creationId xmlns:a16="http://schemas.microsoft.com/office/drawing/2014/main" id="{BE0A413F-1C72-9F46-AC11-202446AF573B}"/>
              </a:ext>
            </a:extLst>
          </p:cNvPr>
          <p:cNvSpPr/>
          <p:nvPr/>
        </p:nvSpPr>
        <p:spPr>
          <a:xfrm>
            <a:off x="7366000" y="3378200"/>
            <a:ext cx="762000" cy="228600"/>
          </a:xfrm>
          <a:prstGeom prst="rightArrow">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93E725BC-FB5B-234C-9859-BDB4CE22D658}"/>
              </a:ext>
            </a:extLst>
          </p:cNvPr>
          <p:cNvSpPr txBox="1"/>
          <p:nvPr/>
        </p:nvSpPr>
        <p:spPr>
          <a:xfrm>
            <a:off x="1016000" y="4699000"/>
            <a:ext cx="254000" cy="279400"/>
          </a:xfrm>
          <a:prstGeom prst="rect">
            <a:avLst/>
          </a:prstGeom>
          <a:noFill/>
          <a:ln>
            <a:noFill/>
          </a:ln>
        </p:spPr>
        <p:txBody>
          <a:bodyPr vertOverflow="overflow" vert="horz" wrap="square" rtlCol="0" anchor="t">
            <a:noAutofit/>
          </a:bodyPr>
          <a:lstStyle/>
          <a:p>
            <a:pPr algn="l"/>
            <a:r>
              <a:rPr lang="en-US" b="1" dirty="0">
                <a:solidFill>
                  <a:srgbClr val="F79226"/>
                </a:solidFill>
                <a:latin typeface="Futura"/>
                <a:cs typeface="Futura"/>
              </a:rPr>
              <a:t>—</a:t>
            </a:r>
          </a:p>
        </p:txBody>
      </p:sp>
      <p:sp>
        <p:nvSpPr>
          <p:cNvPr id="24" name="TextBox 23">
            <a:extLst>
              <a:ext uri="{FF2B5EF4-FFF2-40B4-BE49-F238E27FC236}">
                <a16:creationId xmlns:a16="http://schemas.microsoft.com/office/drawing/2014/main" id="{BDEC66BA-EE26-DF43-BA0C-8DFA97468DB6}"/>
              </a:ext>
            </a:extLst>
          </p:cNvPr>
          <p:cNvSpPr txBox="1"/>
          <p:nvPr/>
        </p:nvSpPr>
        <p:spPr>
          <a:xfrm>
            <a:off x="1371600" y="4699000"/>
            <a:ext cx="10160000" cy="279400"/>
          </a:xfrm>
          <a:prstGeom prst="rect">
            <a:avLst/>
          </a:prstGeom>
          <a:noFill/>
          <a:ln>
            <a:noFill/>
          </a:ln>
        </p:spPr>
        <p:txBody>
          <a:bodyPr vertOverflow="overflow" vert="horz" wrap="square" rtlCol="0" anchor="t">
            <a:noAutofit/>
          </a:bodyPr>
          <a:lstStyle/>
          <a:p>
            <a:pPr algn="l"/>
            <a:r>
              <a:rPr lang="en-US" sz="1500" dirty="0">
                <a:solidFill>
                  <a:srgbClr val="102033"/>
                </a:solidFill>
                <a:latin typeface="Futura"/>
                <a:cs typeface="Futura"/>
              </a:rPr>
              <a:t>AI layer sits ON TOP of existing data</a:t>
            </a:r>
          </a:p>
        </p:txBody>
      </p:sp>
      <p:sp>
        <p:nvSpPr>
          <p:cNvPr id="25" name="TextBox 24">
            <a:extLst>
              <a:ext uri="{FF2B5EF4-FFF2-40B4-BE49-F238E27FC236}">
                <a16:creationId xmlns:a16="http://schemas.microsoft.com/office/drawing/2014/main" id="{9F89C6D2-4974-134B-A061-10201BE5B54D}"/>
              </a:ext>
            </a:extLst>
          </p:cNvPr>
          <p:cNvSpPr txBox="1"/>
          <p:nvPr/>
        </p:nvSpPr>
        <p:spPr>
          <a:xfrm>
            <a:off x="1016000" y="5105400"/>
            <a:ext cx="254000" cy="279400"/>
          </a:xfrm>
          <a:prstGeom prst="rect">
            <a:avLst/>
          </a:prstGeom>
          <a:noFill/>
          <a:ln>
            <a:noFill/>
          </a:ln>
        </p:spPr>
        <p:txBody>
          <a:bodyPr vertOverflow="overflow" vert="horz" wrap="square" rtlCol="0" anchor="t">
            <a:noAutofit/>
          </a:bodyPr>
          <a:lstStyle/>
          <a:p>
            <a:pPr algn="l"/>
            <a:r>
              <a:rPr lang="en-US" b="1" dirty="0">
                <a:solidFill>
                  <a:srgbClr val="F79226"/>
                </a:solidFill>
                <a:latin typeface="Futura"/>
                <a:cs typeface="Futura"/>
              </a:rPr>
              <a:t>—</a:t>
            </a:r>
          </a:p>
        </p:txBody>
      </p:sp>
      <p:sp>
        <p:nvSpPr>
          <p:cNvPr id="26" name="TextBox 25">
            <a:extLst>
              <a:ext uri="{FF2B5EF4-FFF2-40B4-BE49-F238E27FC236}">
                <a16:creationId xmlns:a16="http://schemas.microsoft.com/office/drawing/2014/main" id="{B0470EF1-E53C-6E4D-A17D-61213EDFFD17}"/>
              </a:ext>
            </a:extLst>
          </p:cNvPr>
          <p:cNvSpPr txBox="1"/>
          <p:nvPr/>
        </p:nvSpPr>
        <p:spPr>
          <a:xfrm>
            <a:off x="1371600" y="5105400"/>
            <a:ext cx="10160000" cy="279400"/>
          </a:xfrm>
          <a:prstGeom prst="rect">
            <a:avLst/>
          </a:prstGeom>
          <a:noFill/>
          <a:ln>
            <a:noFill/>
          </a:ln>
        </p:spPr>
        <p:txBody>
          <a:bodyPr vertOverflow="overflow" vert="horz" wrap="square" rtlCol="0" anchor="t">
            <a:noAutofit/>
          </a:bodyPr>
          <a:lstStyle/>
          <a:p>
            <a:pPr algn="l"/>
            <a:r>
              <a:rPr lang="en-US" sz="1500" dirty="0">
                <a:solidFill>
                  <a:srgbClr val="102033"/>
                </a:solidFill>
                <a:latin typeface="Futura"/>
                <a:cs typeface="Futura"/>
              </a:rPr>
              <a:t>Weekly pipeline: classify, score, coach, analyze</a:t>
            </a:r>
          </a:p>
        </p:txBody>
      </p:sp>
      <p:sp>
        <p:nvSpPr>
          <p:cNvPr id="27" name="TextBox 26">
            <a:extLst>
              <a:ext uri="{FF2B5EF4-FFF2-40B4-BE49-F238E27FC236}">
                <a16:creationId xmlns:a16="http://schemas.microsoft.com/office/drawing/2014/main" id="{D38315FE-FB0B-E742-BDB7-A44B47647F8F}"/>
              </a:ext>
            </a:extLst>
          </p:cNvPr>
          <p:cNvSpPr txBox="1"/>
          <p:nvPr/>
        </p:nvSpPr>
        <p:spPr>
          <a:xfrm>
            <a:off x="1016000" y="5511800"/>
            <a:ext cx="254000" cy="279400"/>
          </a:xfrm>
          <a:prstGeom prst="rect">
            <a:avLst/>
          </a:prstGeom>
          <a:noFill/>
          <a:ln>
            <a:noFill/>
          </a:ln>
        </p:spPr>
        <p:txBody>
          <a:bodyPr vertOverflow="overflow" vert="horz" wrap="square" rtlCol="0" anchor="t">
            <a:noAutofit/>
          </a:bodyPr>
          <a:lstStyle/>
          <a:p>
            <a:pPr algn="l"/>
            <a:r>
              <a:rPr lang="en-US" b="1" dirty="0">
                <a:solidFill>
                  <a:srgbClr val="F79226"/>
                </a:solidFill>
                <a:latin typeface="Futura"/>
                <a:cs typeface="Futura"/>
              </a:rPr>
              <a:t>—</a:t>
            </a:r>
          </a:p>
        </p:txBody>
      </p:sp>
      <p:sp>
        <p:nvSpPr>
          <p:cNvPr id="28" name="TextBox 27">
            <a:extLst>
              <a:ext uri="{FF2B5EF4-FFF2-40B4-BE49-F238E27FC236}">
                <a16:creationId xmlns:a16="http://schemas.microsoft.com/office/drawing/2014/main" id="{9E8215B1-E060-A643-B8E9-14BF2B783CBD}"/>
              </a:ext>
            </a:extLst>
          </p:cNvPr>
          <p:cNvSpPr txBox="1"/>
          <p:nvPr/>
        </p:nvSpPr>
        <p:spPr>
          <a:xfrm>
            <a:off x="1371600" y="5511800"/>
            <a:ext cx="10160000" cy="279400"/>
          </a:xfrm>
          <a:prstGeom prst="rect">
            <a:avLst/>
          </a:prstGeom>
          <a:noFill/>
          <a:ln>
            <a:noFill/>
          </a:ln>
        </p:spPr>
        <p:txBody>
          <a:bodyPr vertOverflow="overflow" vert="horz" wrap="square" rtlCol="0" anchor="t">
            <a:noAutofit/>
          </a:bodyPr>
          <a:lstStyle/>
          <a:p>
            <a:pPr algn="l"/>
            <a:r>
              <a:rPr lang="en-US" sz="1500" dirty="0">
                <a:solidFill>
                  <a:srgbClr val="102033"/>
                </a:solidFill>
                <a:latin typeface="Futura"/>
                <a:cs typeface="Futura"/>
              </a:rPr>
              <a:t>Monday morning; fresh data/analysis</a:t>
            </a:r>
          </a:p>
        </p:txBody>
      </p:sp>
      <p:sp>
        <p:nvSpPr>
          <p:cNvPr id="29" name="Rectangle 28">
            <a:extLst>
              <a:ext uri="{FF2B5EF4-FFF2-40B4-BE49-F238E27FC236}">
                <a16:creationId xmlns:a16="http://schemas.microsoft.com/office/drawing/2014/main" id="{23F15E3F-AF9E-2648-BB45-DFFD55D8D8E7}"/>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28B8F8B7-9EA1-F54C-9439-A3660D188122}"/>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31" name="TextBox 30">
            <a:extLst>
              <a:ext uri="{FF2B5EF4-FFF2-40B4-BE49-F238E27FC236}">
                <a16:creationId xmlns:a16="http://schemas.microsoft.com/office/drawing/2014/main" id="{04014A25-0B69-8744-AA43-CA4EA562C51F}"/>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32" name="TextBox 31">
            <a:extLst>
              <a:ext uri="{FF2B5EF4-FFF2-40B4-BE49-F238E27FC236}">
                <a16:creationId xmlns:a16="http://schemas.microsoft.com/office/drawing/2014/main" id="{A91FAEF8-EC7B-F643-8CBF-25AC09574968}"/>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spTree>
    <p:custDataLst>
      <p:tags r:id="rId1"/>
    </p:custDataLst>
    <p:extLst>
      <p:ext uri="{BB962C8B-B14F-4D97-AF65-F5344CB8AC3E}">
        <p14:creationId xmlns:p14="http://schemas.microsoft.com/office/powerpoint/2010/main" val="2511378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3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4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par>
                                <p:cTn id="36" presetID="10" presetClass="entr" presetSubtype="0" fill="hold" grpId="0" nodeType="withEffect">
                                  <p:stCondLst>
                                    <p:cond delay="2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30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40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par>
                          <p:cTn id="45" fill="hold">
                            <p:stCondLst>
                              <p:cond delay="1400"/>
                            </p:stCondLst>
                            <p:childTnLst>
                              <p:par>
                                <p:cTn id="46" presetID="10" presetClass="entr" presetSubtype="0" fill="hold" grpId="0" nodeType="after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25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25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50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grpId="0" nodeType="withEffect">
                                  <p:stCondLst>
                                    <p:cond delay="50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4" grpId="0"/>
      <p:bldP spid="15" grpId="0"/>
      <p:bldP spid="16" grpId="0" animBg="1"/>
      <p:bldP spid="17" grpId="0" animBg="1"/>
      <p:bldP spid="18" grpId="0"/>
      <p:bldP spid="19" grpId="0"/>
      <p:bldP spid="20" grpId="0"/>
      <p:bldP spid="21" grpId="0" animBg="1"/>
      <p:bldP spid="22" grpId="0" animBg="1"/>
      <p:bldP spid="23" grpId="0"/>
      <p:bldP spid="24" grpId="0"/>
      <p:bldP spid="25" grpId="0"/>
      <p:bldP spid="26" grpId="0"/>
      <p:bldP spid="27"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2033">
            <a:alpha val="100000"/>
          </a:srgb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3EFFF3-8DF0-0E4D-8C56-92F0C5EC9343}"/>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C17B2B18-DA82-0C41-B283-6F506AEDD500}"/>
              </a:ext>
            </a:extLst>
          </p:cNvPr>
          <p:cNvSpPr/>
          <p:nvPr/>
        </p:nvSpPr>
        <p:spPr>
          <a:xfrm>
            <a:off x="1016000" y="3746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38FC9791-DD86-AB45-B9AE-34446A9AA922}"/>
              </a:ext>
            </a:extLst>
          </p:cNvPr>
          <p:cNvSpPr txBox="1"/>
          <p:nvPr/>
        </p:nvSpPr>
        <p:spPr>
          <a:xfrm>
            <a:off x="1016000" y="4064000"/>
            <a:ext cx="10160000" cy="762000"/>
          </a:xfrm>
          <a:prstGeom prst="rect">
            <a:avLst/>
          </a:prstGeom>
          <a:noFill/>
          <a:ln>
            <a:noFill/>
          </a:ln>
        </p:spPr>
        <p:txBody>
          <a:bodyPr vertOverflow="overflow" vert="horz" wrap="square" rtlCol="0" anchor="t" anchorCtr="0">
            <a:noAutofit/>
          </a:bodyPr>
          <a:lstStyle/>
          <a:p>
            <a:pPr algn="l"/>
            <a:r>
              <a:rPr lang="en-US" sz="3200" b="1">
                <a:solidFill>
                  <a:srgbClr val="FFFFFF"/>
                </a:solidFill>
                <a:latin typeface="Futura"/>
                <a:cs typeface="Futura"/>
              </a:rPr>
              <a:t>VELOCITY, ESTIMATION, AND FORECASTING</a:t>
            </a:r>
          </a:p>
        </p:txBody>
      </p:sp>
      <p:sp>
        <p:nvSpPr>
          <p:cNvPr id="4" name="TextBox 3">
            <a:extLst>
              <a:ext uri="{FF2B5EF4-FFF2-40B4-BE49-F238E27FC236}">
                <a16:creationId xmlns:a16="http://schemas.microsoft.com/office/drawing/2014/main" id="{1BCDEA9D-7B38-B043-92E0-FD9BF8A48D81}"/>
              </a:ext>
            </a:extLst>
          </p:cNvPr>
          <p:cNvSpPr txBox="1"/>
          <p:nvPr/>
        </p:nvSpPr>
        <p:spPr>
          <a:xfrm>
            <a:off x="1016000" y="3302000"/>
            <a:ext cx="1270000" cy="304800"/>
          </a:xfrm>
          <a:prstGeom prst="rect">
            <a:avLst/>
          </a:prstGeom>
          <a:noFill/>
          <a:ln>
            <a:noFill/>
          </a:ln>
        </p:spPr>
        <p:txBody>
          <a:bodyPr vertOverflow="overflow" vert="horz" wrap="square" rtlCol="0" anchor="t" anchorCtr="0">
            <a:noAutofit/>
          </a:bodyPr>
          <a:lstStyle/>
          <a:p>
            <a:pPr algn="l"/>
            <a:r>
              <a:rPr lang="en-US" sz="1400" b="1">
                <a:solidFill>
                  <a:srgbClr val="F79226"/>
                </a:solidFill>
                <a:latin typeface="Futura"/>
                <a:cs typeface="Futura"/>
              </a:rPr>
              <a:t>02</a:t>
            </a:r>
          </a:p>
        </p:txBody>
      </p:sp>
      <p:sp>
        <p:nvSpPr>
          <p:cNvPr id="5" name="Rectangle 4">
            <a:extLst>
              <a:ext uri="{FF2B5EF4-FFF2-40B4-BE49-F238E27FC236}">
                <a16:creationId xmlns:a16="http://schemas.microsoft.com/office/drawing/2014/main" id="{581E8553-CD08-3F4B-8DBD-9E8286730CE9}"/>
              </a:ext>
            </a:extLst>
          </p:cNvPr>
          <p:cNvSpPr/>
          <p:nvPr/>
        </p:nvSpPr>
        <p:spPr>
          <a:xfrm>
            <a:off x="1016000" y="6223000"/>
            <a:ext cx="10160000" cy="127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6E611873-D174-B546-A962-EB08050A83E4}"/>
              </a:ext>
            </a:extLst>
          </p:cNvPr>
          <p:cNvSpPr txBox="1"/>
          <p:nvPr/>
        </p:nvSpPr>
        <p:spPr>
          <a:xfrm>
            <a:off x="1016000" y="5016500"/>
            <a:ext cx="10160000" cy="381000"/>
          </a:xfrm>
          <a:prstGeom prst="rect">
            <a:avLst/>
          </a:prstGeom>
          <a:noFill/>
          <a:ln>
            <a:noFill/>
          </a:ln>
        </p:spPr>
        <p:txBody>
          <a:bodyPr vertOverflow="overflow" vert="horz" wrap="square" rtlCol="0" anchor="t" anchorCtr="0">
            <a:noAutofit/>
          </a:bodyPr>
          <a:lstStyle/>
          <a:p>
            <a:pPr algn="l"/>
            <a:endParaRPr lang="en-US" sz="1500" i="1">
              <a:solidFill>
                <a:srgbClr val="C8D1DC"/>
              </a:solidFill>
              <a:latin typeface="Futura"/>
              <a:cs typeface="Futura"/>
            </a:endParaRPr>
          </a:p>
        </p:txBody>
      </p:sp>
      <p:sp>
        <p:nvSpPr>
          <p:cNvPr id="9" name="TextBox 8">
            <a:extLst>
              <a:ext uri="{FF2B5EF4-FFF2-40B4-BE49-F238E27FC236}">
                <a16:creationId xmlns:a16="http://schemas.microsoft.com/office/drawing/2014/main" id="{771FA444-4EB0-E04A-B7F2-9EF5CEA8FBC9}"/>
              </a:ext>
            </a:extLst>
          </p:cNvPr>
          <p:cNvSpPr txBox="1"/>
          <p:nvPr/>
        </p:nvSpPr>
        <p:spPr>
          <a:xfrm>
            <a:off x="8636000" y="6413500"/>
            <a:ext cx="2540000" cy="228600"/>
          </a:xfrm>
          <a:prstGeom prst="rect">
            <a:avLst/>
          </a:prstGeom>
          <a:noFill/>
          <a:ln>
            <a:noFill/>
          </a:ln>
        </p:spPr>
        <p:txBody>
          <a:bodyPr vertOverflow="overflow" vert="horz" wrap="square" rtlCol="0" anchor="t" anchorCtr="0">
            <a:noAutofit/>
          </a:bodyPr>
          <a:lstStyle/>
          <a:p>
            <a:pPr algn="l"/>
            <a:r>
              <a:rPr lang="en-US" sz="1000" b="1">
                <a:solidFill>
                  <a:srgbClr val="9AA4B2"/>
                </a:solidFill>
                <a:latin typeface="Futura"/>
                <a:cs typeface="Futura"/>
              </a:rPr>
              <a:t>SECTION 02 / 07</a:t>
            </a:r>
          </a:p>
        </p:txBody>
      </p:sp>
    </p:spTree>
    <p:extLst>
      <p:ext uri="{BB962C8B-B14F-4D97-AF65-F5344CB8AC3E}">
        <p14:creationId xmlns:p14="http://schemas.microsoft.com/office/powerpoint/2010/main" val="681705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A170C-519A-3870-748F-868D7249C6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6A99D1-D741-F75B-925F-9402C2D1A485}"/>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02  ·  VELOCITY</a:t>
            </a:r>
          </a:p>
        </p:txBody>
      </p:sp>
      <p:sp>
        <p:nvSpPr>
          <p:cNvPr id="3" name="TextBox 2">
            <a:extLst>
              <a:ext uri="{FF2B5EF4-FFF2-40B4-BE49-F238E27FC236}">
                <a16:creationId xmlns:a16="http://schemas.microsoft.com/office/drawing/2014/main" id="{74E42D77-EEB3-F076-6CE9-3314146CE3AB}"/>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Team Velocity Dashboard</a:t>
            </a:r>
          </a:p>
        </p:txBody>
      </p:sp>
      <p:sp>
        <p:nvSpPr>
          <p:cNvPr id="4" name="Rectangle 3">
            <a:extLst>
              <a:ext uri="{FF2B5EF4-FFF2-40B4-BE49-F238E27FC236}">
                <a16:creationId xmlns:a16="http://schemas.microsoft.com/office/drawing/2014/main" id="{86485BA1-316C-F23E-7832-D990F3EE3737}"/>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ADAA6411-C322-10AA-8C34-786DBB29037D}"/>
              </a:ext>
            </a:extLst>
          </p:cNvPr>
          <p:cNvSpPr txBox="1"/>
          <p:nvPr/>
        </p:nvSpPr>
        <p:spPr>
          <a:xfrm>
            <a:off x="1397000" y="4064000"/>
            <a:ext cx="9906000" cy="228600"/>
          </a:xfrm>
          <a:prstGeom prst="rect">
            <a:avLst/>
          </a:prstGeom>
          <a:noFill/>
          <a:ln>
            <a:noFill/>
          </a:ln>
        </p:spPr>
        <p:txBody>
          <a:bodyPr vertOverflow="overflow" vert="horz" wrap="square" rtlCol="0" anchor="t">
            <a:noAutofit/>
          </a:bodyPr>
          <a:lstStyle/>
          <a:p>
            <a:pPr algn="ctr"/>
            <a:r>
              <a:rPr lang="en-US" sz="1000">
                <a:solidFill>
                  <a:srgbClr val="9AA4B2"/>
                </a:solidFill>
                <a:latin typeface="Futura"/>
              </a:rPr>
              <a:t>780 × 260</a:t>
            </a:r>
          </a:p>
        </p:txBody>
      </p:sp>
      <p:sp>
        <p:nvSpPr>
          <p:cNvPr id="13" name="Rectangle 12">
            <a:extLst>
              <a:ext uri="{FF2B5EF4-FFF2-40B4-BE49-F238E27FC236}">
                <a16:creationId xmlns:a16="http://schemas.microsoft.com/office/drawing/2014/main" id="{BE26C66E-C6A2-2CA4-BDB0-AB252A8B0B69}"/>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CFF86183-8700-38F9-5913-150746E3C85E}"/>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5" name="TextBox 14">
            <a:extLst>
              <a:ext uri="{FF2B5EF4-FFF2-40B4-BE49-F238E27FC236}">
                <a16:creationId xmlns:a16="http://schemas.microsoft.com/office/drawing/2014/main" id="{6B4DA566-74D0-C810-6DBF-AA2324CAB1FB}"/>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16" name="TextBox 15">
            <a:extLst>
              <a:ext uri="{FF2B5EF4-FFF2-40B4-BE49-F238E27FC236}">
                <a16:creationId xmlns:a16="http://schemas.microsoft.com/office/drawing/2014/main" id="{EF42135A-9A4F-FAA9-4B4D-52942B4E7BFF}"/>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19" name="Picture 18">
            <a:extLst>
              <a:ext uri="{FF2B5EF4-FFF2-40B4-BE49-F238E27FC236}">
                <a16:creationId xmlns:a16="http://schemas.microsoft.com/office/drawing/2014/main" id="{1A9F35D0-7714-F3D8-0231-77837A57620B}"/>
              </a:ext>
            </a:extLst>
          </p:cNvPr>
          <p:cNvPicPr>
            <a:picLocks noChangeAspect="1"/>
          </p:cNvPicPr>
          <p:nvPr/>
        </p:nvPicPr>
        <p:blipFill>
          <a:blip r:embed="rId3"/>
          <a:stretch>
            <a:fillRect/>
          </a:stretch>
        </p:blipFill>
        <p:spPr>
          <a:xfrm>
            <a:off x="1093216" y="2335022"/>
            <a:ext cx="10259568" cy="341985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7170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0EDFD4-64E4-E645-82FE-1C43AB6F6BB0}"/>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02  ·  VELOCITY</a:t>
            </a:r>
          </a:p>
        </p:txBody>
      </p:sp>
      <p:sp>
        <p:nvSpPr>
          <p:cNvPr id="3" name="TextBox 2">
            <a:extLst>
              <a:ext uri="{FF2B5EF4-FFF2-40B4-BE49-F238E27FC236}">
                <a16:creationId xmlns:a16="http://schemas.microsoft.com/office/drawing/2014/main" id="{0726E649-560A-1E41-9C2F-98B1AAF373BC}"/>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Hours per point · the predictor</a:t>
            </a:r>
          </a:p>
        </p:txBody>
      </p:sp>
      <p:sp>
        <p:nvSpPr>
          <p:cNvPr id="4" name="Rectangle 3">
            <a:extLst>
              <a:ext uri="{FF2B5EF4-FFF2-40B4-BE49-F238E27FC236}">
                <a16:creationId xmlns:a16="http://schemas.microsoft.com/office/drawing/2014/main" id="{3983BC53-C9BE-2544-8F83-73D0C6DC4E9C}"/>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F4D13ACF-2607-A849-9101-CC52BA3B1378}"/>
              </a:ext>
            </a:extLst>
          </p:cNvPr>
          <p:cNvSpPr txBox="1"/>
          <p:nvPr/>
        </p:nvSpPr>
        <p:spPr>
          <a:xfrm>
            <a:off x="1016000" y="5397500"/>
            <a:ext cx="10414000" cy="279400"/>
          </a:xfrm>
          <a:prstGeom prst="rect">
            <a:avLst/>
          </a:prstGeom>
          <a:noFill/>
          <a:ln>
            <a:noFill/>
          </a:ln>
        </p:spPr>
        <p:txBody>
          <a:bodyPr vertOverflow="overflow" vert="horz" wrap="square" rtlCol="0" anchor="t">
            <a:noAutofit/>
          </a:bodyPr>
          <a:lstStyle/>
          <a:p>
            <a:pPr algn="l"/>
            <a:r>
              <a:rPr lang="en-US" sz="1200" b="1">
                <a:solidFill>
                  <a:srgbClr val="F79226"/>
                </a:solidFill>
                <a:latin typeface="Futura"/>
                <a:cs typeface="Futura"/>
              </a:rPr>
              <a:t>—  SAME EFFORT. DIFFERENT CALIBRATION.</a:t>
            </a:r>
          </a:p>
        </p:txBody>
      </p:sp>
      <p:sp>
        <p:nvSpPr>
          <p:cNvPr id="22" name="TextBox 21">
            <a:extLst>
              <a:ext uri="{FF2B5EF4-FFF2-40B4-BE49-F238E27FC236}">
                <a16:creationId xmlns:a16="http://schemas.microsoft.com/office/drawing/2014/main" id="{89C364F7-901A-C94E-9AA6-3E0BAE61B592}"/>
              </a:ext>
            </a:extLst>
          </p:cNvPr>
          <p:cNvSpPr txBox="1"/>
          <p:nvPr/>
        </p:nvSpPr>
        <p:spPr>
          <a:xfrm>
            <a:off x="1016000" y="5740400"/>
            <a:ext cx="10414000" cy="279400"/>
          </a:xfrm>
          <a:prstGeom prst="rect">
            <a:avLst/>
          </a:prstGeom>
          <a:noFill/>
          <a:ln>
            <a:noFill/>
          </a:ln>
        </p:spPr>
        <p:txBody>
          <a:bodyPr vertOverflow="overflow" vert="horz" wrap="square" rtlCol="0" anchor="t">
            <a:noAutofit/>
          </a:bodyPr>
          <a:lstStyle/>
          <a:p>
            <a:pPr algn="l"/>
            <a:r>
              <a:rPr lang="en-US" sz="1400" i="1">
                <a:solidFill>
                  <a:srgbClr val="102033"/>
                </a:solidFill>
                <a:latin typeface="Futura"/>
                <a:cs typeface="Futura"/>
              </a:rPr>
              <a:t>Raw velocity hides this. Hours per point exposes it and stops the "that team ships more" argument dead.</a:t>
            </a:r>
          </a:p>
        </p:txBody>
      </p:sp>
      <p:sp>
        <p:nvSpPr>
          <p:cNvPr id="23" name="TextBox 22">
            <a:extLst>
              <a:ext uri="{FF2B5EF4-FFF2-40B4-BE49-F238E27FC236}">
                <a16:creationId xmlns:a16="http://schemas.microsoft.com/office/drawing/2014/main" id="{E1A19BA6-79DA-7E4E-AC9D-9DCEEB2D7883}"/>
              </a:ext>
            </a:extLst>
          </p:cNvPr>
          <p:cNvSpPr txBox="1"/>
          <p:nvPr/>
        </p:nvSpPr>
        <p:spPr>
          <a:xfrm>
            <a:off x="1016000" y="6070600"/>
            <a:ext cx="10414000" cy="279400"/>
          </a:xfrm>
          <a:prstGeom prst="rect">
            <a:avLst/>
          </a:prstGeom>
          <a:noFill/>
          <a:ln>
            <a:noFill/>
          </a:ln>
        </p:spPr>
        <p:txBody>
          <a:bodyPr vertOverflow="overflow" vert="horz" wrap="square" rtlCol="0" anchor="t">
            <a:noAutofit/>
          </a:bodyPr>
          <a:lstStyle/>
          <a:p>
            <a:pPr algn="l"/>
            <a:r>
              <a:rPr lang="en-US" sz="1200">
                <a:solidFill>
                  <a:srgbClr val="6C757D"/>
                </a:solidFill>
                <a:latin typeface="Futura"/>
                <a:cs typeface="Futura"/>
              </a:rPr>
              <a:t>Trending up? Estimation is drifting. Trending down? Getting efficient or cutting corners. Check quality.</a:t>
            </a:r>
          </a:p>
        </p:txBody>
      </p:sp>
      <p:sp>
        <p:nvSpPr>
          <p:cNvPr id="24" name="Rectangle 23">
            <a:extLst>
              <a:ext uri="{FF2B5EF4-FFF2-40B4-BE49-F238E27FC236}">
                <a16:creationId xmlns:a16="http://schemas.microsoft.com/office/drawing/2014/main" id="{A03D32A7-2842-8941-A94E-46CC9FA1E247}"/>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7EC00D56-E4EE-9046-A832-278BCA3F01FC}"/>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26" name="TextBox 25">
            <a:extLst>
              <a:ext uri="{FF2B5EF4-FFF2-40B4-BE49-F238E27FC236}">
                <a16:creationId xmlns:a16="http://schemas.microsoft.com/office/drawing/2014/main" id="{3B9066D0-E397-B14F-B60E-950DBD3333B0}"/>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7" name="TextBox 26">
            <a:extLst>
              <a:ext uri="{FF2B5EF4-FFF2-40B4-BE49-F238E27FC236}">
                <a16:creationId xmlns:a16="http://schemas.microsoft.com/office/drawing/2014/main" id="{9C735A78-5D8C-224F-A068-CE447A05B2D4}"/>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9" name="Picture 28">
            <a:extLst>
              <a:ext uri="{FF2B5EF4-FFF2-40B4-BE49-F238E27FC236}">
                <a16:creationId xmlns:a16="http://schemas.microsoft.com/office/drawing/2014/main" id="{D51535CA-760E-8AFF-43BA-1866D6A6721B}"/>
              </a:ext>
            </a:extLst>
          </p:cNvPr>
          <p:cNvPicPr>
            <a:picLocks noChangeAspect="1"/>
          </p:cNvPicPr>
          <p:nvPr/>
        </p:nvPicPr>
        <p:blipFill>
          <a:blip r:embed="rId3"/>
          <a:stretch>
            <a:fillRect/>
          </a:stretch>
        </p:blipFill>
        <p:spPr>
          <a:xfrm>
            <a:off x="1093216" y="1827022"/>
            <a:ext cx="10259568" cy="341985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633957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BA194A-5422-2641-B167-21AAE31C4629}"/>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02  ·  VELOCITY</a:t>
            </a:r>
          </a:p>
        </p:txBody>
      </p:sp>
      <p:sp>
        <p:nvSpPr>
          <p:cNvPr id="3" name="TextBox 2">
            <a:extLst>
              <a:ext uri="{FF2B5EF4-FFF2-40B4-BE49-F238E27FC236}">
                <a16:creationId xmlns:a16="http://schemas.microsoft.com/office/drawing/2014/main" id="{C25F4E5C-1600-ED43-A1B5-923E6F5A1DEF}"/>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Individual Velocity · No Leaderboards</a:t>
            </a:r>
          </a:p>
        </p:txBody>
      </p:sp>
      <p:sp>
        <p:nvSpPr>
          <p:cNvPr id="4" name="Rectangle 3">
            <a:extLst>
              <a:ext uri="{FF2B5EF4-FFF2-40B4-BE49-F238E27FC236}">
                <a16:creationId xmlns:a16="http://schemas.microsoft.com/office/drawing/2014/main" id="{BD605EF0-4094-864F-86D3-C17A5FAF28BF}"/>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FCB6544B-5424-114F-A759-83C920297F83}"/>
              </a:ext>
            </a:extLst>
          </p:cNvPr>
          <p:cNvSpPr txBox="1"/>
          <p:nvPr/>
        </p:nvSpPr>
        <p:spPr>
          <a:xfrm>
            <a:off x="1397000" y="5651500"/>
            <a:ext cx="254000" cy="279400"/>
          </a:xfrm>
          <a:prstGeom prst="rect">
            <a:avLst/>
          </a:prstGeom>
          <a:noFill/>
          <a:ln>
            <a:noFill/>
          </a:ln>
        </p:spPr>
        <p:txBody>
          <a:bodyPr vertOverflow="overflow" vert="horz" wrap="square" rtlCol="0" anchor="t">
            <a:noAutofit/>
          </a:bodyPr>
          <a:lstStyle/>
          <a:p>
            <a:pPr algn="l"/>
            <a:r>
              <a:rPr lang="en-US" b="1">
                <a:solidFill>
                  <a:srgbClr val="F79226"/>
                </a:solidFill>
                <a:latin typeface="Futura"/>
                <a:cs typeface="Futura"/>
              </a:rPr>
              <a:t>—</a:t>
            </a:r>
          </a:p>
        </p:txBody>
      </p:sp>
      <p:sp>
        <p:nvSpPr>
          <p:cNvPr id="10" name="TextBox 9">
            <a:extLst>
              <a:ext uri="{FF2B5EF4-FFF2-40B4-BE49-F238E27FC236}">
                <a16:creationId xmlns:a16="http://schemas.microsoft.com/office/drawing/2014/main" id="{24FAA8C0-47D8-7C49-B95D-A1BB646FA575}"/>
              </a:ext>
            </a:extLst>
          </p:cNvPr>
          <p:cNvSpPr txBox="1"/>
          <p:nvPr/>
        </p:nvSpPr>
        <p:spPr>
          <a:xfrm>
            <a:off x="1752600" y="5651500"/>
            <a:ext cx="9652000" cy="317500"/>
          </a:xfrm>
          <a:prstGeom prst="rect">
            <a:avLst/>
          </a:prstGeom>
          <a:noFill/>
          <a:ln>
            <a:noFill/>
          </a:ln>
        </p:spPr>
        <p:txBody>
          <a:bodyPr vertOverflow="overflow" vert="horz" wrap="square" rtlCol="0" anchor="t">
            <a:noAutofit/>
          </a:bodyPr>
          <a:lstStyle/>
          <a:p>
            <a:pPr algn="l"/>
            <a:r>
              <a:rPr lang="en-US" sz="1500" i="1">
                <a:solidFill>
                  <a:srgbClr val="102033"/>
                </a:solidFill>
                <a:latin typeface="Futura"/>
                <a:cs typeface="Futura"/>
              </a:rPr>
              <a:t>The question isn't "who's fastest?" It's "is this pattern changing, and should I ask about it?"</a:t>
            </a:r>
          </a:p>
        </p:txBody>
      </p:sp>
      <p:sp>
        <p:nvSpPr>
          <p:cNvPr id="11" name="TextBox 10">
            <a:extLst>
              <a:ext uri="{FF2B5EF4-FFF2-40B4-BE49-F238E27FC236}">
                <a16:creationId xmlns:a16="http://schemas.microsoft.com/office/drawing/2014/main" id="{DB731C76-C5C9-5C4E-B201-88ACC9E641DD}"/>
              </a:ext>
            </a:extLst>
          </p:cNvPr>
          <p:cNvSpPr txBox="1"/>
          <p:nvPr/>
        </p:nvSpPr>
        <p:spPr>
          <a:xfrm>
            <a:off x="1752600" y="6032500"/>
            <a:ext cx="9652000" cy="228600"/>
          </a:xfrm>
          <a:prstGeom prst="rect">
            <a:avLst/>
          </a:prstGeom>
          <a:noFill/>
          <a:ln>
            <a:noFill/>
          </a:ln>
        </p:spPr>
        <p:txBody>
          <a:bodyPr vertOverflow="overflow" vert="horz" wrap="square" rtlCol="0" anchor="t">
            <a:noAutofit/>
          </a:bodyPr>
          <a:lstStyle/>
          <a:p>
            <a:pPr algn="l"/>
            <a:r>
              <a:rPr lang="en-US" sz="1200">
                <a:solidFill>
                  <a:srgbClr val="6C757D"/>
                </a:solidFill>
                <a:latin typeface="Futura"/>
                <a:cs typeface="Futura"/>
              </a:rPr>
              <a:t>Team average line for context · no ranking · a conversation starter, not a verdict.</a:t>
            </a:r>
          </a:p>
        </p:txBody>
      </p:sp>
      <p:sp>
        <p:nvSpPr>
          <p:cNvPr id="12" name="Rectangle 11">
            <a:extLst>
              <a:ext uri="{FF2B5EF4-FFF2-40B4-BE49-F238E27FC236}">
                <a16:creationId xmlns:a16="http://schemas.microsoft.com/office/drawing/2014/main" id="{69B50B1B-A6B3-8C4A-B738-7D2F1A86619F}"/>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06476E41-876F-E848-A415-4D6E2B5D6595}"/>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4" name="TextBox 13">
            <a:extLst>
              <a:ext uri="{FF2B5EF4-FFF2-40B4-BE49-F238E27FC236}">
                <a16:creationId xmlns:a16="http://schemas.microsoft.com/office/drawing/2014/main" id="{FDF88754-1CEC-BD45-8AE5-996240CF793B}"/>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15" name="TextBox 14">
            <a:extLst>
              <a:ext uri="{FF2B5EF4-FFF2-40B4-BE49-F238E27FC236}">
                <a16:creationId xmlns:a16="http://schemas.microsoft.com/office/drawing/2014/main" id="{3B3C3E8A-777B-C543-B895-BC0404514B76}"/>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17" name="Picture 16">
            <a:extLst>
              <a:ext uri="{FF2B5EF4-FFF2-40B4-BE49-F238E27FC236}">
                <a16:creationId xmlns:a16="http://schemas.microsoft.com/office/drawing/2014/main" id="{BBED8341-A6E2-BFC9-74FF-F3127759E400}"/>
              </a:ext>
            </a:extLst>
          </p:cNvPr>
          <p:cNvPicPr>
            <a:picLocks noChangeAspect="1"/>
          </p:cNvPicPr>
          <p:nvPr/>
        </p:nvPicPr>
        <p:blipFill>
          <a:blip r:embed="rId3"/>
          <a:stretch>
            <a:fillRect/>
          </a:stretch>
        </p:blipFill>
        <p:spPr>
          <a:xfrm>
            <a:off x="1093216" y="1909572"/>
            <a:ext cx="10259568" cy="341985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786138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AB994-25DE-D6E0-2414-E3E4EF8DF2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FB534E-08C7-6220-58C8-7851EF6F0931}"/>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02  ·  VELOCITY</a:t>
            </a:r>
          </a:p>
        </p:txBody>
      </p:sp>
      <p:sp>
        <p:nvSpPr>
          <p:cNvPr id="3" name="TextBox 2">
            <a:extLst>
              <a:ext uri="{FF2B5EF4-FFF2-40B4-BE49-F238E27FC236}">
                <a16:creationId xmlns:a16="http://schemas.microsoft.com/office/drawing/2014/main" id="{C7C116DF-AD3A-31F7-4169-336B1FFBFED6}"/>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Individual Velocity · No Leaderboards</a:t>
            </a:r>
          </a:p>
        </p:txBody>
      </p:sp>
      <p:sp>
        <p:nvSpPr>
          <p:cNvPr id="4" name="Rectangle 3">
            <a:extLst>
              <a:ext uri="{FF2B5EF4-FFF2-40B4-BE49-F238E27FC236}">
                <a16:creationId xmlns:a16="http://schemas.microsoft.com/office/drawing/2014/main" id="{AB5827BA-CC60-BD0C-8B4B-4206FFDA0D48}"/>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21C6BDF0-B881-767C-DD8D-21EE526B4C50}"/>
              </a:ext>
            </a:extLst>
          </p:cNvPr>
          <p:cNvSpPr txBox="1"/>
          <p:nvPr/>
        </p:nvSpPr>
        <p:spPr>
          <a:xfrm>
            <a:off x="1397000" y="5651500"/>
            <a:ext cx="254000" cy="279400"/>
          </a:xfrm>
          <a:prstGeom prst="rect">
            <a:avLst/>
          </a:prstGeom>
          <a:noFill/>
          <a:ln>
            <a:noFill/>
          </a:ln>
        </p:spPr>
        <p:txBody>
          <a:bodyPr vertOverflow="overflow" vert="horz" wrap="square" rtlCol="0" anchor="t">
            <a:noAutofit/>
          </a:bodyPr>
          <a:lstStyle/>
          <a:p>
            <a:pPr algn="l"/>
            <a:r>
              <a:rPr lang="en-US" b="1">
                <a:solidFill>
                  <a:srgbClr val="F79226"/>
                </a:solidFill>
                <a:latin typeface="Futura"/>
                <a:cs typeface="Futura"/>
              </a:rPr>
              <a:t>—</a:t>
            </a:r>
          </a:p>
        </p:txBody>
      </p:sp>
      <p:sp>
        <p:nvSpPr>
          <p:cNvPr id="10" name="TextBox 9">
            <a:extLst>
              <a:ext uri="{FF2B5EF4-FFF2-40B4-BE49-F238E27FC236}">
                <a16:creationId xmlns:a16="http://schemas.microsoft.com/office/drawing/2014/main" id="{8E46A651-D610-B137-41DF-60D74132E6E0}"/>
              </a:ext>
            </a:extLst>
          </p:cNvPr>
          <p:cNvSpPr txBox="1"/>
          <p:nvPr/>
        </p:nvSpPr>
        <p:spPr>
          <a:xfrm>
            <a:off x="1752600" y="5651500"/>
            <a:ext cx="9652000" cy="317500"/>
          </a:xfrm>
          <a:prstGeom prst="rect">
            <a:avLst/>
          </a:prstGeom>
          <a:noFill/>
          <a:ln>
            <a:noFill/>
          </a:ln>
        </p:spPr>
        <p:txBody>
          <a:bodyPr vertOverflow="overflow" vert="horz" wrap="square" rtlCol="0" anchor="t">
            <a:noAutofit/>
          </a:bodyPr>
          <a:lstStyle/>
          <a:p>
            <a:pPr algn="l"/>
            <a:r>
              <a:rPr lang="en-US" sz="1500" i="1">
                <a:solidFill>
                  <a:srgbClr val="102033"/>
                </a:solidFill>
                <a:latin typeface="Futura"/>
                <a:cs typeface="Futura"/>
              </a:rPr>
              <a:t>The question isn't "who's fastest?" It's "is this pattern changing, and should I ask about it?"</a:t>
            </a:r>
          </a:p>
        </p:txBody>
      </p:sp>
      <p:sp>
        <p:nvSpPr>
          <p:cNvPr id="11" name="TextBox 10">
            <a:extLst>
              <a:ext uri="{FF2B5EF4-FFF2-40B4-BE49-F238E27FC236}">
                <a16:creationId xmlns:a16="http://schemas.microsoft.com/office/drawing/2014/main" id="{1A51597F-62B8-E962-E03C-DF06BAF6D559}"/>
              </a:ext>
            </a:extLst>
          </p:cNvPr>
          <p:cNvSpPr txBox="1"/>
          <p:nvPr/>
        </p:nvSpPr>
        <p:spPr>
          <a:xfrm>
            <a:off x="1752600" y="6032500"/>
            <a:ext cx="9652000" cy="228600"/>
          </a:xfrm>
          <a:prstGeom prst="rect">
            <a:avLst/>
          </a:prstGeom>
          <a:noFill/>
          <a:ln>
            <a:noFill/>
          </a:ln>
        </p:spPr>
        <p:txBody>
          <a:bodyPr vertOverflow="overflow" vert="horz" wrap="square" rtlCol="0" anchor="t">
            <a:noAutofit/>
          </a:bodyPr>
          <a:lstStyle/>
          <a:p>
            <a:pPr algn="l"/>
            <a:r>
              <a:rPr lang="en-US" sz="1200">
                <a:solidFill>
                  <a:srgbClr val="6C757D"/>
                </a:solidFill>
                <a:latin typeface="Futura"/>
                <a:cs typeface="Futura"/>
              </a:rPr>
              <a:t>Team average line for context · no ranking · a conversation starter, not a verdict.</a:t>
            </a:r>
          </a:p>
        </p:txBody>
      </p:sp>
      <p:sp>
        <p:nvSpPr>
          <p:cNvPr id="12" name="Rectangle 11">
            <a:extLst>
              <a:ext uri="{FF2B5EF4-FFF2-40B4-BE49-F238E27FC236}">
                <a16:creationId xmlns:a16="http://schemas.microsoft.com/office/drawing/2014/main" id="{9625F530-8E7A-38C9-0F0B-DDEDBDF6809E}"/>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09B44F7A-0707-FA87-AC5F-319DD677803F}"/>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4" name="TextBox 13">
            <a:extLst>
              <a:ext uri="{FF2B5EF4-FFF2-40B4-BE49-F238E27FC236}">
                <a16:creationId xmlns:a16="http://schemas.microsoft.com/office/drawing/2014/main" id="{E005E531-DE66-B054-7122-DCE80B630ADA}"/>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15" name="TextBox 14">
            <a:extLst>
              <a:ext uri="{FF2B5EF4-FFF2-40B4-BE49-F238E27FC236}">
                <a16:creationId xmlns:a16="http://schemas.microsoft.com/office/drawing/2014/main" id="{13BA29CD-A0B3-135C-53EB-D6A6C325EA2A}"/>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17" name="Picture 16">
            <a:extLst>
              <a:ext uri="{FF2B5EF4-FFF2-40B4-BE49-F238E27FC236}">
                <a16:creationId xmlns:a16="http://schemas.microsoft.com/office/drawing/2014/main" id="{5DFDC9C2-25AD-7C47-7198-517AFDDA42CF}"/>
              </a:ext>
            </a:extLst>
          </p:cNvPr>
          <p:cNvPicPr>
            <a:picLocks noChangeAspect="1"/>
          </p:cNvPicPr>
          <p:nvPr/>
        </p:nvPicPr>
        <p:blipFill>
          <a:blip r:embed="rId3"/>
          <a:stretch>
            <a:fillRect/>
          </a:stretch>
        </p:blipFill>
        <p:spPr>
          <a:xfrm>
            <a:off x="1093216" y="1905000"/>
            <a:ext cx="10259568" cy="341985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778936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5DE5B-D62D-50EF-21D7-B17A9EA1BB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DEC1F3-41B1-28D1-B04A-FBFBD9E30F19}"/>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02  ·  VELOCITY</a:t>
            </a:r>
          </a:p>
        </p:txBody>
      </p:sp>
      <p:sp>
        <p:nvSpPr>
          <p:cNvPr id="3" name="TextBox 2">
            <a:extLst>
              <a:ext uri="{FF2B5EF4-FFF2-40B4-BE49-F238E27FC236}">
                <a16:creationId xmlns:a16="http://schemas.microsoft.com/office/drawing/2014/main" id="{4B7B8189-887C-A020-5A2E-777C3C67230B}"/>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Capital vs Expense</a:t>
            </a:r>
          </a:p>
        </p:txBody>
      </p:sp>
      <p:sp>
        <p:nvSpPr>
          <p:cNvPr id="4" name="Rectangle 3">
            <a:extLst>
              <a:ext uri="{FF2B5EF4-FFF2-40B4-BE49-F238E27FC236}">
                <a16:creationId xmlns:a16="http://schemas.microsoft.com/office/drawing/2014/main" id="{672D4D3C-6079-154F-C5C5-C1B1EF68663E}"/>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35316DF0-866E-D9A5-4364-F8B7C84A265D}"/>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10C827BF-6254-33CE-F611-E9D68F91D170}"/>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26" name="TextBox 25">
            <a:extLst>
              <a:ext uri="{FF2B5EF4-FFF2-40B4-BE49-F238E27FC236}">
                <a16:creationId xmlns:a16="http://schemas.microsoft.com/office/drawing/2014/main" id="{6F113955-F3B1-42DC-FD8A-6B261AF8B4F7}"/>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7" name="TextBox 26">
            <a:extLst>
              <a:ext uri="{FF2B5EF4-FFF2-40B4-BE49-F238E27FC236}">
                <a16:creationId xmlns:a16="http://schemas.microsoft.com/office/drawing/2014/main" id="{B80B4EB0-AA95-645A-8188-1631BD90B589}"/>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9" name="Picture 28">
            <a:extLst>
              <a:ext uri="{FF2B5EF4-FFF2-40B4-BE49-F238E27FC236}">
                <a16:creationId xmlns:a16="http://schemas.microsoft.com/office/drawing/2014/main" id="{CBDD9213-8E32-2400-46CB-EE56B5558F55}"/>
              </a:ext>
            </a:extLst>
          </p:cNvPr>
          <p:cNvPicPr>
            <a:picLocks noChangeAspect="1"/>
          </p:cNvPicPr>
          <p:nvPr/>
        </p:nvPicPr>
        <p:blipFill>
          <a:blip r:embed="rId3"/>
          <a:srcRect/>
          <a:stretch/>
        </p:blipFill>
        <p:spPr>
          <a:xfrm>
            <a:off x="1093216" y="2335022"/>
            <a:ext cx="10259568" cy="341985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379201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3DDCD4-7ECC-6A44-A588-5E499A59050B}"/>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D6BBD99C-A7D6-404E-8B43-86ECDD464E72}"/>
              </a:ext>
            </a:extLst>
          </p:cNvPr>
          <p:cNvSpPr txBox="1"/>
          <p:nvPr/>
        </p:nvSpPr>
        <p:spPr>
          <a:xfrm>
            <a:off x="1016000" y="2540000"/>
            <a:ext cx="2540000" cy="381000"/>
          </a:xfrm>
          <a:prstGeom prst="rect">
            <a:avLst/>
          </a:prstGeom>
          <a:noFill/>
          <a:ln>
            <a:noFill/>
          </a:ln>
        </p:spPr>
        <p:txBody>
          <a:bodyPr vertOverflow="overflow" vert="horz" wrap="square" rtlCol="0" anchor="t">
            <a:noAutofit/>
          </a:bodyPr>
          <a:lstStyle/>
          <a:p>
            <a:pPr algn="l"/>
            <a:r>
              <a:rPr lang="en-US" sz="1400" b="1">
                <a:solidFill>
                  <a:srgbClr val="F79226"/>
                </a:solidFill>
                <a:latin typeface="Futura"/>
                <a:cs typeface="Futura"/>
              </a:rPr>
              <a:t>03</a:t>
            </a:r>
          </a:p>
        </p:txBody>
      </p:sp>
      <p:sp>
        <p:nvSpPr>
          <p:cNvPr id="4" name="Rectangle 3">
            <a:extLst>
              <a:ext uri="{FF2B5EF4-FFF2-40B4-BE49-F238E27FC236}">
                <a16:creationId xmlns:a16="http://schemas.microsoft.com/office/drawing/2014/main" id="{978500D6-32C3-2F4E-BC1B-68021B8A6C13}"/>
              </a:ext>
            </a:extLst>
          </p:cNvPr>
          <p:cNvSpPr/>
          <p:nvPr/>
        </p:nvSpPr>
        <p:spPr>
          <a:xfrm>
            <a:off x="1016000" y="2984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F2DD3DA6-847E-F649-B0F5-F20834B46389}"/>
              </a:ext>
            </a:extLst>
          </p:cNvPr>
          <p:cNvSpPr txBox="1"/>
          <p:nvPr/>
        </p:nvSpPr>
        <p:spPr>
          <a:xfrm>
            <a:off x="1016000" y="3302000"/>
            <a:ext cx="10160000" cy="762000"/>
          </a:xfrm>
          <a:prstGeom prst="rect">
            <a:avLst/>
          </a:prstGeom>
          <a:noFill/>
          <a:ln>
            <a:noFill/>
          </a:ln>
        </p:spPr>
        <p:txBody>
          <a:bodyPr vertOverflow="overflow" vert="horz" wrap="square" rtlCol="0" anchor="t">
            <a:noAutofit/>
          </a:bodyPr>
          <a:lstStyle/>
          <a:p>
            <a:pPr algn="l"/>
            <a:r>
              <a:rPr lang="en-US" sz="3200" b="1">
                <a:solidFill>
                  <a:srgbClr val="FFFFFF"/>
                </a:solidFill>
                <a:latin typeface="Futura"/>
                <a:cs typeface="Futura"/>
              </a:rPr>
              <a:t>SIGNALS THAT REVEAL QUALITY AND RISK</a:t>
            </a:r>
          </a:p>
        </p:txBody>
      </p:sp>
      <p:sp>
        <p:nvSpPr>
          <p:cNvPr id="6" name="TextBox 5">
            <a:extLst>
              <a:ext uri="{FF2B5EF4-FFF2-40B4-BE49-F238E27FC236}">
                <a16:creationId xmlns:a16="http://schemas.microsoft.com/office/drawing/2014/main" id="{17E6C44D-BB4B-B848-9AA5-3B779337E628}"/>
              </a:ext>
            </a:extLst>
          </p:cNvPr>
          <p:cNvSpPr txBox="1"/>
          <p:nvPr/>
        </p:nvSpPr>
        <p:spPr>
          <a:xfrm>
            <a:off x="1016000" y="4254500"/>
            <a:ext cx="10160000" cy="304800"/>
          </a:xfrm>
          <a:prstGeom prst="rect">
            <a:avLst/>
          </a:prstGeom>
          <a:noFill/>
          <a:ln>
            <a:noFill/>
          </a:ln>
        </p:spPr>
        <p:txBody>
          <a:bodyPr vertOverflow="overflow" vert="horz" wrap="square" rtlCol="0" anchor="t">
            <a:noAutofit/>
          </a:bodyPr>
          <a:lstStyle/>
          <a:p>
            <a:pPr algn="l"/>
            <a:r>
              <a:rPr lang="en-US" sz="1500" i="1">
                <a:solidFill>
                  <a:srgbClr val="C8D1DC"/>
                </a:solidFill>
                <a:latin typeface="Futura"/>
                <a:cs typeface="Futura"/>
              </a:rPr>
              <a:t>Not what shipped · how it got there</a:t>
            </a:r>
          </a:p>
        </p:txBody>
      </p:sp>
      <p:sp>
        <p:nvSpPr>
          <p:cNvPr id="7" name="Rectangle 6">
            <a:extLst>
              <a:ext uri="{FF2B5EF4-FFF2-40B4-BE49-F238E27FC236}">
                <a16:creationId xmlns:a16="http://schemas.microsoft.com/office/drawing/2014/main" id="{3733386D-CB0A-CD45-8D13-4BE6EF5D44BC}"/>
              </a:ext>
            </a:extLst>
          </p:cNvPr>
          <p:cNvSpPr/>
          <p:nvPr/>
        </p:nvSpPr>
        <p:spPr>
          <a:xfrm>
            <a:off x="1016000" y="6223000"/>
            <a:ext cx="10160000" cy="127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27A36C63-B5E6-E74E-8FBA-87FCE2FDE3EA}"/>
              </a:ext>
            </a:extLst>
          </p:cNvPr>
          <p:cNvSpPr txBox="1"/>
          <p:nvPr/>
        </p:nvSpPr>
        <p:spPr>
          <a:xfrm>
            <a:off x="8636000" y="6413500"/>
            <a:ext cx="2540000" cy="228600"/>
          </a:xfrm>
          <a:prstGeom prst="rect">
            <a:avLst/>
          </a:prstGeom>
          <a:noFill/>
          <a:ln>
            <a:noFill/>
          </a:ln>
        </p:spPr>
        <p:txBody>
          <a:bodyPr vertOverflow="overflow" vert="horz" wrap="square" rtlCol="0" anchor="t">
            <a:noAutofit/>
          </a:bodyPr>
          <a:lstStyle/>
          <a:p>
            <a:pPr algn="l"/>
            <a:r>
              <a:rPr lang="en-US" sz="1000" b="1">
                <a:solidFill>
                  <a:srgbClr val="9AA4B2"/>
                </a:solidFill>
                <a:latin typeface="Futura"/>
                <a:cs typeface="Futura"/>
              </a:rPr>
              <a:t>SECTION 03 / 07</a:t>
            </a:r>
          </a:p>
        </p:txBody>
      </p:sp>
    </p:spTree>
    <p:extLst>
      <p:ext uri="{BB962C8B-B14F-4D97-AF65-F5344CB8AC3E}">
        <p14:creationId xmlns:p14="http://schemas.microsoft.com/office/powerpoint/2010/main" val="1446051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12CF9-613B-2941-88F7-DDE630C63C16}"/>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QUALITY SIGNALS</a:t>
            </a:r>
          </a:p>
        </p:txBody>
      </p:sp>
      <p:sp>
        <p:nvSpPr>
          <p:cNvPr id="3" name="TextBox 2">
            <a:extLst>
              <a:ext uri="{FF2B5EF4-FFF2-40B4-BE49-F238E27FC236}">
                <a16:creationId xmlns:a16="http://schemas.microsoft.com/office/drawing/2014/main" id="{1FB92FCD-DBB5-FC44-8A78-D0F500747671}"/>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Quality Trends</a:t>
            </a:r>
          </a:p>
        </p:txBody>
      </p:sp>
      <p:sp>
        <p:nvSpPr>
          <p:cNvPr id="4" name="Rectangle 3">
            <a:extLst>
              <a:ext uri="{FF2B5EF4-FFF2-40B4-BE49-F238E27FC236}">
                <a16:creationId xmlns:a16="http://schemas.microsoft.com/office/drawing/2014/main" id="{450A5AC0-946F-254F-9812-A2BCBC0C81C1}"/>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79B123DD-57B2-D446-B821-40572B63A4CD}"/>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83F29914-F1CC-614A-B00F-476AA98C2CE3}"/>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9" name="TextBox 18">
            <a:extLst>
              <a:ext uri="{FF2B5EF4-FFF2-40B4-BE49-F238E27FC236}">
                <a16:creationId xmlns:a16="http://schemas.microsoft.com/office/drawing/2014/main" id="{CD027584-9DA1-8F4B-A2CC-A4499E4347DB}"/>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0" name="TextBox 19">
            <a:extLst>
              <a:ext uri="{FF2B5EF4-FFF2-40B4-BE49-F238E27FC236}">
                <a16:creationId xmlns:a16="http://schemas.microsoft.com/office/drawing/2014/main" id="{EB485E7F-3F07-4443-915D-B1B8B3884DB8}"/>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2" name="Picture 21">
            <a:extLst>
              <a:ext uri="{FF2B5EF4-FFF2-40B4-BE49-F238E27FC236}">
                <a16:creationId xmlns:a16="http://schemas.microsoft.com/office/drawing/2014/main" id="{AE2D8D5E-2704-C3AD-38D4-BDAB402D22C9}"/>
              </a:ext>
            </a:extLst>
          </p:cNvPr>
          <p:cNvPicPr>
            <a:picLocks noChangeAspect="1"/>
          </p:cNvPicPr>
          <p:nvPr/>
        </p:nvPicPr>
        <p:blipFill>
          <a:blip r:embed="rId3"/>
          <a:stretch>
            <a:fillRect/>
          </a:stretch>
        </p:blipFill>
        <p:spPr>
          <a:xfrm>
            <a:off x="1009650" y="2305050"/>
            <a:ext cx="10172700" cy="33909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6930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199F1-A48E-14DD-C141-BA95B73B83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21C55C-BA2E-7B8D-AC3A-DF72F900600B}"/>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QUALITY SIGNALS</a:t>
            </a:r>
          </a:p>
        </p:txBody>
      </p:sp>
      <p:sp>
        <p:nvSpPr>
          <p:cNvPr id="3" name="TextBox 2">
            <a:extLst>
              <a:ext uri="{FF2B5EF4-FFF2-40B4-BE49-F238E27FC236}">
                <a16:creationId xmlns:a16="http://schemas.microsoft.com/office/drawing/2014/main" id="{8490CB0F-A9D8-86AE-E757-353C21F86E70}"/>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Quality AI Analysis</a:t>
            </a:r>
          </a:p>
        </p:txBody>
      </p:sp>
      <p:sp>
        <p:nvSpPr>
          <p:cNvPr id="4" name="Rectangle 3">
            <a:extLst>
              <a:ext uri="{FF2B5EF4-FFF2-40B4-BE49-F238E27FC236}">
                <a16:creationId xmlns:a16="http://schemas.microsoft.com/office/drawing/2014/main" id="{9D5A71B5-36F6-CE8A-2EE2-50F68E217C89}"/>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C127C187-5013-2849-E4C5-59CE6A4E68DF}"/>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C24505EA-C333-9AD7-37B3-6CB3EAE34E74}"/>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9" name="TextBox 18">
            <a:extLst>
              <a:ext uri="{FF2B5EF4-FFF2-40B4-BE49-F238E27FC236}">
                <a16:creationId xmlns:a16="http://schemas.microsoft.com/office/drawing/2014/main" id="{C2CA42A2-58B6-9866-ACE1-8F87782507DB}"/>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0" name="TextBox 19">
            <a:extLst>
              <a:ext uri="{FF2B5EF4-FFF2-40B4-BE49-F238E27FC236}">
                <a16:creationId xmlns:a16="http://schemas.microsoft.com/office/drawing/2014/main" id="{7E212D13-0516-9328-F6A7-40A7A8633015}"/>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6" name="Picture 5">
            <a:extLst>
              <a:ext uri="{FF2B5EF4-FFF2-40B4-BE49-F238E27FC236}">
                <a16:creationId xmlns:a16="http://schemas.microsoft.com/office/drawing/2014/main" id="{AF6AEA59-7C05-B716-33E8-CF6670FE368F}"/>
              </a:ext>
            </a:extLst>
          </p:cNvPr>
          <p:cNvPicPr>
            <a:picLocks noChangeAspect="1"/>
          </p:cNvPicPr>
          <p:nvPr/>
        </p:nvPicPr>
        <p:blipFill>
          <a:blip r:embed="rId3"/>
          <a:stretch>
            <a:fillRect/>
          </a:stretch>
        </p:blipFill>
        <p:spPr>
          <a:xfrm>
            <a:off x="1143000" y="1905000"/>
            <a:ext cx="7772400" cy="1697611"/>
          </a:xfrm>
          <a:prstGeom prst="rect">
            <a:avLst/>
          </a:prstGeom>
        </p:spPr>
      </p:pic>
      <p:pic>
        <p:nvPicPr>
          <p:cNvPr id="10" name="Picture 9">
            <a:extLst>
              <a:ext uri="{FF2B5EF4-FFF2-40B4-BE49-F238E27FC236}">
                <a16:creationId xmlns:a16="http://schemas.microsoft.com/office/drawing/2014/main" id="{1ED0A051-D35E-D108-6F1A-C44864F3690D}"/>
              </a:ext>
            </a:extLst>
          </p:cNvPr>
          <p:cNvPicPr>
            <a:picLocks noChangeAspect="1"/>
          </p:cNvPicPr>
          <p:nvPr/>
        </p:nvPicPr>
        <p:blipFill>
          <a:blip r:embed="rId4"/>
          <a:stretch>
            <a:fillRect/>
          </a:stretch>
        </p:blipFill>
        <p:spPr>
          <a:xfrm>
            <a:off x="1143000" y="3917922"/>
            <a:ext cx="7772400" cy="1090133"/>
          </a:xfrm>
          <a:prstGeom prst="rect">
            <a:avLst/>
          </a:prstGeom>
        </p:spPr>
      </p:pic>
    </p:spTree>
    <p:extLst>
      <p:ext uri="{BB962C8B-B14F-4D97-AF65-F5344CB8AC3E}">
        <p14:creationId xmlns:p14="http://schemas.microsoft.com/office/powerpoint/2010/main" val="1549752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D054C-861B-7AB8-E822-A6EE767BEC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209AA1-0A48-5CC3-2F6F-6D9F9CEF504A}"/>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QUALITY SIGNALS</a:t>
            </a:r>
          </a:p>
        </p:txBody>
      </p:sp>
      <p:sp>
        <p:nvSpPr>
          <p:cNvPr id="3" name="TextBox 2">
            <a:extLst>
              <a:ext uri="{FF2B5EF4-FFF2-40B4-BE49-F238E27FC236}">
                <a16:creationId xmlns:a16="http://schemas.microsoft.com/office/drawing/2014/main" id="{90C0680F-6C5D-4D4A-65F6-1AE7DB51A311}"/>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Quality AI Analysis</a:t>
            </a:r>
          </a:p>
        </p:txBody>
      </p:sp>
      <p:sp>
        <p:nvSpPr>
          <p:cNvPr id="4" name="Rectangle 3">
            <a:extLst>
              <a:ext uri="{FF2B5EF4-FFF2-40B4-BE49-F238E27FC236}">
                <a16:creationId xmlns:a16="http://schemas.microsoft.com/office/drawing/2014/main" id="{63D28298-F78A-6FCA-2E64-BA0E8C5623E9}"/>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7B6723D7-7E55-E0CA-8204-26A769028481}"/>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7F22C994-A902-F7C9-CB58-C755F6E2BEAE}"/>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9" name="TextBox 18">
            <a:extLst>
              <a:ext uri="{FF2B5EF4-FFF2-40B4-BE49-F238E27FC236}">
                <a16:creationId xmlns:a16="http://schemas.microsoft.com/office/drawing/2014/main" id="{EC43761E-92C2-CE45-DDFB-05821173C491}"/>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0" name="TextBox 19">
            <a:extLst>
              <a:ext uri="{FF2B5EF4-FFF2-40B4-BE49-F238E27FC236}">
                <a16:creationId xmlns:a16="http://schemas.microsoft.com/office/drawing/2014/main" id="{2F2CC051-FE0A-D54F-DAFF-1327AEC8ABC1}"/>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8" name="Picture 7">
            <a:extLst>
              <a:ext uri="{FF2B5EF4-FFF2-40B4-BE49-F238E27FC236}">
                <a16:creationId xmlns:a16="http://schemas.microsoft.com/office/drawing/2014/main" id="{9553A857-6BFC-0E50-E4C7-C48BCE556B57}"/>
              </a:ext>
            </a:extLst>
          </p:cNvPr>
          <p:cNvPicPr>
            <a:picLocks noChangeAspect="1"/>
          </p:cNvPicPr>
          <p:nvPr/>
        </p:nvPicPr>
        <p:blipFill>
          <a:blip r:embed="rId3"/>
          <a:stretch>
            <a:fillRect/>
          </a:stretch>
        </p:blipFill>
        <p:spPr>
          <a:xfrm>
            <a:off x="1016000" y="1880847"/>
            <a:ext cx="7772400" cy="3853747"/>
          </a:xfrm>
          <a:prstGeom prst="rect">
            <a:avLst/>
          </a:prstGeom>
        </p:spPr>
      </p:pic>
    </p:spTree>
    <p:extLst>
      <p:ext uri="{BB962C8B-B14F-4D97-AF65-F5344CB8AC3E}">
        <p14:creationId xmlns:p14="http://schemas.microsoft.com/office/powerpoint/2010/main" val="3713923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64D54-83B6-3FD3-5141-6A37E4A018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FC9399-6D60-450B-5B03-6BC2C2A36609}"/>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PR SIGNALS</a:t>
            </a:r>
          </a:p>
        </p:txBody>
      </p:sp>
      <p:sp>
        <p:nvSpPr>
          <p:cNvPr id="3" name="TextBox 2">
            <a:extLst>
              <a:ext uri="{FF2B5EF4-FFF2-40B4-BE49-F238E27FC236}">
                <a16:creationId xmlns:a16="http://schemas.microsoft.com/office/drawing/2014/main" id="{FE811173-C5D7-36A6-9F32-9D912AAF05DC}"/>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Review &amp; rework patterns</a:t>
            </a:r>
          </a:p>
        </p:txBody>
      </p:sp>
      <p:sp>
        <p:nvSpPr>
          <p:cNvPr id="4" name="Rectangle 3">
            <a:extLst>
              <a:ext uri="{FF2B5EF4-FFF2-40B4-BE49-F238E27FC236}">
                <a16:creationId xmlns:a16="http://schemas.microsoft.com/office/drawing/2014/main" id="{9F1244FC-ED0C-5AED-8B28-66E9E31001CB}"/>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7FA1F031-6204-B5CD-FABC-60978E76DE8C}"/>
              </a:ext>
            </a:extLst>
          </p:cNvPr>
          <p:cNvSpPr txBox="1"/>
          <p:nvPr/>
        </p:nvSpPr>
        <p:spPr>
          <a:xfrm>
            <a:off x="139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AVG REVIEW ROUNDS</a:t>
            </a:r>
          </a:p>
        </p:txBody>
      </p:sp>
      <p:sp>
        <p:nvSpPr>
          <p:cNvPr id="10" name="TextBox 9">
            <a:extLst>
              <a:ext uri="{FF2B5EF4-FFF2-40B4-BE49-F238E27FC236}">
                <a16:creationId xmlns:a16="http://schemas.microsoft.com/office/drawing/2014/main" id="{5C1929E0-70C0-2504-897C-29DDD58E5794}"/>
              </a:ext>
            </a:extLst>
          </p:cNvPr>
          <p:cNvSpPr txBox="1"/>
          <p:nvPr/>
        </p:nvSpPr>
        <p:spPr>
          <a:xfrm>
            <a:off x="139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Back-and-forth cycles per PR.</a:t>
            </a:r>
          </a:p>
        </p:txBody>
      </p:sp>
      <p:sp>
        <p:nvSpPr>
          <p:cNvPr id="11" name="TextBox 10">
            <a:extLst>
              <a:ext uri="{FF2B5EF4-FFF2-40B4-BE49-F238E27FC236}">
                <a16:creationId xmlns:a16="http://schemas.microsoft.com/office/drawing/2014/main" id="{5820EB24-0707-0478-A577-B0BC80DA839A}"/>
              </a:ext>
            </a:extLst>
          </p:cNvPr>
          <p:cNvSpPr txBox="1"/>
          <p:nvPr/>
        </p:nvSpPr>
        <p:spPr>
          <a:xfrm>
            <a:off x="393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MERGE</a:t>
            </a:r>
          </a:p>
        </p:txBody>
      </p:sp>
      <p:sp>
        <p:nvSpPr>
          <p:cNvPr id="12" name="TextBox 11">
            <a:extLst>
              <a:ext uri="{FF2B5EF4-FFF2-40B4-BE49-F238E27FC236}">
                <a16:creationId xmlns:a16="http://schemas.microsoft.com/office/drawing/2014/main" id="{07781397-8FC4-6213-2134-3519B4F24F28}"/>
              </a:ext>
            </a:extLst>
          </p:cNvPr>
          <p:cNvSpPr txBox="1"/>
          <p:nvPr/>
        </p:nvSpPr>
        <p:spPr>
          <a:xfrm>
            <a:off x="393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PR open → merged.</a:t>
            </a:r>
          </a:p>
        </p:txBody>
      </p:sp>
      <p:sp>
        <p:nvSpPr>
          <p:cNvPr id="13" name="TextBox 12">
            <a:extLst>
              <a:ext uri="{FF2B5EF4-FFF2-40B4-BE49-F238E27FC236}">
                <a16:creationId xmlns:a16="http://schemas.microsoft.com/office/drawing/2014/main" id="{90E1BF53-5E44-CDAC-926C-D8821FC8E0DA}"/>
              </a:ext>
            </a:extLst>
          </p:cNvPr>
          <p:cNvSpPr txBox="1"/>
          <p:nvPr/>
        </p:nvSpPr>
        <p:spPr>
          <a:xfrm>
            <a:off x="647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CHANGES REQUESTED</a:t>
            </a:r>
          </a:p>
        </p:txBody>
      </p:sp>
      <p:sp>
        <p:nvSpPr>
          <p:cNvPr id="14" name="TextBox 13">
            <a:extLst>
              <a:ext uri="{FF2B5EF4-FFF2-40B4-BE49-F238E27FC236}">
                <a16:creationId xmlns:a16="http://schemas.microsoft.com/office/drawing/2014/main" id="{083D206C-FFB1-69C1-2402-35EC2D118195}"/>
              </a:ext>
            </a:extLst>
          </p:cNvPr>
          <p:cNvSpPr txBox="1"/>
          <p:nvPr/>
        </p:nvSpPr>
        <p:spPr>
          <a:xfrm>
            <a:off x="647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 of PRs pushed back.</a:t>
            </a:r>
          </a:p>
        </p:txBody>
      </p:sp>
      <p:sp>
        <p:nvSpPr>
          <p:cNvPr id="15" name="TextBox 14">
            <a:extLst>
              <a:ext uri="{FF2B5EF4-FFF2-40B4-BE49-F238E27FC236}">
                <a16:creationId xmlns:a16="http://schemas.microsoft.com/office/drawing/2014/main" id="{A8036E11-AA2E-9DDB-7FCC-3C5CC7567595}"/>
              </a:ext>
            </a:extLst>
          </p:cNvPr>
          <p:cNvSpPr txBox="1"/>
          <p:nvPr/>
        </p:nvSpPr>
        <p:spPr>
          <a:xfrm>
            <a:off x="901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FIRST REVIEW</a:t>
            </a:r>
          </a:p>
        </p:txBody>
      </p:sp>
      <p:sp>
        <p:nvSpPr>
          <p:cNvPr id="16" name="TextBox 15">
            <a:extLst>
              <a:ext uri="{FF2B5EF4-FFF2-40B4-BE49-F238E27FC236}">
                <a16:creationId xmlns:a16="http://schemas.microsoft.com/office/drawing/2014/main" id="{E501ECA5-86F0-8CAF-3969-8DC34F3723BA}"/>
              </a:ext>
            </a:extLst>
          </p:cNvPr>
          <p:cNvSpPr txBox="1"/>
          <p:nvPr/>
        </p:nvSpPr>
        <p:spPr>
          <a:xfrm>
            <a:off x="901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Collaboration health.</a:t>
            </a:r>
          </a:p>
        </p:txBody>
      </p:sp>
      <p:sp>
        <p:nvSpPr>
          <p:cNvPr id="17" name="Rectangle 16">
            <a:extLst>
              <a:ext uri="{FF2B5EF4-FFF2-40B4-BE49-F238E27FC236}">
                <a16:creationId xmlns:a16="http://schemas.microsoft.com/office/drawing/2014/main" id="{461685B2-B4C9-D165-CB62-D92E3E0B060B}"/>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C37BD836-C9EF-A5B2-1DB9-29D0A86A97F4}"/>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9" name="TextBox 18">
            <a:extLst>
              <a:ext uri="{FF2B5EF4-FFF2-40B4-BE49-F238E27FC236}">
                <a16:creationId xmlns:a16="http://schemas.microsoft.com/office/drawing/2014/main" id="{C543E61C-633A-FFC4-7F08-535C188E1E31}"/>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0" name="TextBox 19">
            <a:extLst>
              <a:ext uri="{FF2B5EF4-FFF2-40B4-BE49-F238E27FC236}">
                <a16:creationId xmlns:a16="http://schemas.microsoft.com/office/drawing/2014/main" id="{33EFEB31-1599-3A13-6E40-1C7C8C33AE98}"/>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2" name="Picture 21">
            <a:extLst>
              <a:ext uri="{FF2B5EF4-FFF2-40B4-BE49-F238E27FC236}">
                <a16:creationId xmlns:a16="http://schemas.microsoft.com/office/drawing/2014/main" id="{D468A933-55E1-82C1-5EE0-430D0D9F3938}"/>
              </a:ext>
            </a:extLst>
          </p:cNvPr>
          <p:cNvPicPr>
            <a:picLocks noChangeAspect="1"/>
          </p:cNvPicPr>
          <p:nvPr/>
        </p:nvPicPr>
        <p:blipFill>
          <a:blip r:embed="rId3"/>
          <a:stretch>
            <a:fillRect/>
          </a:stretch>
        </p:blipFill>
        <p:spPr>
          <a:xfrm>
            <a:off x="2209800" y="2012117"/>
            <a:ext cx="7772400" cy="289726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563560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92374-292E-4F5C-06F0-B09A3C5BB4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B6DFE6-4BFC-02E2-7E79-CD3D28B10AE0}"/>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PR SIGNALS</a:t>
            </a:r>
          </a:p>
        </p:txBody>
      </p:sp>
      <p:sp>
        <p:nvSpPr>
          <p:cNvPr id="3" name="TextBox 2">
            <a:extLst>
              <a:ext uri="{FF2B5EF4-FFF2-40B4-BE49-F238E27FC236}">
                <a16:creationId xmlns:a16="http://schemas.microsoft.com/office/drawing/2014/main" id="{17E0153D-9389-E554-3C9E-F0B8E071D004}"/>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Review &amp; rework patterns</a:t>
            </a:r>
          </a:p>
        </p:txBody>
      </p:sp>
      <p:sp>
        <p:nvSpPr>
          <p:cNvPr id="4" name="Rectangle 3">
            <a:extLst>
              <a:ext uri="{FF2B5EF4-FFF2-40B4-BE49-F238E27FC236}">
                <a16:creationId xmlns:a16="http://schemas.microsoft.com/office/drawing/2014/main" id="{99C1B10C-4B93-0A9B-EA19-F0BEB96CCC57}"/>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C95D5859-7BF6-1BF0-33C5-E10CF291EFE0}"/>
              </a:ext>
            </a:extLst>
          </p:cNvPr>
          <p:cNvSpPr txBox="1"/>
          <p:nvPr/>
        </p:nvSpPr>
        <p:spPr>
          <a:xfrm>
            <a:off x="139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AVG REVIEW ROUNDS</a:t>
            </a:r>
          </a:p>
        </p:txBody>
      </p:sp>
      <p:sp>
        <p:nvSpPr>
          <p:cNvPr id="10" name="TextBox 9">
            <a:extLst>
              <a:ext uri="{FF2B5EF4-FFF2-40B4-BE49-F238E27FC236}">
                <a16:creationId xmlns:a16="http://schemas.microsoft.com/office/drawing/2014/main" id="{FCFF12FF-9C63-ACCB-9439-CEBC7B6ECD6D}"/>
              </a:ext>
            </a:extLst>
          </p:cNvPr>
          <p:cNvSpPr txBox="1"/>
          <p:nvPr/>
        </p:nvSpPr>
        <p:spPr>
          <a:xfrm>
            <a:off x="139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Back-and-forth cycles per PR.</a:t>
            </a:r>
          </a:p>
        </p:txBody>
      </p:sp>
      <p:sp>
        <p:nvSpPr>
          <p:cNvPr id="11" name="TextBox 10">
            <a:extLst>
              <a:ext uri="{FF2B5EF4-FFF2-40B4-BE49-F238E27FC236}">
                <a16:creationId xmlns:a16="http://schemas.microsoft.com/office/drawing/2014/main" id="{54DD8835-5728-5CC5-CC12-E2E9B0E8A509}"/>
              </a:ext>
            </a:extLst>
          </p:cNvPr>
          <p:cNvSpPr txBox="1"/>
          <p:nvPr/>
        </p:nvSpPr>
        <p:spPr>
          <a:xfrm>
            <a:off x="393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MERGE</a:t>
            </a:r>
          </a:p>
        </p:txBody>
      </p:sp>
      <p:sp>
        <p:nvSpPr>
          <p:cNvPr id="12" name="TextBox 11">
            <a:extLst>
              <a:ext uri="{FF2B5EF4-FFF2-40B4-BE49-F238E27FC236}">
                <a16:creationId xmlns:a16="http://schemas.microsoft.com/office/drawing/2014/main" id="{4ACAEB19-6934-456F-D58C-8B7D887F560C}"/>
              </a:ext>
            </a:extLst>
          </p:cNvPr>
          <p:cNvSpPr txBox="1"/>
          <p:nvPr/>
        </p:nvSpPr>
        <p:spPr>
          <a:xfrm>
            <a:off x="393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PR open → merged.</a:t>
            </a:r>
          </a:p>
        </p:txBody>
      </p:sp>
      <p:sp>
        <p:nvSpPr>
          <p:cNvPr id="13" name="TextBox 12">
            <a:extLst>
              <a:ext uri="{FF2B5EF4-FFF2-40B4-BE49-F238E27FC236}">
                <a16:creationId xmlns:a16="http://schemas.microsoft.com/office/drawing/2014/main" id="{FD674779-E567-FF81-52BA-C6E06BE89CDF}"/>
              </a:ext>
            </a:extLst>
          </p:cNvPr>
          <p:cNvSpPr txBox="1"/>
          <p:nvPr/>
        </p:nvSpPr>
        <p:spPr>
          <a:xfrm>
            <a:off x="647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CHANGES REQUESTED</a:t>
            </a:r>
          </a:p>
        </p:txBody>
      </p:sp>
      <p:sp>
        <p:nvSpPr>
          <p:cNvPr id="14" name="TextBox 13">
            <a:extLst>
              <a:ext uri="{FF2B5EF4-FFF2-40B4-BE49-F238E27FC236}">
                <a16:creationId xmlns:a16="http://schemas.microsoft.com/office/drawing/2014/main" id="{0803FB4D-5929-680B-95D9-31EB6397F022}"/>
              </a:ext>
            </a:extLst>
          </p:cNvPr>
          <p:cNvSpPr txBox="1"/>
          <p:nvPr/>
        </p:nvSpPr>
        <p:spPr>
          <a:xfrm>
            <a:off x="647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 of PRs pushed back.</a:t>
            </a:r>
          </a:p>
        </p:txBody>
      </p:sp>
      <p:sp>
        <p:nvSpPr>
          <p:cNvPr id="15" name="TextBox 14">
            <a:extLst>
              <a:ext uri="{FF2B5EF4-FFF2-40B4-BE49-F238E27FC236}">
                <a16:creationId xmlns:a16="http://schemas.microsoft.com/office/drawing/2014/main" id="{A4D1F53E-3EE9-8091-3958-5AF01EFCC2DD}"/>
              </a:ext>
            </a:extLst>
          </p:cNvPr>
          <p:cNvSpPr txBox="1"/>
          <p:nvPr/>
        </p:nvSpPr>
        <p:spPr>
          <a:xfrm>
            <a:off x="901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FIRST REVIEW</a:t>
            </a:r>
          </a:p>
        </p:txBody>
      </p:sp>
      <p:sp>
        <p:nvSpPr>
          <p:cNvPr id="16" name="TextBox 15">
            <a:extLst>
              <a:ext uri="{FF2B5EF4-FFF2-40B4-BE49-F238E27FC236}">
                <a16:creationId xmlns:a16="http://schemas.microsoft.com/office/drawing/2014/main" id="{7FA532AD-FEA2-AA54-FE7A-B29893CB5CCF}"/>
              </a:ext>
            </a:extLst>
          </p:cNvPr>
          <p:cNvSpPr txBox="1"/>
          <p:nvPr/>
        </p:nvSpPr>
        <p:spPr>
          <a:xfrm>
            <a:off x="901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Collaboration health.</a:t>
            </a:r>
          </a:p>
        </p:txBody>
      </p:sp>
      <p:sp>
        <p:nvSpPr>
          <p:cNvPr id="17" name="Rectangle 16">
            <a:extLst>
              <a:ext uri="{FF2B5EF4-FFF2-40B4-BE49-F238E27FC236}">
                <a16:creationId xmlns:a16="http://schemas.microsoft.com/office/drawing/2014/main" id="{309C457D-7E4E-CD40-FA32-CF3019A6A922}"/>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351F4FA4-1EBC-238D-7B58-BBA8F1613272}"/>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9" name="TextBox 18">
            <a:extLst>
              <a:ext uri="{FF2B5EF4-FFF2-40B4-BE49-F238E27FC236}">
                <a16:creationId xmlns:a16="http://schemas.microsoft.com/office/drawing/2014/main" id="{94E9E02D-1420-5A0C-4BE9-32AF4E97BA9C}"/>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0" name="TextBox 19">
            <a:extLst>
              <a:ext uri="{FF2B5EF4-FFF2-40B4-BE49-F238E27FC236}">
                <a16:creationId xmlns:a16="http://schemas.microsoft.com/office/drawing/2014/main" id="{2FD9499D-5719-72AE-2959-408E34EDF9FA}"/>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2" name="Picture 21">
            <a:extLst>
              <a:ext uri="{FF2B5EF4-FFF2-40B4-BE49-F238E27FC236}">
                <a16:creationId xmlns:a16="http://schemas.microsoft.com/office/drawing/2014/main" id="{A7BEAB03-50D3-16F8-78BE-109EA1A340CF}"/>
              </a:ext>
            </a:extLst>
          </p:cNvPr>
          <p:cNvPicPr>
            <a:picLocks noChangeAspect="1"/>
          </p:cNvPicPr>
          <p:nvPr/>
        </p:nvPicPr>
        <p:blipFill>
          <a:blip r:embed="rId3"/>
          <a:srcRect/>
          <a:stretch/>
        </p:blipFill>
        <p:spPr>
          <a:xfrm>
            <a:off x="2209801" y="2012117"/>
            <a:ext cx="7772398" cy="289726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87437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C0C36-8072-FF0B-0EE5-1D093D82BD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35E16A-46F6-B986-3EFD-E63859D59C0E}"/>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PR SIGNALS</a:t>
            </a:r>
          </a:p>
        </p:txBody>
      </p:sp>
      <p:sp>
        <p:nvSpPr>
          <p:cNvPr id="3" name="TextBox 2">
            <a:extLst>
              <a:ext uri="{FF2B5EF4-FFF2-40B4-BE49-F238E27FC236}">
                <a16:creationId xmlns:a16="http://schemas.microsoft.com/office/drawing/2014/main" id="{E95A6532-B86E-3DA2-3C22-479FD20227C9}"/>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Review &amp; rework patterns</a:t>
            </a:r>
          </a:p>
        </p:txBody>
      </p:sp>
      <p:sp>
        <p:nvSpPr>
          <p:cNvPr id="4" name="Rectangle 3">
            <a:extLst>
              <a:ext uri="{FF2B5EF4-FFF2-40B4-BE49-F238E27FC236}">
                <a16:creationId xmlns:a16="http://schemas.microsoft.com/office/drawing/2014/main" id="{3985B8C0-78FB-4DE1-7301-96448FEF7F34}"/>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03D80B90-37D9-3BC6-7E90-179BEDD4E84A}"/>
              </a:ext>
            </a:extLst>
          </p:cNvPr>
          <p:cNvSpPr txBox="1"/>
          <p:nvPr/>
        </p:nvSpPr>
        <p:spPr>
          <a:xfrm>
            <a:off x="139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AVG REVIEW ROUNDS</a:t>
            </a:r>
          </a:p>
        </p:txBody>
      </p:sp>
      <p:sp>
        <p:nvSpPr>
          <p:cNvPr id="10" name="TextBox 9">
            <a:extLst>
              <a:ext uri="{FF2B5EF4-FFF2-40B4-BE49-F238E27FC236}">
                <a16:creationId xmlns:a16="http://schemas.microsoft.com/office/drawing/2014/main" id="{A5C02776-9246-1B48-9AC1-EE6671756537}"/>
              </a:ext>
            </a:extLst>
          </p:cNvPr>
          <p:cNvSpPr txBox="1"/>
          <p:nvPr/>
        </p:nvSpPr>
        <p:spPr>
          <a:xfrm>
            <a:off x="139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Back-and-forth cycles per PR.</a:t>
            </a:r>
          </a:p>
        </p:txBody>
      </p:sp>
      <p:sp>
        <p:nvSpPr>
          <p:cNvPr id="11" name="TextBox 10">
            <a:extLst>
              <a:ext uri="{FF2B5EF4-FFF2-40B4-BE49-F238E27FC236}">
                <a16:creationId xmlns:a16="http://schemas.microsoft.com/office/drawing/2014/main" id="{66EE140A-B8F9-904C-954A-0E154B0436A4}"/>
              </a:ext>
            </a:extLst>
          </p:cNvPr>
          <p:cNvSpPr txBox="1"/>
          <p:nvPr/>
        </p:nvSpPr>
        <p:spPr>
          <a:xfrm>
            <a:off x="393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MERGE</a:t>
            </a:r>
          </a:p>
        </p:txBody>
      </p:sp>
      <p:sp>
        <p:nvSpPr>
          <p:cNvPr id="12" name="TextBox 11">
            <a:extLst>
              <a:ext uri="{FF2B5EF4-FFF2-40B4-BE49-F238E27FC236}">
                <a16:creationId xmlns:a16="http://schemas.microsoft.com/office/drawing/2014/main" id="{8671EF88-AC85-9640-3E7E-3FF46F03D406}"/>
              </a:ext>
            </a:extLst>
          </p:cNvPr>
          <p:cNvSpPr txBox="1"/>
          <p:nvPr/>
        </p:nvSpPr>
        <p:spPr>
          <a:xfrm>
            <a:off x="393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PR open → merged.</a:t>
            </a:r>
          </a:p>
        </p:txBody>
      </p:sp>
      <p:sp>
        <p:nvSpPr>
          <p:cNvPr id="13" name="TextBox 12">
            <a:extLst>
              <a:ext uri="{FF2B5EF4-FFF2-40B4-BE49-F238E27FC236}">
                <a16:creationId xmlns:a16="http://schemas.microsoft.com/office/drawing/2014/main" id="{3A136398-7963-8694-1835-0DA65FAF583E}"/>
              </a:ext>
            </a:extLst>
          </p:cNvPr>
          <p:cNvSpPr txBox="1"/>
          <p:nvPr/>
        </p:nvSpPr>
        <p:spPr>
          <a:xfrm>
            <a:off x="647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CHANGES REQUESTED</a:t>
            </a:r>
          </a:p>
        </p:txBody>
      </p:sp>
      <p:sp>
        <p:nvSpPr>
          <p:cNvPr id="14" name="TextBox 13">
            <a:extLst>
              <a:ext uri="{FF2B5EF4-FFF2-40B4-BE49-F238E27FC236}">
                <a16:creationId xmlns:a16="http://schemas.microsoft.com/office/drawing/2014/main" id="{573E09A7-DA73-0606-82C3-BB643715500D}"/>
              </a:ext>
            </a:extLst>
          </p:cNvPr>
          <p:cNvSpPr txBox="1"/>
          <p:nvPr/>
        </p:nvSpPr>
        <p:spPr>
          <a:xfrm>
            <a:off x="647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 of PRs pushed back.</a:t>
            </a:r>
          </a:p>
        </p:txBody>
      </p:sp>
      <p:sp>
        <p:nvSpPr>
          <p:cNvPr id="15" name="TextBox 14">
            <a:extLst>
              <a:ext uri="{FF2B5EF4-FFF2-40B4-BE49-F238E27FC236}">
                <a16:creationId xmlns:a16="http://schemas.microsoft.com/office/drawing/2014/main" id="{7C3D4622-3705-DC7A-5CEA-04B3A956123E}"/>
              </a:ext>
            </a:extLst>
          </p:cNvPr>
          <p:cNvSpPr txBox="1"/>
          <p:nvPr/>
        </p:nvSpPr>
        <p:spPr>
          <a:xfrm>
            <a:off x="901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FIRST REVIEW</a:t>
            </a:r>
          </a:p>
        </p:txBody>
      </p:sp>
      <p:sp>
        <p:nvSpPr>
          <p:cNvPr id="16" name="TextBox 15">
            <a:extLst>
              <a:ext uri="{FF2B5EF4-FFF2-40B4-BE49-F238E27FC236}">
                <a16:creationId xmlns:a16="http://schemas.microsoft.com/office/drawing/2014/main" id="{54C9FBD0-E909-2C47-8501-6C9DA58852AF}"/>
              </a:ext>
            </a:extLst>
          </p:cNvPr>
          <p:cNvSpPr txBox="1"/>
          <p:nvPr/>
        </p:nvSpPr>
        <p:spPr>
          <a:xfrm>
            <a:off x="901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Collaboration health.</a:t>
            </a:r>
          </a:p>
        </p:txBody>
      </p:sp>
      <p:sp>
        <p:nvSpPr>
          <p:cNvPr id="17" name="Rectangle 16">
            <a:extLst>
              <a:ext uri="{FF2B5EF4-FFF2-40B4-BE49-F238E27FC236}">
                <a16:creationId xmlns:a16="http://schemas.microsoft.com/office/drawing/2014/main" id="{FFACDCBE-3054-BA18-1538-FEF7B7B594BD}"/>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C5DEEC76-439B-80FF-1695-9BB3D6F44B68}"/>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9" name="TextBox 18">
            <a:extLst>
              <a:ext uri="{FF2B5EF4-FFF2-40B4-BE49-F238E27FC236}">
                <a16:creationId xmlns:a16="http://schemas.microsoft.com/office/drawing/2014/main" id="{F4AB31D3-D198-3CA1-9DC9-1A563788E985}"/>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0" name="TextBox 19">
            <a:extLst>
              <a:ext uri="{FF2B5EF4-FFF2-40B4-BE49-F238E27FC236}">
                <a16:creationId xmlns:a16="http://schemas.microsoft.com/office/drawing/2014/main" id="{AC4A3AC1-CFA1-5EDC-8B84-0798389B2387}"/>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2" name="Picture 21">
            <a:extLst>
              <a:ext uri="{FF2B5EF4-FFF2-40B4-BE49-F238E27FC236}">
                <a16:creationId xmlns:a16="http://schemas.microsoft.com/office/drawing/2014/main" id="{90F9AEE0-8681-8A88-F564-B728CA39E11B}"/>
              </a:ext>
            </a:extLst>
          </p:cNvPr>
          <p:cNvPicPr>
            <a:picLocks noChangeAspect="1"/>
          </p:cNvPicPr>
          <p:nvPr/>
        </p:nvPicPr>
        <p:blipFill>
          <a:blip r:embed="rId3"/>
          <a:srcRect/>
          <a:stretch/>
        </p:blipFill>
        <p:spPr>
          <a:xfrm>
            <a:off x="2209801" y="2012117"/>
            <a:ext cx="7772398" cy="289726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566193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9C7D1-188A-408F-0E58-AFA8DB0FC2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6FDB22-C54C-F9C1-D393-B60BAA3D72E4}"/>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PR SIGNALS</a:t>
            </a:r>
          </a:p>
        </p:txBody>
      </p:sp>
      <p:sp>
        <p:nvSpPr>
          <p:cNvPr id="3" name="TextBox 2">
            <a:extLst>
              <a:ext uri="{FF2B5EF4-FFF2-40B4-BE49-F238E27FC236}">
                <a16:creationId xmlns:a16="http://schemas.microsoft.com/office/drawing/2014/main" id="{693C4E97-4A1E-A879-FEE9-DFACA8973E97}"/>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Review &amp; rework patterns</a:t>
            </a:r>
          </a:p>
        </p:txBody>
      </p:sp>
      <p:sp>
        <p:nvSpPr>
          <p:cNvPr id="4" name="Rectangle 3">
            <a:extLst>
              <a:ext uri="{FF2B5EF4-FFF2-40B4-BE49-F238E27FC236}">
                <a16:creationId xmlns:a16="http://schemas.microsoft.com/office/drawing/2014/main" id="{7E7DED98-A111-CBC4-418B-435F0F6C634E}"/>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963AE052-A2D4-BF46-22E2-3DD4915DB018}"/>
              </a:ext>
            </a:extLst>
          </p:cNvPr>
          <p:cNvSpPr txBox="1"/>
          <p:nvPr/>
        </p:nvSpPr>
        <p:spPr>
          <a:xfrm>
            <a:off x="139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AVG REVIEW ROUNDS</a:t>
            </a:r>
          </a:p>
        </p:txBody>
      </p:sp>
      <p:sp>
        <p:nvSpPr>
          <p:cNvPr id="10" name="TextBox 9">
            <a:extLst>
              <a:ext uri="{FF2B5EF4-FFF2-40B4-BE49-F238E27FC236}">
                <a16:creationId xmlns:a16="http://schemas.microsoft.com/office/drawing/2014/main" id="{408E4F49-9805-B4D1-2D76-E985DC647FA0}"/>
              </a:ext>
            </a:extLst>
          </p:cNvPr>
          <p:cNvSpPr txBox="1"/>
          <p:nvPr/>
        </p:nvSpPr>
        <p:spPr>
          <a:xfrm>
            <a:off x="139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Back-and-forth cycles per PR.</a:t>
            </a:r>
          </a:p>
        </p:txBody>
      </p:sp>
      <p:sp>
        <p:nvSpPr>
          <p:cNvPr id="11" name="TextBox 10">
            <a:extLst>
              <a:ext uri="{FF2B5EF4-FFF2-40B4-BE49-F238E27FC236}">
                <a16:creationId xmlns:a16="http://schemas.microsoft.com/office/drawing/2014/main" id="{2FB7B85F-A5DF-51CB-F657-D8C1805F2121}"/>
              </a:ext>
            </a:extLst>
          </p:cNvPr>
          <p:cNvSpPr txBox="1"/>
          <p:nvPr/>
        </p:nvSpPr>
        <p:spPr>
          <a:xfrm>
            <a:off x="393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MERGE</a:t>
            </a:r>
          </a:p>
        </p:txBody>
      </p:sp>
      <p:sp>
        <p:nvSpPr>
          <p:cNvPr id="12" name="TextBox 11">
            <a:extLst>
              <a:ext uri="{FF2B5EF4-FFF2-40B4-BE49-F238E27FC236}">
                <a16:creationId xmlns:a16="http://schemas.microsoft.com/office/drawing/2014/main" id="{2745F695-6BD1-1964-6B23-FA66A656B598}"/>
              </a:ext>
            </a:extLst>
          </p:cNvPr>
          <p:cNvSpPr txBox="1"/>
          <p:nvPr/>
        </p:nvSpPr>
        <p:spPr>
          <a:xfrm>
            <a:off x="393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PR open → merged.</a:t>
            </a:r>
          </a:p>
        </p:txBody>
      </p:sp>
      <p:sp>
        <p:nvSpPr>
          <p:cNvPr id="13" name="TextBox 12">
            <a:extLst>
              <a:ext uri="{FF2B5EF4-FFF2-40B4-BE49-F238E27FC236}">
                <a16:creationId xmlns:a16="http://schemas.microsoft.com/office/drawing/2014/main" id="{EDE323F1-0AFE-7B06-6ACF-9E81A2972419}"/>
              </a:ext>
            </a:extLst>
          </p:cNvPr>
          <p:cNvSpPr txBox="1"/>
          <p:nvPr/>
        </p:nvSpPr>
        <p:spPr>
          <a:xfrm>
            <a:off x="647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CHANGES REQUESTED</a:t>
            </a:r>
          </a:p>
        </p:txBody>
      </p:sp>
      <p:sp>
        <p:nvSpPr>
          <p:cNvPr id="14" name="TextBox 13">
            <a:extLst>
              <a:ext uri="{FF2B5EF4-FFF2-40B4-BE49-F238E27FC236}">
                <a16:creationId xmlns:a16="http://schemas.microsoft.com/office/drawing/2014/main" id="{0C6DE656-37AD-26A9-B0B9-4FFCA662CB9E}"/>
              </a:ext>
            </a:extLst>
          </p:cNvPr>
          <p:cNvSpPr txBox="1"/>
          <p:nvPr/>
        </p:nvSpPr>
        <p:spPr>
          <a:xfrm>
            <a:off x="647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 of PRs pushed back.</a:t>
            </a:r>
          </a:p>
        </p:txBody>
      </p:sp>
      <p:sp>
        <p:nvSpPr>
          <p:cNvPr id="15" name="TextBox 14">
            <a:extLst>
              <a:ext uri="{FF2B5EF4-FFF2-40B4-BE49-F238E27FC236}">
                <a16:creationId xmlns:a16="http://schemas.microsoft.com/office/drawing/2014/main" id="{743876E9-3AA3-79A9-C39A-88880FD09411}"/>
              </a:ext>
            </a:extLst>
          </p:cNvPr>
          <p:cNvSpPr txBox="1"/>
          <p:nvPr/>
        </p:nvSpPr>
        <p:spPr>
          <a:xfrm>
            <a:off x="9017000" y="5334000"/>
            <a:ext cx="2413000" cy="2032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  TIME TO FIRST REVIEW</a:t>
            </a:r>
          </a:p>
        </p:txBody>
      </p:sp>
      <p:sp>
        <p:nvSpPr>
          <p:cNvPr id="16" name="TextBox 15">
            <a:extLst>
              <a:ext uri="{FF2B5EF4-FFF2-40B4-BE49-F238E27FC236}">
                <a16:creationId xmlns:a16="http://schemas.microsoft.com/office/drawing/2014/main" id="{4C664028-784A-24CB-5F12-B86E5B33A3F0}"/>
              </a:ext>
            </a:extLst>
          </p:cNvPr>
          <p:cNvSpPr txBox="1"/>
          <p:nvPr/>
        </p:nvSpPr>
        <p:spPr>
          <a:xfrm>
            <a:off x="9017000" y="5588000"/>
            <a:ext cx="2413000" cy="508000"/>
          </a:xfrm>
          <a:prstGeom prst="rect">
            <a:avLst/>
          </a:prstGeom>
          <a:noFill/>
          <a:ln>
            <a:noFill/>
          </a:ln>
        </p:spPr>
        <p:txBody>
          <a:bodyPr vertOverflow="overflow" vert="horz" wrap="square" rtlCol="0" anchor="t">
            <a:noAutofit/>
          </a:bodyPr>
          <a:lstStyle/>
          <a:p>
            <a:pPr algn="l"/>
            <a:r>
              <a:rPr lang="en-US" sz="1100">
                <a:solidFill>
                  <a:srgbClr val="4A5663"/>
                </a:solidFill>
                <a:latin typeface="Futura"/>
                <a:cs typeface="Futura"/>
              </a:rPr>
              <a:t>Collaboration health.</a:t>
            </a:r>
          </a:p>
        </p:txBody>
      </p:sp>
      <p:sp>
        <p:nvSpPr>
          <p:cNvPr id="17" name="Rectangle 16">
            <a:extLst>
              <a:ext uri="{FF2B5EF4-FFF2-40B4-BE49-F238E27FC236}">
                <a16:creationId xmlns:a16="http://schemas.microsoft.com/office/drawing/2014/main" id="{53927951-265A-0C2B-BE4E-E676069507E0}"/>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E98D5B12-A8EE-264A-5EC9-1FF52C7CC551}"/>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19" name="TextBox 18">
            <a:extLst>
              <a:ext uri="{FF2B5EF4-FFF2-40B4-BE49-F238E27FC236}">
                <a16:creationId xmlns:a16="http://schemas.microsoft.com/office/drawing/2014/main" id="{31268855-811A-BC14-B334-D30D51204199}"/>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0" name="TextBox 19">
            <a:extLst>
              <a:ext uri="{FF2B5EF4-FFF2-40B4-BE49-F238E27FC236}">
                <a16:creationId xmlns:a16="http://schemas.microsoft.com/office/drawing/2014/main" id="{48250BCE-27BE-ACF0-C10A-A9D63D39B7D0}"/>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2" name="Picture 21">
            <a:extLst>
              <a:ext uri="{FF2B5EF4-FFF2-40B4-BE49-F238E27FC236}">
                <a16:creationId xmlns:a16="http://schemas.microsoft.com/office/drawing/2014/main" id="{7A1DFDF5-42C4-8C55-D0E7-4DF8C7D590A3}"/>
              </a:ext>
            </a:extLst>
          </p:cNvPr>
          <p:cNvPicPr>
            <a:picLocks noChangeAspect="1"/>
          </p:cNvPicPr>
          <p:nvPr/>
        </p:nvPicPr>
        <p:blipFill>
          <a:blip r:embed="rId3"/>
          <a:srcRect/>
          <a:stretch/>
        </p:blipFill>
        <p:spPr>
          <a:xfrm>
            <a:off x="2209801" y="2012117"/>
            <a:ext cx="7772398" cy="289726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721091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F40565-AF14-C745-A109-0F865FD18EDB}"/>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0CD9E26A-4511-9045-A80A-5E94DBFFC231}"/>
              </a:ext>
            </a:extLst>
          </p:cNvPr>
          <p:cNvSpPr txBox="1"/>
          <p:nvPr/>
        </p:nvSpPr>
        <p:spPr>
          <a:xfrm>
            <a:off x="1016000" y="2286000"/>
            <a:ext cx="2540000" cy="381000"/>
          </a:xfrm>
          <a:prstGeom prst="rect">
            <a:avLst/>
          </a:prstGeom>
          <a:noFill/>
          <a:ln>
            <a:noFill/>
          </a:ln>
        </p:spPr>
        <p:txBody>
          <a:bodyPr vertOverflow="overflow" vert="horz" wrap="square" rtlCol="0" anchor="t">
            <a:noAutofit/>
          </a:bodyPr>
          <a:lstStyle/>
          <a:p>
            <a:pPr algn="l"/>
            <a:r>
              <a:rPr lang="en-US" sz="1400" b="1">
                <a:solidFill>
                  <a:srgbClr val="F79226"/>
                </a:solidFill>
                <a:latin typeface="Futura"/>
                <a:cs typeface="Futura"/>
              </a:rPr>
              <a:t>04</a:t>
            </a:r>
          </a:p>
        </p:txBody>
      </p:sp>
      <p:sp>
        <p:nvSpPr>
          <p:cNvPr id="4" name="Rectangle 3">
            <a:extLst>
              <a:ext uri="{FF2B5EF4-FFF2-40B4-BE49-F238E27FC236}">
                <a16:creationId xmlns:a16="http://schemas.microsoft.com/office/drawing/2014/main" id="{449A9971-564A-0347-8EDE-49A8D7BF4A76}"/>
              </a:ext>
            </a:extLst>
          </p:cNvPr>
          <p:cNvSpPr/>
          <p:nvPr/>
        </p:nvSpPr>
        <p:spPr>
          <a:xfrm>
            <a:off x="1016000" y="2730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11981239-5F02-6841-A644-A731EA97C42E}"/>
              </a:ext>
            </a:extLst>
          </p:cNvPr>
          <p:cNvSpPr txBox="1"/>
          <p:nvPr/>
        </p:nvSpPr>
        <p:spPr>
          <a:xfrm>
            <a:off x="1016000" y="3048000"/>
            <a:ext cx="10160000" cy="914400"/>
          </a:xfrm>
          <a:prstGeom prst="rect">
            <a:avLst/>
          </a:prstGeom>
          <a:noFill/>
          <a:ln>
            <a:noFill/>
          </a:ln>
        </p:spPr>
        <p:txBody>
          <a:bodyPr vertOverflow="overflow" vert="horz" wrap="square" rtlCol="0" anchor="t">
            <a:noAutofit/>
          </a:bodyPr>
          <a:lstStyle/>
          <a:p>
            <a:pPr algn="l"/>
            <a:r>
              <a:rPr lang="en-US" sz="3400" b="1">
                <a:solidFill>
                  <a:srgbClr val="FFFFFF"/>
                </a:solidFill>
                <a:latin typeface="Futura"/>
                <a:cs typeface="Futura"/>
              </a:rPr>
              <a:t>AI-ASSISTED QUALITY ANALYSIS,
RESPONSIBLY</a:t>
            </a:r>
          </a:p>
        </p:txBody>
      </p:sp>
      <p:sp>
        <p:nvSpPr>
          <p:cNvPr id="6" name="TextBox 5">
            <a:extLst>
              <a:ext uri="{FF2B5EF4-FFF2-40B4-BE49-F238E27FC236}">
                <a16:creationId xmlns:a16="http://schemas.microsoft.com/office/drawing/2014/main" id="{6CB177C6-AB1C-2249-83D2-ACA904C14A77}"/>
              </a:ext>
            </a:extLst>
          </p:cNvPr>
          <p:cNvSpPr txBox="1"/>
          <p:nvPr/>
        </p:nvSpPr>
        <p:spPr>
          <a:xfrm>
            <a:off x="1016000" y="4381500"/>
            <a:ext cx="10160000" cy="304800"/>
          </a:xfrm>
          <a:prstGeom prst="rect">
            <a:avLst/>
          </a:prstGeom>
          <a:noFill/>
          <a:ln>
            <a:noFill/>
          </a:ln>
        </p:spPr>
        <p:txBody>
          <a:bodyPr vertOverflow="overflow" vert="horz" wrap="square" rtlCol="0" anchor="t">
            <a:noAutofit/>
          </a:bodyPr>
          <a:lstStyle/>
          <a:p>
            <a:pPr algn="l"/>
            <a:r>
              <a:rPr lang="en-US" sz="1500" i="1">
                <a:solidFill>
                  <a:srgbClr val="C8D1DC"/>
                </a:solidFill>
                <a:latin typeface="Futura"/>
                <a:cs typeface="Futura"/>
              </a:rPr>
              <a:t>Classification is a signal, not a verdict.</a:t>
            </a:r>
          </a:p>
        </p:txBody>
      </p:sp>
      <p:sp>
        <p:nvSpPr>
          <p:cNvPr id="7" name="Rectangle 6">
            <a:extLst>
              <a:ext uri="{FF2B5EF4-FFF2-40B4-BE49-F238E27FC236}">
                <a16:creationId xmlns:a16="http://schemas.microsoft.com/office/drawing/2014/main" id="{2F9F8034-8A0D-0745-89C7-99790A3C9E32}"/>
              </a:ext>
            </a:extLst>
          </p:cNvPr>
          <p:cNvSpPr/>
          <p:nvPr/>
        </p:nvSpPr>
        <p:spPr>
          <a:xfrm>
            <a:off x="1016000" y="6223000"/>
            <a:ext cx="10160000" cy="12700"/>
          </a:xfrm>
          <a:prstGeom prst="rect">
            <a:avLst/>
          </a:prstGeom>
          <a:solidFill>
            <a:srgbClr val="2A3A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24EFB77C-44CA-CA46-A655-D8025434ECFE}"/>
              </a:ext>
            </a:extLst>
          </p:cNvPr>
          <p:cNvSpPr txBox="1"/>
          <p:nvPr/>
        </p:nvSpPr>
        <p:spPr>
          <a:xfrm>
            <a:off x="8636000" y="6413500"/>
            <a:ext cx="2540000" cy="228600"/>
          </a:xfrm>
          <a:prstGeom prst="rect">
            <a:avLst/>
          </a:prstGeom>
          <a:noFill/>
          <a:ln>
            <a:noFill/>
          </a:ln>
        </p:spPr>
        <p:txBody>
          <a:bodyPr vertOverflow="overflow" vert="horz" wrap="square" rtlCol="0" anchor="t">
            <a:noAutofit/>
          </a:bodyPr>
          <a:lstStyle/>
          <a:p>
            <a:pPr algn="l"/>
            <a:r>
              <a:rPr lang="en-US" sz="1000">
                <a:solidFill>
                  <a:srgbClr val="9AA4B2"/>
                </a:solidFill>
                <a:latin typeface="Futura"/>
                <a:cs typeface="Futura"/>
              </a:rPr>
              <a:t>SECTION 04 / 07</a:t>
            </a:r>
          </a:p>
        </p:txBody>
      </p:sp>
    </p:spTree>
    <p:extLst>
      <p:ext uri="{BB962C8B-B14F-4D97-AF65-F5344CB8AC3E}">
        <p14:creationId xmlns:p14="http://schemas.microsoft.com/office/powerpoint/2010/main" val="2304136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CE7C15-B7B9-CE48-8554-49E9535ECB09}"/>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AI as your analytics engineer · not your judge</a:t>
            </a:r>
          </a:p>
        </p:txBody>
      </p:sp>
      <p:sp>
        <p:nvSpPr>
          <p:cNvPr id="3" name="Rectangle 2">
            <a:extLst>
              <a:ext uri="{FF2B5EF4-FFF2-40B4-BE49-F238E27FC236}">
                <a16:creationId xmlns:a16="http://schemas.microsoft.com/office/drawing/2014/main" id="{281E0FB0-1908-E746-BFA0-AD7060D563DB}"/>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DF9406E0-9398-6B41-A4C4-80A550365FFE}"/>
              </a:ext>
            </a:extLst>
          </p:cNvPr>
          <p:cNvSpPr/>
          <p:nvPr/>
        </p:nvSpPr>
        <p:spPr>
          <a:xfrm>
            <a:off x="1016000" y="2095500"/>
            <a:ext cx="38100" cy="13970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936D582F-1F78-064A-A775-6B5FD24EA4F0}"/>
              </a:ext>
            </a:extLst>
          </p:cNvPr>
          <p:cNvSpPr/>
          <p:nvPr/>
        </p:nvSpPr>
        <p:spPr>
          <a:xfrm>
            <a:off x="1054100" y="2095500"/>
            <a:ext cx="4914900" cy="1397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B36EDD85-9C98-A147-95C1-69F529224BF0}"/>
              </a:ext>
            </a:extLst>
          </p:cNvPr>
          <p:cNvSpPr txBox="1"/>
          <p:nvPr/>
        </p:nvSpPr>
        <p:spPr>
          <a:xfrm>
            <a:off x="1270000" y="2286000"/>
            <a:ext cx="508000" cy="203200"/>
          </a:xfrm>
          <a:prstGeom prst="rect">
            <a:avLst/>
          </a:prstGeom>
          <a:noFill/>
          <a:ln>
            <a:noFill/>
          </a:ln>
        </p:spPr>
        <p:txBody>
          <a:bodyPr vertOverflow="overflow" vert="horz" wrap="square" rtlCol="0" anchor="t">
            <a:noAutofit/>
          </a:bodyPr>
          <a:lstStyle/>
          <a:p>
            <a:pPr algn="l"/>
            <a:r>
              <a:rPr lang="en-US" sz="1000" b="1">
                <a:solidFill>
                  <a:srgbClr val="F79226"/>
                </a:solidFill>
                <a:latin typeface="Futura"/>
                <a:cs typeface="Futura"/>
              </a:rPr>
              <a:t>01</a:t>
            </a:r>
          </a:p>
        </p:txBody>
      </p:sp>
      <p:sp>
        <p:nvSpPr>
          <p:cNvPr id="7" name="TextBox 6">
            <a:extLst>
              <a:ext uri="{FF2B5EF4-FFF2-40B4-BE49-F238E27FC236}">
                <a16:creationId xmlns:a16="http://schemas.microsoft.com/office/drawing/2014/main" id="{BC0C61B6-D55C-0445-93B0-E172856B9FE1}"/>
              </a:ext>
            </a:extLst>
          </p:cNvPr>
          <p:cNvSpPr txBox="1"/>
          <p:nvPr/>
        </p:nvSpPr>
        <p:spPr>
          <a:xfrm>
            <a:off x="1270000" y="2540000"/>
            <a:ext cx="4445000" cy="330200"/>
          </a:xfrm>
          <a:prstGeom prst="rect">
            <a:avLst/>
          </a:prstGeom>
          <a:noFill/>
          <a:ln>
            <a:noFill/>
          </a:ln>
        </p:spPr>
        <p:txBody>
          <a:bodyPr vertOverflow="overflow" vert="horz" wrap="square" rtlCol="0" anchor="t">
            <a:noAutofit/>
          </a:bodyPr>
          <a:lstStyle/>
          <a:p>
            <a:pPr algn="l"/>
            <a:r>
              <a:rPr lang="en-US" sz="1700" b="1">
                <a:solidFill>
                  <a:srgbClr val="102033"/>
                </a:solidFill>
                <a:latin typeface="Futura"/>
                <a:cs typeface="Futura"/>
              </a:rPr>
              <a:t>Classifies every PR comment</a:t>
            </a:r>
          </a:p>
        </p:txBody>
      </p:sp>
      <p:sp>
        <p:nvSpPr>
          <p:cNvPr id="8" name="TextBox 7">
            <a:extLst>
              <a:ext uri="{FF2B5EF4-FFF2-40B4-BE49-F238E27FC236}">
                <a16:creationId xmlns:a16="http://schemas.microsoft.com/office/drawing/2014/main" id="{0E5BB446-8605-2540-815B-88472A2C8FA1}"/>
              </a:ext>
            </a:extLst>
          </p:cNvPr>
          <p:cNvSpPr txBox="1"/>
          <p:nvPr/>
        </p:nvSpPr>
        <p:spPr>
          <a:xfrm>
            <a:off x="1270000" y="2984500"/>
            <a:ext cx="4445000" cy="698500"/>
          </a:xfrm>
          <a:prstGeom prst="rect">
            <a:avLst/>
          </a:prstGeom>
          <a:noFill/>
          <a:ln>
            <a:noFill/>
          </a:ln>
        </p:spPr>
        <p:txBody>
          <a:bodyPr vertOverflow="overflow" vert="horz" wrap="square" rtlCol="0" anchor="t">
            <a:noAutofit/>
          </a:bodyPr>
          <a:lstStyle/>
          <a:p>
            <a:pPr algn="l"/>
            <a:r>
              <a:rPr lang="en-US" sz="1200">
                <a:solidFill>
                  <a:srgbClr val="6C757D"/>
                </a:solidFill>
                <a:latin typeface="Futura"/>
                <a:cs typeface="Futura"/>
              </a:rPr>
              <a:t>Bug? Missing test? Design issue? Praise? </a:t>
            </a:r>
          </a:p>
        </p:txBody>
      </p:sp>
      <p:sp>
        <p:nvSpPr>
          <p:cNvPr id="9" name="Rectangle 8">
            <a:extLst>
              <a:ext uri="{FF2B5EF4-FFF2-40B4-BE49-F238E27FC236}">
                <a16:creationId xmlns:a16="http://schemas.microsoft.com/office/drawing/2014/main" id="{EAF86BE7-756E-0940-AB56-510B9A70EE2D}"/>
              </a:ext>
            </a:extLst>
          </p:cNvPr>
          <p:cNvSpPr/>
          <p:nvPr/>
        </p:nvSpPr>
        <p:spPr>
          <a:xfrm>
            <a:off x="6223000" y="2095500"/>
            <a:ext cx="38100" cy="13970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60C52B01-FF7C-BE49-9207-1489BAD36A2D}"/>
              </a:ext>
            </a:extLst>
          </p:cNvPr>
          <p:cNvSpPr/>
          <p:nvPr/>
        </p:nvSpPr>
        <p:spPr>
          <a:xfrm>
            <a:off x="6261100" y="2095500"/>
            <a:ext cx="4914900" cy="1397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C2841D53-2F33-3647-B36B-624B376F061D}"/>
              </a:ext>
            </a:extLst>
          </p:cNvPr>
          <p:cNvSpPr txBox="1"/>
          <p:nvPr/>
        </p:nvSpPr>
        <p:spPr>
          <a:xfrm>
            <a:off x="6477000" y="2286000"/>
            <a:ext cx="508000" cy="203200"/>
          </a:xfrm>
          <a:prstGeom prst="rect">
            <a:avLst/>
          </a:prstGeom>
          <a:noFill/>
          <a:ln>
            <a:noFill/>
          </a:ln>
        </p:spPr>
        <p:txBody>
          <a:bodyPr vertOverflow="overflow" vert="horz" wrap="square" rtlCol="0" anchor="t">
            <a:noAutofit/>
          </a:bodyPr>
          <a:lstStyle/>
          <a:p>
            <a:pPr algn="l"/>
            <a:r>
              <a:rPr lang="en-US" sz="1000" b="1" dirty="0">
                <a:solidFill>
                  <a:srgbClr val="F79226"/>
                </a:solidFill>
                <a:latin typeface="Futura"/>
                <a:cs typeface="Futura"/>
              </a:rPr>
              <a:t>02</a:t>
            </a:r>
          </a:p>
        </p:txBody>
      </p:sp>
      <p:sp>
        <p:nvSpPr>
          <p:cNvPr id="12" name="TextBox 11">
            <a:extLst>
              <a:ext uri="{FF2B5EF4-FFF2-40B4-BE49-F238E27FC236}">
                <a16:creationId xmlns:a16="http://schemas.microsoft.com/office/drawing/2014/main" id="{D4BB3E58-3883-1C45-A5E1-16CBAC2B7304}"/>
              </a:ext>
            </a:extLst>
          </p:cNvPr>
          <p:cNvSpPr txBox="1"/>
          <p:nvPr/>
        </p:nvSpPr>
        <p:spPr>
          <a:xfrm>
            <a:off x="6477000" y="2540000"/>
            <a:ext cx="4445000" cy="3302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Scores four dimensions</a:t>
            </a:r>
          </a:p>
        </p:txBody>
      </p:sp>
      <p:sp>
        <p:nvSpPr>
          <p:cNvPr id="13" name="TextBox 12">
            <a:extLst>
              <a:ext uri="{FF2B5EF4-FFF2-40B4-BE49-F238E27FC236}">
                <a16:creationId xmlns:a16="http://schemas.microsoft.com/office/drawing/2014/main" id="{3F79B1DB-A555-B74E-9552-91D7A5F8119E}"/>
              </a:ext>
            </a:extLst>
          </p:cNvPr>
          <p:cNvSpPr txBox="1"/>
          <p:nvPr/>
        </p:nvSpPr>
        <p:spPr>
          <a:xfrm>
            <a:off x="6477000" y="2984500"/>
            <a:ext cx="4445000" cy="698500"/>
          </a:xfrm>
          <a:prstGeom prst="rect">
            <a:avLst/>
          </a:prstGeom>
          <a:noFill/>
          <a:ln>
            <a:noFill/>
          </a:ln>
        </p:spPr>
        <p:txBody>
          <a:bodyPr vertOverflow="overflow" vert="horz" wrap="square" rtlCol="0" anchor="t">
            <a:noAutofit/>
          </a:bodyPr>
          <a:lstStyle/>
          <a:p>
            <a:pPr algn="l"/>
            <a:r>
              <a:rPr lang="en-US" sz="1200" dirty="0">
                <a:solidFill>
                  <a:srgbClr val="6C757D"/>
                </a:solidFill>
                <a:latin typeface="Futura"/>
                <a:cs typeface="Futura"/>
              </a:rPr>
              <a:t>Testing, Code Quality, Collaboration, and Standards; weighted per your priorities.</a:t>
            </a:r>
          </a:p>
        </p:txBody>
      </p:sp>
      <p:sp>
        <p:nvSpPr>
          <p:cNvPr id="14" name="Rectangle 13">
            <a:extLst>
              <a:ext uri="{FF2B5EF4-FFF2-40B4-BE49-F238E27FC236}">
                <a16:creationId xmlns:a16="http://schemas.microsoft.com/office/drawing/2014/main" id="{3E78D416-D444-2A41-8A08-F9B7713E603A}"/>
              </a:ext>
            </a:extLst>
          </p:cNvPr>
          <p:cNvSpPr/>
          <p:nvPr/>
        </p:nvSpPr>
        <p:spPr>
          <a:xfrm>
            <a:off x="1016000" y="3746500"/>
            <a:ext cx="38100" cy="13970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D7C3C7F1-4FE1-834F-880A-E4BB5069CEBC}"/>
              </a:ext>
            </a:extLst>
          </p:cNvPr>
          <p:cNvSpPr/>
          <p:nvPr/>
        </p:nvSpPr>
        <p:spPr>
          <a:xfrm>
            <a:off x="1054100" y="3746500"/>
            <a:ext cx="4914900" cy="1397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FEC8FEC7-CF87-0448-A3D5-5DF351F7370C}"/>
              </a:ext>
            </a:extLst>
          </p:cNvPr>
          <p:cNvSpPr txBox="1"/>
          <p:nvPr/>
        </p:nvSpPr>
        <p:spPr>
          <a:xfrm>
            <a:off x="1270000" y="3937000"/>
            <a:ext cx="508000" cy="203200"/>
          </a:xfrm>
          <a:prstGeom prst="rect">
            <a:avLst/>
          </a:prstGeom>
          <a:noFill/>
          <a:ln>
            <a:noFill/>
          </a:ln>
        </p:spPr>
        <p:txBody>
          <a:bodyPr vertOverflow="overflow" vert="horz" wrap="square" rtlCol="0" anchor="t">
            <a:noAutofit/>
          </a:bodyPr>
          <a:lstStyle/>
          <a:p>
            <a:pPr algn="l"/>
            <a:r>
              <a:rPr lang="en-US" sz="1000" b="1" dirty="0">
                <a:solidFill>
                  <a:srgbClr val="F79226"/>
                </a:solidFill>
                <a:latin typeface="Futura"/>
                <a:cs typeface="Futura"/>
              </a:rPr>
              <a:t>03</a:t>
            </a:r>
          </a:p>
        </p:txBody>
      </p:sp>
      <p:sp>
        <p:nvSpPr>
          <p:cNvPr id="17" name="TextBox 16">
            <a:extLst>
              <a:ext uri="{FF2B5EF4-FFF2-40B4-BE49-F238E27FC236}">
                <a16:creationId xmlns:a16="http://schemas.microsoft.com/office/drawing/2014/main" id="{C537C2DC-B44E-604D-A1F3-06D4C22A3D72}"/>
              </a:ext>
            </a:extLst>
          </p:cNvPr>
          <p:cNvSpPr txBox="1"/>
          <p:nvPr/>
        </p:nvSpPr>
        <p:spPr>
          <a:xfrm>
            <a:off x="1270000" y="4191000"/>
            <a:ext cx="4445000" cy="3302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Generates coaching summaries</a:t>
            </a:r>
          </a:p>
        </p:txBody>
      </p:sp>
      <p:sp>
        <p:nvSpPr>
          <p:cNvPr id="18" name="TextBox 17">
            <a:extLst>
              <a:ext uri="{FF2B5EF4-FFF2-40B4-BE49-F238E27FC236}">
                <a16:creationId xmlns:a16="http://schemas.microsoft.com/office/drawing/2014/main" id="{093EAD58-84F6-6F41-95AA-EED8D92F4D2F}"/>
              </a:ext>
            </a:extLst>
          </p:cNvPr>
          <p:cNvSpPr txBox="1"/>
          <p:nvPr/>
        </p:nvSpPr>
        <p:spPr>
          <a:xfrm>
            <a:off x="1270000" y="4635500"/>
            <a:ext cx="4445000" cy="698500"/>
          </a:xfrm>
          <a:prstGeom prst="rect">
            <a:avLst/>
          </a:prstGeom>
          <a:noFill/>
          <a:ln>
            <a:noFill/>
          </a:ln>
        </p:spPr>
        <p:txBody>
          <a:bodyPr vertOverflow="overflow" vert="horz" wrap="square" rtlCol="0" anchor="t">
            <a:noAutofit/>
          </a:bodyPr>
          <a:lstStyle/>
          <a:p>
            <a:pPr algn="l"/>
            <a:r>
              <a:rPr lang="en-US" sz="1200" dirty="0">
                <a:solidFill>
                  <a:srgbClr val="6C757D"/>
                </a:solidFill>
                <a:latin typeface="Futura"/>
                <a:cs typeface="Futura"/>
              </a:rPr>
              <a:t>Talking points for 1:1 prep; never verdicts, always questions.</a:t>
            </a:r>
          </a:p>
        </p:txBody>
      </p:sp>
      <p:sp>
        <p:nvSpPr>
          <p:cNvPr id="19" name="Rectangle 18">
            <a:extLst>
              <a:ext uri="{FF2B5EF4-FFF2-40B4-BE49-F238E27FC236}">
                <a16:creationId xmlns:a16="http://schemas.microsoft.com/office/drawing/2014/main" id="{1613F6C3-2844-0845-A857-17463E2FBAD8}"/>
              </a:ext>
            </a:extLst>
          </p:cNvPr>
          <p:cNvSpPr/>
          <p:nvPr/>
        </p:nvSpPr>
        <p:spPr>
          <a:xfrm>
            <a:off x="6223000" y="3746500"/>
            <a:ext cx="38100" cy="13970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A643753C-3A4D-EF40-AE85-86EC40BE68FA}"/>
              </a:ext>
            </a:extLst>
          </p:cNvPr>
          <p:cNvSpPr/>
          <p:nvPr/>
        </p:nvSpPr>
        <p:spPr>
          <a:xfrm>
            <a:off x="6261100" y="3746500"/>
            <a:ext cx="4914900" cy="1397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DC3EC91E-8DF8-E945-802A-3856BE83E6B0}"/>
              </a:ext>
            </a:extLst>
          </p:cNvPr>
          <p:cNvSpPr txBox="1"/>
          <p:nvPr/>
        </p:nvSpPr>
        <p:spPr>
          <a:xfrm>
            <a:off x="6477000" y="3937000"/>
            <a:ext cx="508000" cy="203200"/>
          </a:xfrm>
          <a:prstGeom prst="rect">
            <a:avLst/>
          </a:prstGeom>
          <a:noFill/>
          <a:ln>
            <a:noFill/>
          </a:ln>
        </p:spPr>
        <p:txBody>
          <a:bodyPr vertOverflow="overflow" vert="horz" wrap="square" rtlCol="0" anchor="t">
            <a:noAutofit/>
          </a:bodyPr>
          <a:lstStyle/>
          <a:p>
            <a:pPr algn="l"/>
            <a:r>
              <a:rPr lang="en-US" sz="1000" b="1" dirty="0">
                <a:solidFill>
                  <a:srgbClr val="F79226"/>
                </a:solidFill>
                <a:latin typeface="Futura"/>
                <a:cs typeface="Futura"/>
              </a:rPr>
              <a:t>04</a:t>
            </a:r>
          </a:p>
        </p:txBody>
      </p:sp>
      <p:sp>
        <p:nvSpPr>
          <p:cNvPr id="22" name="TextBox 21">
            <a:extLst>
              <a:ext uri="{FF2B5EF4-FFF2-40B4-BE49-F238E27FC236}">
                <a16:creationId xmlns:a16="http://schemas.microsoft.com/office/drawing/2014/main" id="{69A822F1-DA65-4F4D-A4FB-17D049408CF8}"/>
              </a:ext>
            </a:extLst>
          </p:cNvPr>
          <p:cNvSpPr txBox="1"/>
          <p:nvPr/>
        </p:nvSpPr>
        <p:spPr>
          <a:xfrm>
            <a:off x="6477000" y="4191000"/>
            <a:ext cx="4445000" cy="3302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Flags its own uncertainty</a:t>
            </a:r>
          </a:p>
        </p:txBody>
      </p:sp>
      <p:sp>
        <p:nvSpPr>
          <p:cNvPr id="23" name="TextBox 22">
            <a:extLst>
              <a:ext uri="{FF2B5EF4-FFF2-40B4-BE49-F238E27FC236}">
                <a16:creationId xmlns:a16="http://schemas.microsoft.com/office/drawing/2014/main" id="{D72D1A12-FAA3-DD49-AC78-C9FEB1079429}"/>
              </a:ext>
            </a:extLst>
          </p:cNvPr>
          <p:cNvSpPr txBox="1"/>
          <p:nvPr/>
        </p:nvSpPr>
        <p:spPr>
          <a:xfrm>
            <a:off x="6477000" y="4635500"/>
            <a:ext cx="4445000" cy="698500"/>
          </a:xfrm>
          <a:prstGeom prst="rect">
            <a:avLst/>
          </a:prstGeom>
          <a:noFill/>
          <a:ln>
            <a:noFill/>
          </a:ln>
        </p:spPr>
        <p:txBody>
          <a:bodyPr vertOverflow="overflow" vert="horz" wrap="square" rtlCol="0" anchor="t">
            <a:noAutofit/>
          </a:bodyPr>
          <a:lstStyle/>
          <a:p>
            <a:pPr algn="l"/>
            <a:r>
              <a:rPr lang="en-US" sz="1200" dirty="0">
                <a:solidFill>
                  <a:srgbClr val="6C757D"/>
                </a:solidFill>
                <a:latin typeface="Futura"/>
                <a:cs typeface="Futura"/>
              </a:rPr>
              <a:t>Every classification ships with a confidence score. Low confidence = verify.</a:t>
            </a:r>
          </a:p>
        </p:txBody>
      </p:sp>
      <p:sp>
        <p:nvSpPr>
          <p:cNvPr id="24" name="Rectangle 23">
            <a:extLst>
              <a:ext uri="{FF2B5EF4-FFF2-40B4-BE49-F238E27FC236}">
                <a16:creationId xmlns:a16="http://schemas.microsoft.com/office/drawing/2014/main" id="{C4A76FAA-76BF-A04C-9487-B4ABAC0F4B07}"/>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7E478E94-18A0-E447-A0BC-96AEF30C1984}"/>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26" name="TextBox 25">
            <a:extLst>
              <a:ext uri="{FF2B5EF4-FFF2-40B4-BE49-F238E27FC236}">
                <a16:creationId xmlns:a16="http://schemas.microsoft.com/office/drawing/2014/main" id="{34CBD743-1CE6-014B-AF2F-3612EED23B8F}"/>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27" name="TextBox 26">
            <a:extLst>
              <a:ext uri="{FF2B5EF4-FFF2-40B4-BE49-F238E27FC236}">
                <a16:creationId xmlns:a16="http://schemas.microsoft.com/office/drawing/2014/main" id="{8AF376C5-024D-2044-84EE-CFE43975BDD0}"/>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custDataLst>
      <p:tags r:id="rId1"/>
    </p:custDataLst>
    <p:extLst>
      <p:ext uri="{BB962C8B-B14F-4D97-AF65-F5344CB8AC3E}">
        <p14:creationId xmlns:p14="http://schemas.microsoft.com/office/powerpoint/2010/main" val="2166337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up)">
                                      <p:cBhvr>
                                        <p:cTn id="24" dur="500"/>
                                        <p:tgtEl>
                                          <p:spTgt spid="14"/>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10" presetClass="entr" presetSubtype="0" fill="hold" grpId="0" nodeType="withEffect">
                                  <p:stCondLst>
                                    <p:cond delay="2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40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10" presetClass="entr" presetSubtype="0" fill="hold" grpId="0" nodeType="withEffect">
                                  <p:stCondLst>
                                    <p:cond delay="20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30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par>
                                <p:cTn id="51" presetID="10" presetClass="entr" presetSubtype="0" fill="hold" grpId="0" nodeType="withEffect">
                                  <p:stCondLst>
                                    <p:cond delay="40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p:bldP spid="13" grpId="0"/>
      <p:bldP spid="14" grpId="0" animBg="1"/>
      <p:bldP spid="15" grpId="0" animBg="1"/>
      <p:bldP spid="16" grpId="0"/>
      <p:bldP spid="17" grpId="0"/>
      <p:bldP spid="18" grpId="0"/>
      <p:bldP spid="19" grpId="0" animBg="1"/>
      <p:bldP spid="20" grpId="0" animBg="1"/>
      <p:bldP spid="21" grpId="0"/>
      <p:bldP spid="22"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ED54F7-25D4-7B44-B6B1-00017A0E6455}"/>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800" b="1">
                <a:solidFill>
                  <a:srgbClr val="102033"/>
                </a:solidFill>
                <a:latin typeface="Futura"/>
                <a:cs typeface="Futura"/>
              </a:rPr>
              <a:t>How we prompt the AI</a:t>
            </a:r>
          </a:p>
        </p:txBody>
      </p:sp>
      <p:sp>
        <p:nvSpPr>
          <p:cNvPr id="3" name="Rectangle 2">
            <a:extLst>
              <a:ext uri="{FF2B5EF4-FFF2-40B4-BE49-F238E27FC236}">
                <a16:creationId xmlns:a16="http://schemas.microsoft.com/office/drawing/2014/main" id="{9895649F-DEB0-C040-B6FA-288741B81D21}"/>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0BDF8086-0D33-124C-B0DA-21F979421405}"/>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The classification prompt · simplified but faithful to what runs</a:t>
            </a:r>
          </a:p>
        </p:txBody>
      </p:sp>
      <p:sp>
        <p:nvSpPr>
          <p:cNvPr id="5" name="Rectangle 4">
            <a:extLst>
              <a:ext uri="{FF2B5EF4-FFF2-40B4-BE49-F238E27FC236}">
                <a16:creationId xmlns:a16="http://schemas.microsoft.com/office/drawing/2014/main" id="{CD037BD8-EF4C-CC46-A59F-838CD89094F9}"/>
              </a:ext>
            </a:extLst>
          </p:cNvPr>
          <p:cNvSpPr/>
          <p:nvPr/>
        </p:nvSpPr>
        <p:spPr>
          <a:xfrm>
            <a:off x="1016000" y="2159000"/>
            <a:ext cx="10160000" cy="3429000"/>
          </a:xfrm>
          <a:prstGeom prst="rect">
            <a:avLst/>
          </a:prstGeom>
          <a:solidFill>
            <a:srgbClr val="F6F6F6"/>
          </a:solidFill>
          <a:ln w="19050" cap="flat" cmpd="sng" algn="ctr">
            <a:noFill/>
            <a:prstDash val="solid"/>
            <a:miter lim="800000"/>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0A0E4EB-2913-1D48-B4FE-0A96B1DBCE53}"/>
              </a:ext>
            </a:extLst>
          </p:cNvPr>
          <p:cNvSpPr txBox="1"/>
          <p:nvPr/>
        </p:nvSpPr>
        <p:spPr>
          <a:xfrm>
            <a:off x="1397000" y="2413000"/>
            <a:ext cx="9398000" cy="3048000"/>
          </a:xfrm>
          <a:prstGeom prst="rect">
            <a:avLst/>
          </a:prstGeom>
          <a:noFill/>
          <a:ln>
            <a:noFill/>
          </a:ln>
        </p:spPr>
        <p:txBody>
          <a:bodyPr vertOverflow="overflow" vert="horz" wrap="square" rtlCol="0" anchor="t">
            <a:noAutofit/>
          </a:bodyPr>
          <a:lstStyle/>
          <a:p>
            <a:pPr>
              <a:lnSpc>
                <a:spcPts val="1800"/>
              </a:lnSpc>
            </a:pPr>
            <a:r>
              <a:rPr lang="en-US" sz="1400" b="1">
                <a:solidFill>
                  <a:srgbClr val="6C757D"/>
                </a:solidFill>
                <a:latin typeface="Consolas"/>
                <a:cs typeface="Consolas"/>
              </a:rPr>
              <a:t>SYSTEM</a:t>
            </a:r>
          </a:p>
          <a:p>
            <a:pPr>
              <a:lnSpc>
                <a:spcPts val="2000"/>
              </a:lnSpc>
            </a:pPr>
            <a:r>
              <a:rPr lang="en-US" sz="1500">
                <a:solidFill>
                  <a:srgbClr val="102033"/>
                </a:solidFill>
                <a:latin typeface="Consolas"/>
                <a:cs typeface="Consolas"/>
              </a:rPr>
              <a:t>You are a code review analyst specializing</a:t>
            </a:r>
          </a:p>
          <a:p>
            <a:pPr>
              <a:lnSpc>
                <a:spcPts val="2000"/>
              </a:lnSpc>
            </a:pPr>
            <a:r>
              <a:rPr lang="en-US" sz="1500">
                <a:solidFill>
                  <a:srgbClr val="102033"/>
                </a:solidFill>
                <a:latin typeface="Consolas"/>
                <a:cs typeface="Consolas"/>
              </a:rPr>
              <a:t>in PR comment classification.</a:t>
            </a:r>
          </a:p>
          <a:p>
            <a:pPr>
              <a:lnSpc>
                <a:spcPts val="1600"/>
              </a:lnSpc>
            </a:pPr>
            <a:endParaRPr lang="en-US" sz="1500"/>
          </a:p>
          <a:p>
            <a:pPr>
              <a:lnSpc>
                <a:spcPts val="2000"/>
              </a:lnSpc>
            </a:pPr>
            <a:r>
              <a:rPr lang="en-US" sz="1500">
                <a:solidFill>
                  <a:srgbClr val="102033"/>
                </a:solidFill>
                <a:latin typeface="Consolas"/>
                <a:cs typeface="Consolas"/>
              </a:rPr>
              <a:t>Classify each comment into exactly these categories:</a:t>
            </a:r>
          </a:p>
          <a:p>
            <a:pPr>
              <a:lnSpc>
                <a:spcPts val="1900"/>
              </a:lnSpc>
            </a:pPr>
            <a:r>
              <a:rPr lang="en-US" sz="1500">
                <a:solidFill>
                  <a:srgbClr val="102033"/>
                </a:solidFill>
                <a:latin typeface="Consolas"/>
                <a:cs typeface="Consolas"/>
              </a:rPr>
              <a:t>  </a:t>
            </a:r>
            <a:r>
              <a:rPr lang="en-US" sz="1500" err="1">
                <a:solidFill>
                  <a:srgbClr val="102033"/>
                </a:solidFill>
                <a:latin typeface="Consolas"/>
                <a:cs typeface="Consolas"/>
              </a:rPr>
              <a:t>bug_found</a:t>
            </a:r>
            <a:r>
              <a:rPr lang="en-US" sz="1500">
                <a:solidFill>
                  <a:srgbClr val="102033"/>
                </a:solidFill>
                <a:latin typeface="Consolas"/>
                <a:cs typeface="Consolas"/>
              </a:rPr>
              <a:t> | </a:t>
            </a:r>
            <a:r>
              <a:rPr lang="en-US" sz="1500" err="1">
                <a:solidFill>
                  <a:srgbClr val="102033"/>
                </a:solidFill>
                <a:latin typeface="Consolas"/>
                <a:cs typeface="Consolas"/>
              </a:rPr>
              <a:t>security_issue</a:t>
            </a:r>
            <a:r>
              <a:rPr lang="en-US" sz="1500">
                <a:solidFill>
                  <a:srgbClr val="102033"/>
                </a:solidFill>
                <a:latin typeface="Consolas"/>
                <a:cs typeface="Consolas"/>
              </a:rPr>
              <a:t> | </a:t>
            </a:r>
            <a:r>
              <a:rPr lang="en-US" sz="1500" err="1">
                <a:solidFill>
                  <a:srgbClr val="102033"/>
                </a:solidFill>
                <a:latin typeface="Consolas"/>
                <a:cs typeface="Consolas"/>
              </a:rPr>
              <a:t>missing_tests</a:t>
            </a:r>
            <a:endParaRPr lang="en-US" sz="1500">
              <a:solidFill>
                <a:srgbClr val="102033"/>
              </a:solidFill>
              <a:latin typeface="Consolas"/>
              <a:cs typeface="Consolas"/>
            </a:endParaRPr>
          </a:p>
          <a:p>
            <a:pPr>
              <a:lnSpc>
                <a:spcPts val="1900"/>
              </a:lnSpc>
            </a:pPr>
            <a:r>
              <a:rPr lang="en-US" sz="1500">
                <a:solidFill>
                  <a:srgbClr val="102033"/>
                </a:solidFill>
                <a:latin typeface="Consolas"/>
                <a:cs typeface="Consolas"/>
              </a:rPr>
              <a:t>  </a:t>
            </a:r>
            <a:r>
              <a:rPr lang="en-US" sz="1500" err="1">
                <a:solidFill>
                  <a:srgbClr val="102033"/>
                </a:solidFill>
                <a:latin typeface="Consolas"/>
                <a:cs typeface="Consolas"/>
              </a:rPr>
              <a:t>design_issue</a:t>
            </a:r>
            <a:r>
              <a:rPr lang="en-US" sz="1500">
                <a:solidFill>
                  <a:srgbClr val="102033"/>
                </a:solidFill>
                <a:latin typeface="Consolas"/>
                <a:cs typeface="Consolas"/>
              </a:rPr>
              <a:t> | </a:t>
            </a:r>
            <a:r>
              <a:rPr lang="en-US" sz="1500" err="1">
                <a:solidFill>
                  <a:srgbClr val="102033"/>
                </a:solidFill>
                <a:latin typeface="Consolas"/>
                <a:cs typeface="Consolas"/>
              </a:rPr>
              <a:t>dry_violation</a:t>
            </a:r>
            <a:r>
              <a:rPr lang="en-US" sz="1500">
                <a:solidFill>
                  <a:srgbClr val="102033"/>
                </a:solidFill>
                <a:latin typeface="Consolas"/>
                <a:cs typeface="Consolas"/>
              </a:rPr>
              <a:t> | </a:t>
            </a:r>
            <a:r>
              <a:rPr lang="en-US" sz="1500" err="1">
                <a:solidFill>
                  <a:srgbClr val="102033"/>
                </a:solidFill>
                <a:latin typeface="Consolas"/>
                <a:cs typeface="Consolas"/>
              </a:rPr>
              <a:t>style_issue</a:t>
            </a:r>
            <a:endParaRPr lang="en-US" sz="1500">
              <a:solidFill>
                <a:srgbClr val="102033"/>
              </a:solidFill>
              <a:latin typeface="Consolas"/>
              <a:cs typeface="Consolas"/>
            </a:endParaRPr>
          </a:p>
          <a:p>
            <a:pPr>
              <a:lnSpc>
                <a:spcPts val="1900"/>
              </a:lnSpc>
            </a:pPr>
            <a:r>
              <a:rPr lang="en-US" sz="1500">
                <a:solidFill>
                  <a:srgbClr val="102033"/>
                </a:solidFill>
                <a:latin typeface="Consolas"/>
                <a:cs typeface="Consolas"/>
              </a:rPr>
              <a:t>  praise | learning | nitpick | neutral ...</a:t>
            </a:r>
          </a:p>
          <a:p>
            <a:pPr>
              <a:lnSpc>
                <a:spcPts val="1500"/>
              </a:lnSpc>
            </a:pPr>
            <a:endParaRPr lang="en-US" sz="1500"/>
          </a:p>
          <a:p>
            <a:pPr>
              <a:lnSpc>
                <a:spcPts val="2000"/>
              </a:lnSpc>
            </a:pPr>
            <a:r>
              <a:rPr lang="en-US" sz="1500">
                <a:solidFill>
                  <a:srgbClr val="102033"/>
                </a:solidFill>
                <a:latin typeface="Consolas"/>
                <a:cs typeface="Consolas"/>
              </a:rPr>
              <a:t>Return JSON: </a:t>
            </a:r>
            <a:r>
              <a:rPr lang="en-US" sz="1500">
                <a:solidFill>
                  <a:srgbClr val="F79226"/>
                </a:solidFill>
                <a:latin typeface="Consolas"/>
                <a:cs typeface="Consolas"/>
              </a:rPr>
              <a:t>category, confidence (0.0-1.0),</a:t>
            </a:r>
          </a:p>
          <a:p>
            <a:pPr>
              <a:lnSpc>
                <a:spcPts val="2000"/>
              </a:lnSpc>
            </a:pPr>
            <a:r>
              <a:rPr lang="en-US" sz="1500">
                <a:solidFill>
                  <a:srgbClr val="F79226"/>
                </a:solidFill>
                <a:latin typeface="Consolas"/>
                <a:cs typeface="Consolas"/>
              </a:rPr>
              <a:t>reasoning.</a:t>
            </a:r>
          </a:p>
        </p:txBody>
      </p:sp>
      <p:sp>
        <p:nvSpPr>
          <p:cNvPr id="7" name="Rectangle 6">
            <a:extLst>
              <a:ext uri="{FF2B5EF4-FFF2-40B4-BE49-F238E27FC236}">
                <a16:creationId xmlns:a16="http://schemas.microsoft.com/office/drawing/2014/main" id="{4C9D0B6A-A220-D94C-B321-26243C159F4B}"/>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4CBA7739-ED24-974B-9232-BF63E2D236C6}"/>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9" name="TextBox 8">
            <a:extLst>
              <a:ext uri="{FF2B5EF4-FFF2-40B4-BE49-F238E27FC236}">
                <a16:creationId xmlns:a16="http://schemas.microsoft.com/office/drawing/2014/main" id="{2C8884FE-C6EF-AF4B-81D0-86AA80FE5E1C}"/>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0" name="TextBox 9">
            <a:extLst>
              <a:ext uri="{FF2B5EF4-FFF2-40B4-BE49-F238E27FC236}">
                <a16:creationId xmlns:a16="http://schemas.microsoft.com/office/drawing/2014/main" id="{86DD70CF-3C3F-7D41-9D71-23E32D71E5B2}"/>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748260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6EC72D-F773-EC42-8C26-1B432AB42D82}"/>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800" b="1">
                <a:solidFill>
                  <a:srgbClr val="102033"/>
                </a:solidFill>
                <a:latin typeface="Futura"/>
                <a:cs typeface="Futura"/>
              </a:rPr>
              <a:t>Four dimensions · deliberately weighted</a:t>
            </a:r>
          </a:p>
        </p:txBody>
      </p:sp>
      <p:sp>
        <p:nvSpPr>
          <p:cNvPr id="3" name="Rectangle 2">
            <a:extLst>
              <a:ext uri="{FF2B5EF4-FFF2-40B4-BE49-F238E27FC236}">
                <a16:creationId xmlns:a16="http://schemas.microsoft.com/office/drawing/2014/main" id="{1153E268-FCF5-B94A-9DA7-A3D07EE4A6B4}"/>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01767ECD-BBCA-CE4D-BB37-F9910A23408B}"/>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These are editorial choices. Pick weights that match YOUR team's values.</a:t>
            </a:r>
          </a:p>
        </p:txBody>
      </p:sp>
      <p:sp>
        <p:nvSpPr>
          <p:cNvPr id="5" name="Rectangle 4">
            <a:extLst>
              <a:ext uri="{FF2B5EF4-FFF2-40B4-BE49-F238E27FC236}">
                <a16:creationId xmlns:a16="http://schemas.microsoft.com/office/drawing/2014/main" id="{17E0933E-9D7A-A442-9EE6-CA8DF3C9C109}"/>
              </a:ext>
            </a:extLst>
          </p:cNvPr>
          <p:cNvSpPr/>
          <p:nvPr/>
        </p:nvSpPr>
        <p:spPr>
          <a:xfrm>
            <a:off x="965200" y="2286000"/>
            <a:ext cx="2413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22DB9E60-4871-8D46-B23B-297CE1194D4E}"/>
              </a:ext>
            </a:extLst>
          </p:cNvPr>
          <p:cNvSpPr/>
          <p:nvPr/>
        </p:nvSpPr>
        <p:spPr>
          <a:xfrm>
            <a:off x="965200" y="2324100"/>
            <a:ext cx="2413000" cy="36449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6F97C125-C53A-6C42-A546-8EDF7CAAECF7}"/>
              </a:ext>
            </a:extLst>
          </p:cNvPr>
          <p:cNvSpPr txBox="1"/>
          <p:nvPr/>
        </p:nvSpPr>
        <p:spPr>
          <a:xfrm>
            <a:off x="965200" y="2641600"/>
            <a:ext cx="2413000" cy="1143000"/>
          </a:xfrm>
          <a:prstGeom prst="rect">
            <a:avLst/>
          </a:prstGeom>
          <a:noFill/>
          <a:ln>
            <a:noFill/>
          </a:ln>
        </p:spPr>
        <p:txBody>
          <a:bodyPr vertOverflow="overflow" vert="horz" wrap="square" rtlCol="0" anchor="t">
            <a:noAutofit/>
          </a:bodyPr>
          <a:lstStyle/>
          <a:p>
            <a:pPr algn="ctr"/>
            <a:r>
              <a:rPr lang="en-US" sz="6400" b="1" dirty="0">
                <a:solidFill>
                  <a:srgbClr val="102033"/>
                </a:solidFill>
                <a:latin typeface="Futura"/>
                <a:cs typeface="Futura"/>
              </a:rPr>
              <a:t>30%</a:t>
            </a:r>
          </a:p>
        </p:txBody>
      </p:sp>
      <p:sp>
        <p:nvSpPr>
          <p:cNvPr id="8" name="TextBox 7">
            <a:extLst>
              <a:ext uri="{FF2B5EF4-FFF2-40B4-BE49-F238E27FC236}">
                <a16:creationId xmlns:a16="http://schemas.microsoft.com/office/drawing/2014/main" id="{26FEC6BA-57F9-9E4A-A0E6-58B1D2846B1B}"/>
              </a:ext>
            </a:extLst>
          </p:cNvPr>
          <p:cNvSpPr txBox="1"/>
          <p:nvPr/>
        </p:nvSpPr>
        <p:spPr>
          <a:xfrm>
            <a:off x="1143000" y="4000500"/>
            <a:ext cx="2057400" cy="279400"/>
          </a:xfrm>
          <a:prstGeom prst="rect">
            <a:avLst/>
          </a:prstGeom>
          <a:noFill/>
          <a:ln>
            <a:noFill/>
          </a:ln>
        </p:spPr>
        <p:txBody>
          <a:bodyPr vertOverflow="overflow" vert="horz" wrap="square" rtlCol="0" anchor="t">
            <a:noAutofit/>
          </a:bodyPr>
          <a:lstStyle/>
          <a:p>
            <a:pPr algn="l"/>
            <a:r>
              <a:rPr lang="en-US" sz="1300" b="1">
                <a:solidFill>
                  <a:srgbClr val="F79226"/>
                </a:solidFill>
                <a:latin typeface="Futura"/>
                <a:cs typeface="Futura"/>
              </a:rPr>
              <a:t>TESTING</a:t>
            </a:r>
          </a:p>
        </p:txBody>
      </p:sp>
      <p:sp>
        <p:nvSpPr>
          <p:cNvPr id="9" name="Rectangle 8">
            <a:extLst>
              <a:ext uri="{FF2B5EF4-FFF2-40B4-BE49-F238E27FC236}">
                <a16:creationId xmlns:a16="http://schemas.microsoft.com/office/drawing/2014/main" id="{9A00CDBB-BB83-4A42-BD0A-50B332221665}"/>
              </a:ext>
            </a:extLst>
          </p:cNvPr>
          <p:cNvSpPr/>
          <p:nvPr/>
        </p:nvSpPr>
        <p:spPr>
          <a:xfrm>
            <a:off x="1473200" y="4445000"/>
            <a:ext cx="1397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E9CB1E4A-D91C-564C-82A6-B1EEDDD4303C}"/>
              </a:ext>
            </a:extLst>
          </p:cNvPr>
          <p:cNvSpPr txBox="1"/>
          <p:nvPr/>
        </p:nvSpPr>
        <p:spPr>
          <a:xfrm>
            <a:off x="1143000" y="4635500"/>
            <a:ext cx="2057400" cy="10795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Testing habits have the highest leverage to improve.</a:t>
            </a:r>
          </a:p>
        </p:txBody>
      </p:sp>
      <p:sp>
        <p:nvSpPr>
          <p:cNvPr id="11" name="Rectangle 10">
            <a:extLst>
              <a:ext uri="{FF2B5EF4-FFF2-40B4-BE49-F238E27FC236}">
                <a16:creationId xmlns:a16="http://schemas.microsoft.com/office/drawing/2014/main" id="{A00B41A3-7E6B-334D-9BC0-FDF2723FBE29}"/>
              </a:ext>
            </a:extLst>
          </p:cNvPr>
          <p:cNvSpPr/>
          <p:nvPr/>
        </p:nvSpPr>
        <p:spPr>
          <a:xfrm>
            <a:off x="3581400" y="2286000"/>
            <a:ext cx="2413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154C9016-559C-4846-BE92-F7F367BDB518}"/>
              </a:ext>
            </a:extLst>
          </p:cNvPr>
          <p:cNvSpPr/>
          <p:nvPr/>
        </p:nvSpPr>
        <p:spPr>
          <a:xfrm>
            <a:off x="3581400" y="2324100"/>
            <a:ext cx="2413000" cy="36449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DF75E285-7ED4-814A-B622-48D22F658D8D}"/>
              </a:ext>
            </a:extLst>
          </p:cNvPr>
          <p:cNvSpPr txBox="1"/>
          <p:nvPr/>
        </p:nvSpPr>
        <p:spPr>
          <a:xfrm>
            <a:off x="3581400" y="2641600"/>
            <a:ext cx="2413000" cy="1143000"/>
          </a:xfrm>
          <a:prstGeom prst="rect">
            <a:avLst/>
          </a:prstGeom>
          <a:noFill/>
          <a:ln>
            <a:noFill/>
          </a:ln>
        </p:spPr>
        <p:txBody>
          <a:bodyPr vertOverflow="overflow" vert="horz" wrap="square" rtlCol="0" anchor="t">
            <a:noAutofit/>
          </a:bodyPr>
          <a:lstStyle/>
          <a:p>
            <a:pPr algn="ctr"/>
            <a:r>
              <a:rPr lang="en-US" sz="6400" b="1" dirty="0">
                <a:solidFill>
                  <a:srgbClr val="102033"/>
                </a:solidFill>
                <a:latin typeface="Futura"/>
                <a:cs typeface="Futura"/>
              </a:rPr>
              <a:t>25%</a:t>
            </a:r>
          </a:p>
        </p:txBody>
      </p:sp>
      <p:sp>
        <p:nvSpPr>
          <p:cNvPr id="14" name="TextBox 13">
            <a:extLst>
              <a:ext uri="{FF2B5EF4-FFF2-40B4-BE49-F238E27FC236}">
                <a16:creationId xmlns:a16="http://schemas.microsoft.com/office/drawing/2014/main" id="{D4BA175C-CD4F-D849-B5B6-C29C0FBC4449}"/>
              </a:ext>
            </a:extLst>
          </p:cNvPr>
          <p:cNvSpPr txBox="1"/>
          <p:nvPr/>
        </p:nvSpPr>
        <p:spPr>
          <a:xfrm>
            <a:off x="3759200" y="4000500"/>
            <a:ext cx="2057400" cy="279400"/>
          </a:xfrm>
          <a:prstGeom prst="rect">
            <a:avLst/>
          </a:prstGeom>
          <a:noFill/>
          <a:ln>
            <a:noFill/>
          </a:ln>
        </p:spPr>
        <p:txBody>
          <a:bodyPr vertOverflow="overflow" vert="horz" wrap="square" rtlCol="0" anchor="t">
            <a:noAutofit/>
          </a:bodyPr>
          <a:lstStyle/>
          <a:p>
            <a:pPr algn="l"/>
            <a:r>
              <a:rPr lang="en-US" sz="1300" b="1">
                <a:solidFill>
                  <a:srgbClr val="F79226"/>
                </a:solidFill>
                <a:latin typeface="Futura"/>
                <a:cs typeface="Futura"/>
              </a:rPr>
              <a:t>CODE QUALITY</a:t>
            </a:r>
          </a:p>
        </p:txBody>
      </p:sp>
      <p:sp>
        <p:nvSpPr>
          <p:cNvPr id="15" name="Rectangle 14">
            <a:extLst>
              <a:ext uri="{FF2B5EF4-FFF2-40B4-BE49-F238E27FC236}">
                <a16:creationId xmlns:a16="http://schemas.microsoft.com/office/drawing/2014/main" id="{F3F28325-F680-594B-A6FD-152F2DD50E67}"/>
              </a:ext>
            </a:extLst>
          </p:cNvPr>
          <p:cNvSpPr/>
          <p:nvPr/>
        </p:nvSpPr>
        <p:spPr>
          <a:xfrm>
            <a:off x="4089400" y="4445000"/>
            <a:ext cx="1397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B9794E7-DCC2-F64A-9908-CA6B3100E44C}"/>
              </a:ext>
            </a:extLst>
          </p:cNvPr>
          <p:cNvSpPr txBox="1"/>
          <p:nvPr/>
        </p:nvSpPr>
        <p:spPr>
          <a:xfrm>
            <a:off x="3759200" y="4635500"/>
            <a:ext cx="2057400" cy="10795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Security issues, design patterns, first-pass approval rate.</a:t>
            </a:r>
          </a:p>
        </p:txBody>
      </p:sp>
      <p:sp>
        <p:nvSpPr>
          <p:cNvPr id="17" name="Rectangle 16">
            <a:extLst>
              <a:ext uri="{FF2B5EF4-FFF2-40B4-BE49-F238E27FC236}">
                <a16:creationId xmlns:a16="http://schemas.microsoft.com/office/drawing/2014/main" id="{1408EE29-4EFC-4F4F-9F43-2424836FF690}"/>
              </a:ext>
            </a:extLst>
          </p:cNvPr>
          <p:cNvSpPr/>
          <p:nvPr/>
        </p:nvSpPr>
        <p:spPr>
          <a:xfrm>
            <a:off x="6197600" y="2286000"/>
            <a:ext cx="2413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F581C3A3-CC67-4F45-82FF-DB814E2BA6D9}"/>
              </a:ext>
            </a:extLst>
          </p:cNvPr>
          <p:cNvSpPr/>
          <p:nvPr/>
        </p:nvSpPr>
        <p:spPr>
          <a:xfrm>
            <a:off x="6197600" y="2324100"/>
            <a:ext cx="2413000" cy="36449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24449686-FD02-CF44-BF0A-4D5C752CDBD4}"/>
              </a:ext>
            </a:extLst>
          </p:cNvPr>
          <p:cNvSpPr txBox="1"/>
          <p:nvPr/>
        </p:nvSpPr>
        <p:spPr>
          <a:xfrm>
            <a:off x="6197600" y="2641600"/>
            <a:ext cx="2413000" cy="1143000"/>
          </a:xfrm>
          <a:prstGeom prst="rect">
            <a:avLst/>
          </a:prstGeom>
          <a:noFill/>
          <a:ln>
            <a:noFill/>
          </a:ln>
        </p:spPr>
        <p:txBody>
          <a:bodyPr vertOverflow="overflow" vert="horz" wrap="square" rtlCol="0" anchor="t">
            <a:noAutofit/>
          </a:bodyPr>
          <a:lstStyle/>
          <a:p>
            <a:pPr algn="ctr"/>
            <a:r>
              <a:rPr lang="en-US" sz="6400" b="1" dirty="0">
                <a:solidFill>
                  <a:srgbClr val="102033"/>
                </a:solidFill>
                <a:latin typeface="Futura"/>
                <a:cs typeface="Futura"/>
              </a:rPr>
              <a:t>25%</a:t>
            </a:r>
          </a:p>
        </p:txBody>
      </p:sp>
      <p:sp>
        <p:nvSpPr>
          <p:cNvPr id="20" name="TextBox 19">
            <a:extLst>
              <a:ext uri="{FF2B5EF4-FFF2-40B4-BE49-F238E27FC236}">
                <a16:creationId xmlns:a16="http://schemas.microsoft.com/office/drawing/2014/main" id="{C869DEAA-DE59-7A42-AB6B-8C0F806D73F4}"/>
              </a:ext>
            </a:extLst>
          </p:cNvPr>
          <p:cNvSpPr txBox="1"/>
          <p:nvPr/>
        </p:nvSpPr>
        <p:spPr>
          <a:xfrm>
            <a:off x="6375400" y="4000500"/>
            <a:ext cx="2057400" cy="279400"/>
          </a:xfrm>
          <a:prstGeom prst="rect">
            <a:avLst/>
          </a:prstGeom>
          <a:noFill/>
          <a:ln>
            <a:noFill/>
          </a:ln>
        </p:spPr>
        <p:txBody>
          <a:bodyPr vertOverflow="overflow" vert="horz" wrap="square" rtlCol="0" anchor="t">
            <a:noAutofit/>
          </a:bodyPr>
          <a:lstStyle/>
          <a:p>
            <a:pPr algn="l"/>
            <a:r>
              <a:rPr lang="en-US" sz="1300" b="1">
                <a:solidFill>
                  <a:srgbClr val="F79226"/>
                </a:solidFill>
                <a:latin typeface="Futura"/>
                <a:cs typeface="Futura"/>
              </a:rPr>
              <a:t>COLLABORATION</a:t>
            </a:r>
          </a:p>
        </p:txBody>
      </p:sp>
      <p:sp>
        <p:nvSpPr>
          <p:cNvPr id="21" name="Rectangle 20">
            <a:extLst>
              <a:ext uri="{FF2B5EF4-FFF2-40B4-BE49-F238E27FC236}">
                <a16:creationId xmlns:a16="http://schemas.microsoft.com/office/drawing/2014/main" id="{332A1A37-5938-9147-BD65-0AE666A88D8B}"/>
              </a:ext>
            </a:extLst>
          </p:cNvPr>
          <p:cNvSpPr/>
          <p:nvPr/>
        </p:nvSpPr>
        <p:spPr>
          <a:xfrm>
            <a:off x="6705600" y="4445000"/>
            <a:ext cx="1397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5D17DE09-5878-2F44-A274-B085A99F483F}"/>
              </a:ext>
            </a:extLst>
          </p:cNvPr>
          <p:cNvSpPr txBox="1"/>
          <p:nvPr/>
        </p:nvSpPr>
        <p:spPr>
          <a:xfrm>
            <a:off x="6375400" y="4635500"/>
            <a:ext cx="2057400" cy="10795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PR size, praise received,
review engagement.</a:t>
            </a:r>
          </a:p>
        </p:txBody>
      </p:sp>
      <p:sp>
        <p:nvSpPr>
          <p:cNvPr id="23" name="Rectangle 22">
            <a:extLst>
              <a:ext uri="{FF2B5EF4-FFF2-40B4-BE49-F238E27FC236}">
                <a16:creationId xmlns:a16="http://schemas.microsoft.com/office/drawing/2014/main" id="{561AA721-342D-874E-BB0A-1A534756CE45}"/>
              </a:ext>
            </a:extLst>
          </p:cNvPr>
          <p:cNvSpPr/>
          <p:nvPr/>
        </p:nvSpPr>
        <p:spPr>
          <a:xfrm>
            <a:off x="8813800" y="2286000"/>
            <a:ext cx="2413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AC7F9F31-397D-8F45-9CB6-92FA5C5545E0}"/>
              </a:ext>
            </a:extLst>
          </p:cNvPr>
          <p:cNvSpPr/>
          <p:nvPr/>
        </p:nvSpPr>
        <p:spPr>
          <a:xfrm>
            <a:off x="8813800" y="2324100"/>
            <a:ext cx="2413000" cy="36449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D62D0FCA-DF67-0C43-8127-85976BDE6FEE}"/>
              </a:ext>
            </a:extLst>
          </p:cNvPr>
          <p:cNvSpPr txBox="1"/>
          <p:nvPr/>
        </p:nvSpPr>
        <p:spPr>
          <a:xfrm>
            <a:off x="8813800" y="2641600"/>
            <a:ext cx="2413000" cy="1143000"/>
          </a:xfrm>
          <a:prstGeom prst="rect">
            <a:avLst/>
          </a:prstGeom>
          <a:noFill/>
          <a:ln>
            <a:noFill/>
          </a:ln>
        </p:spPr>
        <p:txBody>
          <a:bodyPr vertOverflow="overflow" vert="horz" wrap="square" rtlCol="0" anchor="t">
            <a:noAutofit/>
          </a:bodyPr>
          <a:lstStyle/>
          <a:p>
            <a:pPr algn="ctr"/>
            <a:r>
              <a:rPr lang="en-US" sz="6400" b="1" dirty="0">
                <a:solidFill>
                  <a:srgbClr val="102033"/>
                </a:solidFill>
                <a:latin typeface="Futura"/>
                <a:cs typeface="Futura"/>
              </a:rPr>
              <a:t>20%</a:t>
            </a:r>
          </a:p>
        </p:txBody>
      </p:sp>
      <p:sp>
        <p:nvSpPr>
          <p:cNvPr id="26" name="TextBox 25">
            <a:extLst>
              <a:ext uri="{FF2B5EF4-FFF2-40B4-BE49-F238E27FC236}">
                <a16:creationId xmlns:a16="http://schemas.microsoft.com/office/drawing/2014/main" id="{6E9D98BB-1BB3-FA45-A550-4046AB492114}"/>
              </a:ext>
            </a:extLst>
          </p:cNvPr>
          <p:cNvSpPr txBox="1"/>
          <p:nvPr/>
        </p:nvSpPr>
        <p:spPr>
          <a:xfrm>
            <a:off x="8991600" y="4000500"/>
            <a:ext cx="2057400" cy="279400"/>
          </a:xfrm>
          <a:prstGeom prst="rect">
            <a:avLst/>
          </a:prstGeom>
          <a:noFill/>
          <a:ln>
            <a:noFill/>
          </a:ln>
        </p:spPr>
        <p:txBody>
          <a:bodyPr vertOverflow="overflow" vert="horz" wrap="square" rtlCol="0" anchor="t">
            <a:noAutofit/>
          </a:bodyPr>
          <a:lstStyle/>
          <a:p>
            <a:pPr algn="l"/>
            <a:r>
              <a:rPr lang="en-US" sz="1300" b="1">
                <a:solidFill>
                  <a:srgbClr val="F79226"/>
                </a:solidFill>
                <a:latin typeface="Futura"/>
                <a:cs typeface="Futura"/>
              </a:rPr>
              <a:t>STANDARDS</a:t>
            </a:r>
          </a:p>
        </p:txBody>
      </p:sp>
      <p:sp>
        <p:nvSpPr>
          <p:cNvPr id="27" name="Rectangle 26">
            <a:extLst>
              <a:ext uri="{FF2B5EF4-FFF2-40B4-BE49-F238E27FC236}">
                <a16:creationId xmlns:a16="http://schemas.microsoft.com/office/drawing/2014/main" id="{E94D6068-795A-7B49-AB85-5C361B44EBD5}"/>
              </a:ext>
            </a:extLst>
          </p:cNvPr>
          <p:cNvSpPr/>
          <p:nvPr/>
        </p:nvSpPr>
        <p:spPr>
          <a:xfrm>
            <a:off x="9321800" y="4445000"/>
            <a:ext cx="1397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AF99F691-B7EE-0C4E-B416-80FB45D3285E}"/>
              </a:ext>
            </a:extLst>
          </p:cNvPr>
          <p:cNvSpPr txBox="1"/>
          <p:nvPr/>
        </p:nvSpPr>
        <p:spPr>
          <a:xfrm>
            <a:off x="8991600" y="4635500"/>
            <a:ext cx="2057400" cy="10795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Design, DRY, indexing,
style discipline.</a:t>
            </a:r>
          </a:p>
        </p:txBody>
      </p:sp>
      <p:sp>
        <p:nvSpPr>
          <p:cNvPr id="30" name="Rectangle 29">
            <a:extLst>
              <a:ext uri="{FF2B5EF4-FFF2-40B4-BE49-F238E27FC236}">
                <a16:creationId xmlns:a16="http://schemas.microsoft.com/office/drawing/2014/main" id="{8D791FEF-AC89-744C-A5FF-6147927FADE9}"/>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D665A8BE-8B7A-9F41-893A-A21E19B14C72}"/>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32" name="TextBox 31">
            <a:extLst>
              <a:ext uri="{FF2B5EF4-FFF2-40B4-BE49-F238E27FC236}">
                <a16:creationId xmlns:a16="http://schemas.microsoft.com/office/drawing/2014/main" id="{4F21E9DB-1C16-E946-974D-E86902B0C6FA}"/>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33" name="TextBox 32">
            <a:extLst>
              <a:ext uri="{FF2B5EF4-FFF2-40B4-BE49-F238E27FC236}">
                <a16:creationId xmlns:a16="http://schemas.microsoft.com/office/drawing/2014/main" id="{2ABB6CB0-6B6A-FB4D-AF81-30B3133E31F3}"/>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743211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8CAE9-2418-F5C8-876B-9BB2C26244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FEC29D-3579-D03A-C4F8-D493E871AA24}"/>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Team averages</a:t>
            </a:r>
          </a:p>
        </p:txBody>
      </p:sp>
      <p:sp>
        <p:nvSpPr>
          <p:cNvPr id="3" name="Rectangle 2">
            <a:extLst>
              <a:ext uri="{FF2B5EF4-FFF2-40B4-BE49-F238E27FC236}">
                <a16:creationId xmlns:a16="http://schemas.microsoft.com/office/drawing/2014/main" id="{A0C9B858-CB3A-BEE4-C4EF-9E8BADBFFF32}"/>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951855E9-8E62-2D28-2B70-1D9E9853C2E1}"/>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endParaRPr lang="en-US" sz="1300" i="1">
              <a:solidFill>
                <a:srgbClr val="6C757D"/>
              </a:solidFill>
              <a:latin typeface="Futura"/>
              <a:cs typeface="Futura"/>
            </a:endParaRPr>
          </a:p>
        </p:txBody>
      </p:sp>
      <p:sp>
        <p:nvSpPr>
          <p:cNvPr id="7" name="TextBox 6">
            <a:extLst>
              <a:ext uri="{FF2B5EF4-FFF2-40B4-BE49-F238E27FC236}">
                <a16:creationId xmlns:a16="http://schemas.microsoft.com/office/drawing/2014/main" id="{ADC8C9D6-9426-311D-5BBA-F290B7CAC389}"/>
              </a:ext>
            </a:extLst>
          </p:cNvPr>
          <p:cNvSpPr txBox="1"/>
          <p:nvPr/>
        </p:nvSpPr>
        <p:spPr>
          <a:xfrm>
            <a:off x="2159000" y="5628244"/>
            <a:ext cx="2349500" cy="1778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TESTING</a:t>
            </a:r>
          </a:p>
        </p:txBody>
      </p:sp>
      <p:sp>
        <p:nvSpPr>
          <p:cNvPr id="8" name="TextBox 7">
            <a:extLst>
              <a:ext uri="{FF2B5EF4-FFF2-40B4-BE49-F238E27FC236}">
                <a16:creationId xmlns:a16="http://schemas.microsoft.com/office/drawing/2014/main" id="{55B97A81-C9AE-650C-D0E7-11EA118511B5}"/>
              </a:ext>
            </a:extLst>
          </p:cNvPr>
          <p:cNvSpPr txBox="1"/>
          <p:nvPr/>
        </p:nvSpPr>
        <p:spPr>
          <a:xfrm>
            <a:off x="2159000" y="5844144"/>
            <a:ext cx="2349500" cy="279400"/>
          </a:xfrm>
          <a:prstGeom prst="rect">
            <a:avLst/>
          </a:prstGeom>
          <a:noFill/>
          <a:ln>
            <a:noFill/>
          </a:ln>
        </p:spPr>
        <p:txBody>
          <a:bodyPr vertOverflow="overflow" vert="horz" wrap="square" rtlCol="0" anchor="t">
            <a:noAutofit/>
          </a:bodyPr>
          <a:lstStyle/>
          <a:p>
            <a:pPr algn="l"/>
            <a:r>
              <a:rPr lang="en-US" sz="1600" b="1">
                <a:solidFill>
                  <a:srgbClr val="102033"/>
                </a:solidFill>
                <a:latin typeface="Futura"/>
                <a:cs typeface="Futura"/>
              </a:rPr>
              <a:t>4.7 / 5</a:t>
            </a:r>
          </a:p>
        </p:txBody>
      </p:sp>
      <p:sp>
        <p:nvSpPr>
          <p:cNvPr id="9" name="TextBox 8">
            <a:extLst>
              <a:ext uri="{FF2B5EF4-FFF2-40B4-BE49-F238E27FC236}">
                <a16:creationId xmlns:a16="http://schemas.microsoft.com/office/drawing/2014/main" id="{613B195E-A3E5-3835-A525-9B1E42AB8E3E}"/>
              </a:ext>
            </a:extLst>
          </p:cNvPr>
          <p:cNvSpPr txBox="1"/>
          <p:nvPr/>
        </p:nvSpPr>
        <p:spPr>
          <a:xfrm>
            <a:off x="4508500" y="5628244"/>
            <a:ext cx="2349500" cy="1778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CODE QUALITY</a:t>
            </a:r>
          </a:p>
        </p:txBody>
      </p:sp>
      <p:sp>
        <p:nvSpPr>
          <p:cNvPr id="10" name="TextBox 9">
            <a:extLst>
              <a:ext uri="{FF2B5EF4-FFF2-40B4-BE49-F238E27FC236}">
                <a16:creationId xmlns:a16="http://schemas.microsoft.com/office/drawing/2014/main" id="{DA097ECC-BC2C-67C9-E148-7E98246D1DC1}"/>
              </a:ext>
            </a:extLst>
          </p:cNvPr>
          <p:cNvSpPr txBox="1"/>
          <p:nvPr/>
        </p:nvSpPr>
        <p:spPr>
          <a:xfrm>
            <a:off x="4508500" y="5844144"/>
            <a:ext cx="2349500" cy="279400"/>
          </a:xfrm>
          <a:prstGeom prst="rect">
            <a:avLst/>
          </a:prstGeom>
          <a:noFill/>
          <a:ln>
            <a:noFill/>
          </a:ln>
        </p:spPr>
        <p:txBody>
          <a:bodyPr vertOverflow="overflow" vert="horz" wrap="square" rtlCol="0" anchor="t">
            <a:noAutofit/>
          </a:bodyPr>
          <a:lstStyle/>
          <a:p>
            <a:pPr algn="l"/>
            <a:r>
              <a:rPr lang="en-US" sz="1600" b="1">
                <a:solidFill>
                  <a:srgbClr val="102033"/>
                </a:solidFill>
                <a:latin typeface="Futura"/>
                <a:cs typeface="Futura"/>
              </a:rPr>
              <a:t>4.2 / 5</a:t>
            </a:r>
          </a:p>
        </p:txBody>
      </p:sp>
      <p:sp>
        <p:nvSpPr>
          <p:cNvPr id="11" name="TextBox 10">
            <a:extLst>
              <a:ext uri="{FF2B5EF4-FFF2-40B4-BE49-F238E27FC236}">
                <a16:creationId xmlns:a16="http://schemas.microsoft.com/office/drawing/2014/main" id="{69FC9179-B1BB-660D-6491-A848A3DE1EC4}"/>
              </a:ext>
            </a:extLst>
          </p:cNvPr>
          <p:cNvSpPr txBox="1"/>
          <p:nvPr/>
        </p:nvSpPr>
        <p:spPr>
          <a:xfrm>
            <a:off x="6858000" y="5628244"/>
            <a:ext cx="2349500" cy="1778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COLLABORATION</a:t>
            </a:r>
          </a:p>
        </p:txBody>
      </p:sp>
      <p:sp>
        <p:nvSpPr>
          <p:cNvPr id="12" name="TextBox 11">
            <a:extLst>
              <a:ext uri="{FF2B5EF4-FFF2-40B4-BE49-F238E27FC236}">
                <a16:creationId xmlns:a16="http://schemas.microsoft.com/office/drawing/2014/main" id="{2D3FFF9F-C9BB-464D-6D86-EB83C568CECE}"/>
              </a:ext>
            </a:extLst>
          </p:cNvPr>
          <p:cNvSpPr txBox="1"/>
          <p:nvPr/>
        </p:nvSpPr>
        <p:spPr>
          <a:xfrm>
            <a:off x="6858000" y="5844144"/>
            <a:ext cx="2349500" cy="279400"/>
          </a:xfrm>
          <a:prstGeom prst="rect">
            <a:avLst/>
          </a:prstGeom>
          <a:noFill/>
          <a:ln>
            <a:noFill/>
          </a:ln>
        </p:spPr>
        <p:txBody>
          <a:bodyPr vertOverflow="overflow" vert="horz" wrap="square" rtlCol="0" anchor="t">
            <a:noAutofit/>
          </a:bodyPr>
          <a:lstStyle/>
          <a:p>
            <a:pPr algn="l"/>
            <a:r>
              <a:rPr lang="en-US" sz="1600" b="1">
                <a:solidFill>
                  <a:srgbClr val="102033"/>
                </a:solidFill>
                <a:latin typeface="Futura"/>
                <a:cs typeface="Futura"/>
              </a:rPr>
              <a:t>4.9 / 5</a:t>
            </a:r>
          </a:p>
        </p:txBody>
      </p:sp>
      <p:sp>
        <p:nvSpPr>
          <p:cNvPr id="13" name="TextBox 12">
            <a:extLst>
              <a:ext uri="{FF2B5EF4-FFF2-40B4-BE49-F238E27FC236}">
                <a16:creationId xmlns:a16="http://schemas.microsoft.com/office/drawing/2014/main" id="{FD782A55-D068-48E0-9D05-82A34433A82C}"/>
              </a:ext>
            </a:extLst>
          </p:cNvPr>
          <p:cNvSpPr txBox="1"/>
          <p:nvPr/>
        </p:nvSpPr>
        <p:spPr>
          <a:xfrm>
            <a:off x="9207500" y="5628244"/>
            <a:ext cx="2349500" cy="177800"/>
          </a:xfrm>
          <a:prstGeom prst="rect">
            <a:avLst/>
          </a:prstGeom>
          <a:noFill/>
          <a:ln>
            <a:noFill/>
          </a:ln>
        </p:spPr>
        <p:txBody>
          <a:bodyPr vertOverflow="overflow" vert="horz" wrap="square" rtlCol="0" anchor="t">
            <a:noAutofit/>
          </a:bodyPr>
          <a:lstStyle/>
          <a:p>
            <a:pPr algn="l"/>
            <a:r>
              <a:rPr lang="en-US" sz="900" b="1">
                <a:solidFill>
                  <a:srgbClr val="F79226"/>
                </a:solidFill>
                <a:latin typeface="Futura"/>
                <a:cs typeface="Futura"/>
              </a:rPr>
              <a:t>STANDARDS</a:t>
            </a:r>
          </a:p>
        </p:txBody>
      </p:sp>
      <p:sp>
        <p:nvSpPr>
          <p:cNvPr id="14" name="TextBox 13">
            <a:extLst>
              <a:ext uri="{FF2B5EF4-FFF2-40B4-BE49-F238E27FC236}">
                <a16:creationId xmlns:a16="http://schemas.microsoft.com/office/drawing/2014/main" id="{16076E55-66EE-117B-3925-521C6832FD1F}"/>
              </a:ext>
            </a:extLst>
          </p:cNvPr>
          <p:cNvSpPr txBox="1"/>
          <p:nvPr/>
        </p:nvSpPr>
        <p:spPr>
          <a:xfrm>
            <a:off x="9207500" y="5844144"/>
            <a:ext cx="2349500" cy="279400"/>
          </a:xfrm>
          <a:prstGeom prst="rect">
            <a:avLst/>
          </a:prstGeom>
          <a:noFill/>
          <a:ln>
            <a:noFill/>
          </a:ln>
        </p:spPr>
        <p:txBody>
          <a:bodyPr vertOverflow="overflow" vert="horz" wrap="square" rtlCol="0" anchor="t">
            <a:noAutofit/>
          </a:bodyPr>
          <a:lstStyle/>
          <a:p>
            <a:pPr algn="l"/>
            <a:r>
              <a:rPr lang="en-US" sz="1600" b="1">
                <a:solidFill>
                  <a:srgbClr val="102033"/>
                </a:solidFill>
                <a:latin typeface="Futura"/>
                <a:cs typeface="Futura"/>
              </a:rPr>
              <a:t>3.9 / 5</a:t>
            </a:r>
          </a:p>
        </p:txBody>
      </p:sp>
      <p:sp>
        <p:nvSpPr>
          <p:cNvPr id="15" name="Rectangle 14">
            <a:extLst>
              <a:ext uri="{FF2B5EF4-FFF2-40B4-BE49-F238E27FC236}">
                <a16:creationId xmlns:a16="http://schemas.microsoft.com/office/drawing/2014/main" id="{66B331F3-EA3C-1B80-F0B5-2368DEF258AC}"/>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5C506279-32E5-6F32-7F77-18A010813694}"/>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F763713C-7B56-7254-15C5-46A92482ED98}"/>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DDE107F4-8A45-70D3-215A-3384F677847D}"/>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D2079F5C-F3C4-3EE1-0163-EC1745C41F04}"/>
              </a:ext>
            </a:extLst>
          </p:cNvPr>
          <p:cNvPicPr>
            <a:picLocks noChangeAspect="1"/>
          </p:cNvPicPr>
          <p:nvPr/>
        </p:nvPicPr>
        <p:blipFill>
          <a:blip r:embed="rId3"/>
          <a:stretch>
            <a:fillRect/>
          </a:stretch>
        </p:blipFill>
        <p:spPr>
          <a:xfrm>
            <a:off x="1661669" y="2298700"/>
            <a:ext cx="8868661" cy="148976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774938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DFC2B-864D-504F-38F3-44B5DAA9E3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04692B-24CB-4715-EE0D-DC65853CDEEA}"/>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Team · Strength Patterns</a:t>
            </a:r>
          </a:p>
        </p:txBody>
      </p:sp>
      <p:sp>
        <p:nvSpPr>
          <p:cNvPr id="3" name="Rectangle 2">
            <a:extLst>
              <a:ext uri="{FF2B5EF4-FFF2-40B4-BE49-F238E27FC236}">
                <a16:creationId xmlns:a16="http://schemas.microsoft.com/office/drawing/2014/main" id="{109DFB61-F916-C5F9-0351-A3D969CBEDE9}"/>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3F1E2EE0-2F8C-FE79-7FFA-1486C5BB3D09}"/>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endParaRPr lang="en-US" sz="1300" i="1">
              <a:solidFill>
                <a:srgbClr val="6C757D"/>
              </a:solidFill>
              <a:latin typeface="Futura"/>
              <a:cs typeface="Futura"/>
            </a:endParaRPr>
          </a:p>
        </p:txBody>
      </p:sp>
      <p:sp>
        <p:nvSpPr>
          <p:cNvPr id="15" name="Rectangle 14">
            <a:extLst>
              <a:ext uri="{FF2B5EF4-FFF2-40B4-BE49-F238E27FC236}">
                <a16:creationId xmlns:a16="http://schemas.microsoft.com/office/drawing/2014/main" id="{88697F50-6E62-23B2-2DCA-C199CE73F5A5}"/>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273519C-0831-671E-D02C-F6C07F7D4799}"/>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4BCD33F7-39C0-48DE-F6DC-C286181F8820}"/>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3C20B9B1-3732-9D59-8A42-7FBD58501C3A}"/>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C1945CD6-CB10-BE9C-11CA-3FAAB129F1F8}"/>
              </a:ext>
            </a:extLst>
          </p:cNvPr>
          <p:cNvPicPr>
            <a:picLocks/>
          </p:cNvPicPr>
          <p:nvPr/>
        </p:nvPicPr>
        <p:blipFill>
          <a:blip r:embed="rId3"/>
          <a:srcRect/>
          <a:stretch/>
        </p:blipFill>
        <p:spPr>
          <a:xfrm>
            <a:off x="2819400" y="2095161"/>
            <a:ext cx="6553200" cy="350498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943062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7BD5-9B32-6F79-7029-F23C5FEB9E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DC083E-996A-C93F-7096-8ED8E5E82E3F}"/>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Team · Coaching Opportunities</a:t>
            </a:r>
          </a:p>
        </p:txBody>
      </p:sp>
      <p:sp>
        <p:nvSpPr>
          <p:cNvPr id="3" name="Rectangle 2">
            <a:extLst>
              <a:ext uri="{FF2B5EF4-FFF2-40B4-BE49-F238E27FC236}">
                <a16:creationId xmlns:a16="http://schemas.microsoft.com/office/drawing/2014/main" id="{75D50038-D75F-C67A-B52A-324CD97DDCAC}"/>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90A4CE60-10E8-266A-170F-8B139EA8FC0F}"/>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endParaRPr lang="en-US" sz="1300" i="1">
              <a:solidFill>
                <a:srgbClr val="6C757D"/>
              </a:solidFill>
              <a:latin typeface="Futura"/>
              <a:cs typeface="Futura"/>
            </a:endParaRPr>
          </a:p>
        </p:txBody>
      </p:sp>
      <p:sp>
        <p:nvSpPr>
          <p:cNvPr id="15" name="Rectangle 14">
            <a:extLst>
              <a:ext uri="{FF2B5EF4-FFF2-40B4-BE49-F238E27FC236}">
                <a16:creationId xmlns:a16="http://schemas.microsoft.com/office/drawing/2014/main" id="{67DE8BB9-C14F-5A62-A6A0-123E3CFB3AA7}"/>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88CF26AF-0750-0451-DE5D-DBC64B357FFE}"/>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DACFDA40-0ECD-C09D-37A6-70FD2D419D5B}"/>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534E8A6E-BDCE-9075-A31B-09270C965075}"/>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9F572BC8-F432-7AD1-D93C-D40EF76DE014}"/>
              </a:ext>
            </a:extLst>
          </p:cNvPr>
          <p:cNvPicPr>
            <a:picLocks/>
          </p:cNvPicPr>
          <p:nvPr/>
        </p:nvPicPr>
        <p:blipFill>
          <a:blip r:embed="rId3"/>
          <a:srcRect/>
          <a:stretch/>
        </p:blipFill>
        <p:spPr>
          <a:xfrm>
            <a:off x="2819400" y="2092665"/>
            <a:ext cx="6553200" cy="350997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23869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858B7F-B708-CF47-A46E-3B990DBDD19C}"/>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E2C9DBB-D9EB-F646-837E-426179845C6D}"/>
              </a:ext>
            </a:extLst>
          </p:cNvPr>
          <p:cNvSpPr txBox="1"/>
          <p:nvPr/>
        </p:nvSpPr>
        <p:spPr>
          <a:xfrm>
            <a:off x="1016000" y="3302000"/>
            <a:ext cx="2540000" cy="381000"/>
          </a:xfrm>
          <a:prstGeom prst="rect">
            <a:avLst/>
          </a:prstGeom>
          <a:noFill/>
          <a:ln>
            <a:noFill/>
          </a:ln>
        </p:spPr>
        <p:txBody>
          <a:bodyPr vertOverflow="overflow" vert="horz" wrap="square" rtlCol="0" anchor="t">
            <a:noAutofit/>
          </a:bodyPr>
          <a:lstStyle/>
          <a:p>
            <a:pPr algn="l"/>
            <a:r>
              <a:rPr lang="en-US" sz="1400" b="1">
                <a:solidFill>
                  <a:srgbClr val="F79226"/>
                </a:solidFill>
                <a:latin typeface="Futura"/>
                <a:cs typeface="Futura"/>
              </a:rPr>
              <a:t>05</a:t>
            </a:r>
          </a:p>
        </p:txBody>
      </p:sp>
      <p:sp>
        <p:nvSpPr>
          <p:cNvPr id="4" name="Rectangle 3">
            <a:extLst>
              <a:ext uri="{FF2B5EF4-FFF2-40B4-BE49-F238E27FC236}">
                <a16:creationId xmlns:a16="http://schemas.microsoft.com/office/drawing/2014/main" id="{D878076B-2598-F840-ABD6-D169501E4128}"/>
              </a:ext>
            </a:extLst>
          </p:cNvPr>
          <p:cNvSpPr/>
          <p:nvPr/>
        </p:nvSpPr>
        <p:spPr>
          <a:xfrm>
            <a:off x="1016000" y="3746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0F3ACB10-F325-5C48-B516-632947292958}"/>
              </a:ext>
            </a:extLst>
          </p:cNvPr>
          <p:cNvSpPr txBox="1"/>
          <p:nvPr/>
        </p:nvSpPr>
        <p:spPr>
          <a:xfrm>
            <a:off x="1016000" y="4064000"/>
            <a:ext cx="10160000" cy="1016000"/>
          </a:xfrm>
          <a:prstGeom prst="rect">
            <a:avLst/>
          </a:prstGeom>
          <a:noFill/>
          <a:ln>
            <a:noFill/>
          </a:ln>
        </p:spPr>
        <p:txBody>
          <a:bodyPr vertOverflow="overflow" vert="horz" wrap="square" rtlCol="0" anchor="t">
            <a:noAutofit/>
          </a:bodyPr>
          <a:lstStyle/>
          <a:p>
            <a:pPr algn="l"/>
            <a:r>
              <a:rPr lang="en-US" sz="3400" b="1">
                <a:solidFill>
                  <a:srgbClr val="FFFFFF"/>
                </a:solidFill>
                <a:latin typeface="Futura"/>
                <a:cs typeface="Futura"/>
              </a:rPr>
              <a:t>HOW TO APPLY
THE SIGNALS</a:t>
            </a:r>
          </a:p>
        </p:txBody>
      </p:sp>
      <p:sp>
        <p:nvSpPr>
          <p:cNvPr id="6" name="TextBox 5">
            <a:extLst>
              <a:ext uri="{FF2B5EF4-FFF2-40B4-BE49-F238E27FC236}">
                <a16:creationId xmlns:a16="http://schemas.microsoft.com/office/drawing/2014/main" id="{09A50439-6F03-814D-8837-AF9032B27799}"/>
              </a:ext>
            </a:extLst>
          </p:cNvPr>
          <p:cNvSpPr txBox="1"/>
          <p:nvPr/>
        </p:nvSpPr>
        <p:spPr>
          <a:xfrm>
            <a:off x="1016000" y="5397500"/>
            <a:ext cx="10160000" cy="304800"/>
          </a:xfrm>
          <a:prstGeom prst="rect">
            <a:avLst/>
          </a:prstGeom>
          <a:noFill/>
          <a:ln>
            <a:noFill/>
          </a:ln>
        </p:spPr>
        <p:txBody>
          <a:bodyPr vertOverflow="overflow" vert="horz" wrap="square" rtlCol="0" anchor="t">
            <a:noAutofit/>
          </a:bodyPr>
          <a:lstStyle/>
          <a:p>
            <a:pPr algn="l"/>
            <a:r>
              <a:rPr lang="en-US" sz="1500" i="1">
                <a:solidFill>
                  <a:srgbClr val="C8D1DC"/>
                </a:solidFill>
                <a:latin typeface="Futura"/>
                <a:cs typeface="Futura"/>
              </a:rPr>
              <a:t>From notice → contextualize → conversation.</a:t>
            </a:r>
          </a:p>
        </p:txBody>
      </p:sp>
      <p:sp>
        <p:nvSpPr>
          <p:cNvPr id="7" name="Rectangle 6">
            <a:extLst>
              <a:ext uri="{FF2B5EF4-FFF2-40B4-BE49-F238E27FC236}">
                <a16:creationId xmlns:a16="http://schemas.microsoft.com/office/drawing/2014/main" id="{07080578-D2FC-0D41-BDBC-290839558EF2}"/>
              </a:ext>
            </a:extLst>
          </p:cNvPr>
          <p:cNvSpPr/>
          <p:nvPr/>
        </p:nvSpPr>
        <p:spPr>
          <a:xfrm>
            <a:off x="1016000" y="6223000"/>
            <a:ext cx="10160000" cy="12700"/>
          </a:xfrm>
          <a:prstGeom prst="rect">
            <a:avLst/>
          </a:prstGeom>
          <a:solidFill>
            <a:srgbClr val="2A3A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C54D4C1D-8A37-114E-8D21-6FFAF0102AC6}"/>
              </a:ext>
            </a:extLst>
          </p:cNvPr>
          <p:cNvSpPr txBox="1"/>
          <p:nvPr/>
        </p:nvSpPr>
        <p:spPr>
          <a:xfrm>
            <a:off x="8636000" y="6413500"/>
            <a:ext cx="2540000" cy="228600"/>
          </a:xfrm>
          <a:prstGeom prst="rect">
            <a:avLst/>
          </a:prstGeom>
          <a:noFill/>
          <a:ln>
            <a:noFill/>
          </a:ln>
        </p:spPr>
        <p:txBody>
          <a:bodyPr vertOverflow="overflow" vert="horz" wrap="square" rtlCol="0" anchor="t">
            <a:noAutofit/>
          </a:bodyPr>
          <a:lstStyle/>
          <a:p>
            <a:pPr algn="l"/>
            <a:r>
              <a:rPr lang="en-US" sz="1000">
                <a:solidFill>
                  <a:srgbClr val="9AA4B2"/>
                </a:solidFill>
                <a:latin typeface="Futura"/>
                <a:cs typeface="Futura"/>
              </a:rPr>
              <a:t>SECTION 05 / 07</a:t>
            </a:r>
          </a:p>
        </p:txBody>
      </p:sp>
    </p:spTree>
    <p:extLst>
      <p:ext uri="{BB962C8B-B14F-4D97-AF65-F5344CB8AC3E}">
        <p14:creationId xmlns:p14="http://schemas.microsoft.com/office/powerpoint/2010/main" val="675381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D458-515F-DC04-7644-CA78D8E52A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35D279-221F-1680-559F-D839427AD19D}"/>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7CEEBBA8-4A9A-1B40-2CE8-795B3504EED6}"/>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B3B42DB8-FFA3-3FE8-3E32-96146BA0D898}"/>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5A2EC870-5354-2D94-5FC3-ED85F336E7F6}"/>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A40999A0-A119-BA38-6D47-EA0FB3E68565}"/>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E96D581C-3955-8448-20A3-5D89DA607E36}"/>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0BD3393E-E4E7-3454-7AEB-EE3F93B3E507}"/>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6984A2EC-9701-8FD0-C0BD-31B0549178E6}"/>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DD9E6975-C03E-2206-A9DD-83DA48C6828E}"/>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0C2543BA-86AA-243D-DB86-E3CDB9BD5541}"/>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BF40443C-BA56-4DA4-F91D-2C59B328A8B2}"/>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35C95B25-0E27-AACF-3F48-C4A23AB3021F}"/>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4B505046-5493-1E1B-B2ED-AC3279108483}"/>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1A3A0FF6-352A-FA04-9138-1C0C1707A2CB}"/>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C7E71DB7-9EDD-58DA-30F0-3A7B68997448}"/>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6" name="Picture 5">
            <a:extLst>
              <a:ext uri="{FF2B5EF4-FFF2-40B4-BE49-F238E27FC236}">
                <a16:creationId xmlns:a16="http://schemas.microsoft.com/office/drawing/2014/main" id="{731C3F33-6E81-6717-1C25-DF6B9F35687C}"/>
              </a:ext>
            </a:extLst>
          </p:cNvPr>
          <p:cNvPicPr>
            <a:picLocks noChangeAspect="1"/>
          </p:cNvPicPr>
          <p:nvPr/>
        </p:nvPicPr>
        <p:blipFill>
          <a:blip r:embed="rId3"/>
          <a:stretch>
            <a:fillRect/>
          </a:stretch>
        </p:blipFill>
        <p:spPr>
          <a:xfrm>
            <a:off x="1329400" y="2406670"/>
            <a:ext cx="9533200" cy="281936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076146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1DFB07-5467-CD44-AFC1-3F00ADE26DEB}"/>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7FC77982-97F9-414A-8985-B0F7D6B6374A}"/>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E58918F-63FB-A14E-9A6B-64E21F8C8D2E}"/>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2987A458-01D9-0343-B4EB-0117BDE27832}"/>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7CDC297F-402E-A34A-B2EA-EB2224A51191}"/>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E41AF239-5AFF-E24A-B58F-6E3752EF1038}"/>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58739F75-91E5-5F46-AB43-82910174011A}"/>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F4D6A8F1-6BD4-464D-A017-64CB19EB9899}"/>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3C95CC4A-3B7B-A840-B904-88B8C6596D1E}"/>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5BCB8257-3BD0-3245-86A2-314C5562189F}"/>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8DD2C9E2-F498-9E44-A054-74B69C3B9C36}"/>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A17726C9-B57F-F141-95A9-D3E9F1CAA4EE}"/>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DD0303C-EC01-9D4C-B850-C81C5DF7D70F}"/>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B394D0A7-6304-C545-9AA7-E0E5F492D322}"/>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321D1A5D-8B6B-034E-98D1-0671EE872DB1}"/>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4CC8189A-AFC4-D16C-C625-87176526D4A8}"/>
              </a:ext>
            </a:extLst>
          </p:cNvPr>
          <p:cNvPicPr>
            <a:picLocks noChangeAspect="1"/>
          </p:cNvPicPr>
          <p:nvPr/>
        </p:nvPicPr>
        <p:blipFill>
          <a:blip r:embed="rId3"/>
          <a:stretch>
            <a:fillRect/>
          </a:stretch>
        </p:blipFill>
        <p:spPr>
          <a:xfrm>
            <a:off x="1445260" y="2408318"/>
            <a:ext cx="9555480" cy="271668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153746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061-5855-6692-34FE-14F53C8340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FE7F7C-5D00-1E4B-1ACF-05849A73E133}"/>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D1358F12-121C-F339-0AAD-8BD1BFD04A79}"/>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E79E544-A41C-9C6F-0E47-859272AAA5A9}"/>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64D2D61A-90B6-5F4C-9534-20C650961BC9}"/>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4EB845E7-49B9-F1A1-27FF-A3141F4F97FE}"/>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6E74A76A-1574-F14A-071C-87CEEB3090EE}"/>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927AAA3-C454-1FF8-265D-443737BFC256}"/>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E4712894-FB71-A0F0-290F-D222BF468E85}"/>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0F879C76-AE9F-0F57-ED03-5177FC5B21F2}"/>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EAEC711E-3FB8-AA0D-0473-60598885BE0E}"/>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9B126692-6374-BE21-85C7-C6AC3E04FC4C}"/>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C8567BCA-D360-46DA-E31B-D503519149CF}"/>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4C5EFDB4-ABA8-C1A3-7146-1CAD052F9401}"/>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F3295C01-B8EB-12C3-78EC-C0CA60A3D338}"/>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8BF7FFA6-22F3-2EEA-7E1F-6144F4D1A326}"/>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0A9C9E0C-EA81-2A24-20BE-94E3F716CB7E}"/>
              </a:ext>
            </a:extLst>
          </p:cNvPr>
          <p:cNvPicPr>
            <a:picLocks noChangeAspect="1"/>
          </p:cNvPicPr>
          <p:nvPr/>
        </p:nvPicPr>
        <p:blipFill>
          <a:blip r:embed="rId3"/>
          <a:srcRect l="41" r="-41" b="89628"/>
          <a:stretch>
            <a:fillRect/>
          </a:stretch>
        </p:blipFill>
        <p:spPr>
          <a:xfrm>
            <a:off x="1143000" y="2413000"/>
            <a:ext cx="9906000" cy="135079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001219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CD243-FB1D-3E27-9786-3BD5DD50AF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80ED21-EC4C-1EB7-CC15-DAA52D38E043}"/>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4C669C1E-8787-51A7-E624-3DA3FF4C56F4}"/>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7499E75B-2901-F3D6-FA5C-EF33AFAA7A29}"/>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10FF1431-0C4C-5852-9B50-CE54914D93F1}"/>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12C4E537-DBB7-1E3C-6413-4F4C1231023D}"/>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EF15F621-EB61-FF5E-89B8-A2E73B22EB49}"/>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54C223E6-B095-FEBE-221F-B0897248A89D}"/>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27A679D8-9F00-690A-AA03-FD47EFAF8CB7}"/>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20597F4D-F712-3FE7-724C-EDD960862BE4}"/>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30BE1356-5A9E-6571-2056-B4F5C36407FB}"/>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383C1EE5-361B-A50F-C359-2C12AC520C6C}"/>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BADD57B9-82F0-C715-4D41-34EDBB967CA7}"/>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40B4C708-92AD-BAA6-3656-07F9BB57B34A}"/>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334C8B83-811B-48E6-F25D-80823DBFA5FE}"/>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68376647-10F7-6ED7-2BA1-17CC2C0EF0F9}"/>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19" name="Picture 18">
            <a:extLst>
              <a:ext uri="{FF2B5EF4-FFF2-40B4-BE49-F238E27FC236}">
                <a16:creationId xmlns:a16="http://schemas.microsoft.com/office/drawing/2014/main" id="{56DC102C-98BB-0E2F-8DF0-D01F0273A7DB}"/>
              </a:ext>
            </a:extLst>
          </p:cNvPr>
          <p:cNvPicPr>
            <a:picLocks noChangeAspect="1"/>
          </p:cNvPicPr>
          <p:nvPr/>
        </p:nvPicPr>
        <p:blipFill>
          <a:blip r:embed="rId3"/>
          <a:srcRect l="-82" r="82" b="57333"/>
          <a:stretch>
            <a:fillRect/>
          </a:stretch>
        </p:blipFill>
        <p:spPr>
          <a:xfrm>
            <a:off x="1017865" y="2298700"/>
            <a:ext cx="4579280" cy="2926080"/>
          </a:xfrm>
          <a:prstGeom prst="rect">
            <a:avLst/>
          </a:prstGeom>
        </p:spPr>
      </p:pic>
      <p:pic>
        <p:nvPicPr>
          <p:cNvPr id="21" name="Picture 20">
            <a:extLst>
              <a:ext uri="{FF2B5EF4-FFF2-40B4-BE49-F238E27FC236}">
                <a16:creationId xmlns:a16="http://schemas.microsoft.com/office/drawing/2014/main" id="{66036E26-C6AB-B1C1-6D1E-726064306A9E}"/>
              </a:ext>
            </a:extLst>
          </p:cNvPr>
          <p:cNvPicPr>
            <a:picLocks noChangeAspect="1"/>
          </p:cNvPicPr>
          <p:nvPr/>
        </p:nvPicPr>
        <p:blipFill>
          <a:blip r:embed="rId3"/>
          <a:srcRect l="-21" t="42000" r="-21" b="18000"/>
          <a:stretch>
            <a:fillRect/>
          </a:stretch>
        </p:blipFill>
        <p:spPr>
          <a:xfrm>
            <a:off x="6594856" y="2438400"/>
            <a:ext cx="4581144" cy="2743200"/>
          </a:xfrm>
          <a:prstGeom prst="rect">
            <a:avLst/>
          </a:prstGeom>
        </p:spPr>
      </p:pic>
    </p:spTree>
    <p:extLst>
      <p:ext uri="{BB962C8B-B14F-4D97-AF65-F5344CB8AC3E}">
        <p14:creationId xmlns:p14="http://schemas.microsoft.com/office/powerpoint/2010/main" val="1795516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D9565-A25E-2835-F1AB-BB9FA4FFEA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9568BE-167E-46F9-A3A1-A8E11A2F3A19}"/>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6642B700-A67D-68D8-E0A7-186D15EEE6E8}"/>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A13349FF-2870-2B3A-D6E5-8425A8D7AB69}"/>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2BA3DD6D-39A8-2F44-7751-4CB64D50D446}"/>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7FFBA64-AC8D-59C8-9E9A-48BB69009F28}"/>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E99FC70E-3CE7-C1F4-C25D-276532DF5EE4}"/>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847620F1-2021-78F5-8EA9-907D15091F2D}"/>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C908862A-5383-26E3-41F8-6655D6A3C721}"/>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8EE52745-463C-4143-5D8E-F545DF9FEBC8}"/>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B975B4B1-37CC-0951-34A9-942E8EB2ACE7}"/>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3691E419-4E31-8DD5-C736-AA673B985AB3}"/>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18496E63-4201-63EC-2F29-6BB6576B41C0}"/>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0B9A0898-68DB-3E14-D7CE-9F112855CCBA}"/>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088BD8CE-5F6F-8928-FAAE-78363EE60CDE}"/>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B32A6691-D31C-69D7-5E0E-2E5B8F6B68FB}"/>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7DA08B2E-FD36-B87E-84F8-102DC3EA9344}"/>
              </a:ext>
            </a:extLst>
          </p:cNvPr>
          <p:cNvPicPr>
            <a:picLocks noChangeAspect="1"/>
          </p:cNvPicPr>
          <p:nvPr/>
        </p:nvPicPr>
        <p:blipFill>
          <a:blip r:embed="rId3"/>
          <a:srcRect/>
          <a:stretch/>
        </p:blipFill>
        <p:spPr>
          <a:xfrm>
            <a:off x="1445260" y="2408318"/>
            <a:ext cx="9555479" cy="271668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2420680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7A60-5B99-B15B-3ED4-C5BFD0B5F4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CD12E8-4592-2DF4-D710-B1FEF1200AAA}"/>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A2709BA0-C447-A99B-3A7A-982D6D117727}"/>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2681D16-D4AB-95B6-5764-9E26B4A6DE53}"/>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80A7E393-FDFE-C8D8-850F-AB3D9267FFE9}"/>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560F34F-932C-3535-D8E9-D2B64C569E54}"/>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CC91BBB6-5641-B4C5-626B-B4ABAE519626}"/>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22F50F67-84E6-309D-D486-761F30C6A305}"/>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37B8D755-D476-8FD3-F999-EA345E34F098}"/>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A5DFE005-1D03-932A-B260-9DA073202DA1}"/>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AFAF8F4F-8805-F421-2BA2-283CC4A287B1}"/>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7A3CB971-E3BA-B1BF-7290-0E3B0BFA93AD}"/>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73615DBD-FCC8-DA14-C3FD-B6F4EDE940AA}"/>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0F4E8AE0-5204-1401-CAD5-D5718367B7A3}"/>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DADF32C1-CBF9-0D27-E6CA-AE6209854423}"/>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0855C153-E0BD-8C81-1E65-46C08537DC5E}"/>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6" name="Picture 5">
            <a:extLst>
              <a:ext uri="{FF2B5EF4-FFF2-40B4-BE49-F238E27FC236}">
                <a16:creationId xmlns:a16="http://schemas.microsoft.com/office/drawing/2014/main" id="{5DC4E31A-CDCD-B6BE-7A83-9EC4299EB1AC}"/>
              </a:ext>
            </a:extLst>
          </p:cNvPr>
          <p:cNvPicPr>
            <a:picLocks noChangeAspect="1"/>
          </p:cNvPicPr>
          <p:nvPr/>
        </p:nvPicPr>
        <p:blipFill>
          <a:blip r:embed="rId3"/>
          <a:srcRect l="-89" r="89" b="66667"/>
          <a:stretch>
            <a:fillRect/>
          </a:stretch>
        </p:blipFill>
        <p:spPr>
          <a:xfrm>
            <a:off x="1042415" y="2298700"/>
            <a:ext cx="4579280" cy="2286000"/>
          </a:xfrm>
          <a:prstGeom prst="rect">
            <a:avLst/>
          </a:prstGeom>
        </p:spPr>
      </p:pic>
      <p:pic>
        <p:nvPicPr>
          <p:cNvPr id="20" name="Picture 19">
            <a:extLst>
              <a:ext uri="{FF2B5EF4-FFF2-40B4-BE49-F238E27FC236}">
                <a16:creationId xmlns:a16="http://schemas.microsoft.com/office/drawing/2014/main" id="{DC9CA555-FF62-4F3A-BE68-4F9706C17511}"/>
              </a:ext>
            </a:extLst>
          </p:cNvPr>
          <p:cNvPicPr>
            <a:picLocks noChangeAspect="1"/>
          </p:cNvPicPr>
          <p:nvPr/>
        </p:nvPicPr>
        <p:blipFill>
          <a:blip r:embed="rId3"/>
          <a:srcRect l="-1" t="65333" r="-41" b="1334"/>
          <a:stretch>
            <a:fillRect/>
          </a:stretch>
        </p:blipFill>
        <p:spPr>
          <a:xfrm>
            <a:off x="6726428" y="2413000"/>
            <a:ext cx="4581144" cy="2286000"/>
          </a:xfrm>
          <a:prstGeom prst="rect">
            <a:avLst/>
          </a:prstGeom>
        </p:spPr>
      </p:pic>
    </p:spTree>
    <p:extLst>
      <p:ext uri="{BB962C8B-B14F-4D97-AF65-F5344CB8AC3E}">
        <p14:creationId xmlns:p14="http://schemas.microsoft.com/office/powerpoint/2010/main" val="3050540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57472-7306-F3B3-EF06-7336758550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4BCF1F-E5DC-7701-761E-B0CD615FB415}"/>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9F7DD625-7223-F3FF-CFA5-901BEC77C5E5}"/>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D0ABB9AC-5470-A9DC-F9F0-8BC9A6EC74D4}"/>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C5B05A31-5FC4-C4FF-2036-8688654BBDAA}"/>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2A5C7A5F-F7C4-86FD-FD5D-C6643EC3D075}"/>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FC7797A6-926C-EFD9-6B94-9D7541889B26}"/>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D309B21-A945-ECAB-3512-339040CAEFC4}"/>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5FFEFBD2-6FA0-A7FF-84AC-5E2749EDCADA}"/>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79447625-7712-9EDF-9CDA-22523FB909CA}"/>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3E459411-E360-6BFD-D5F6-A0D239263F28}"/>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BE808BBF-9F31-D95D-98BF-DE4B08E21F0E}"/>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AE7B25EB-69EC-03E9-9979-F13BC3A6FCF7}"/>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6A975BCB-A88B-044E-E400-27B68816B3A4}"/>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18AC9D12-65B3-CA43-0BA0-C4FAF08E1ED4}"/>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09871026-4CC8-3644-07A0-08F53E656EA2}"/>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6" name="Picture 5">
            <a:extLst>
              <a:ext uri="{FF2B5EF4-FFF2-40B4-BE49-F238E27FC236}">
                <a16:creationId xmlns:a16="http://schemas.microsoft.com/office/drawing/2014/main" id="{2B38EECB-4A83-009F-91B0-3E9FDF216AE8}"/>
              </a:ext>
            </a:extLst>
          </p:cNvPr>
          <p:cNvPicPr>
            <a:picLocks noChangeAspect="1"/>
          </p:cNvPicPr>
          <p:nvPr/>
        </p:nvPicPr>
        <p:blipFill>
          <a:blip r:embed="rId3"/>
          <a:stretch>
            <a:fillRect/>
          </a:stretch>
        </p:blipFill>
        <p:spPr>
          <a:xfrm>
            <a:off x="1066800" y="2317750"/>
            <a:ext cx="9631550" cy="1187450"/>
          </a:xfrm>
          <a:prstGeom prst="rect">
            <a:avLst/>
          </a:prstGeom>
        </p:spPr>
      </p:pic>
      <p:pic>
        <p:nvPicPr>
          <p:cNvPr id="23" name="Picture 22">
            <a:extLst>
              <a:ext uri="{FF2B5EF4-FFF2-40B4-BE49-F238E27FC236}">
                <a16:creationId xmlns:a16="http://schemas.microsoft.com/office/drawing/2014/main" id="{A893CC9E-5BC2-FC7C-BB0B-531EC6937EAA}"/>
              </a:ext>
            </a:extLst>
          </p:cNvPr>
          <p:cNvPicPr>
            <a:picLocks noChangeAspect="1"/>
          </p:cNvPicPr>
          <p:nvPr/>
        </p:nvPicPr>
        <p:blipFill>
          <a:blip r:embed="rId4"/>
          <a:stretch>
            <a:fillRect/>
          </a:stretch>
        </p:blipFill>
        <p:spPr>
          <a:xfrm>
            <a:off x="1066800" y="3816350"/>
            <a:ext cx="9795204" cy="755650"/>
          </a:xfrm>
          <a:prstGeom prst="rect">
            <a:avLst/>
          </a:prstGeom>
        </p:spPr>
      </p:pic>
    </p:spTree>
    <p:extLst>
      <p:ext uri="{BB962C8B-B14F-4D97-AF65-F5344CB8AC3E}">
        <p14:creationId xmlns:p14="http://schemas.microsoft.com/office/powerpoint/2010/main" val="2636907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33AD-EAC8-6201-113D-6AD8249BF9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DDA42B-40FB-0A41-36AA-BB2F71832299}"/>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One engineer</a:t>
            </a:r>
            <a:r>
              <a:rPr lang="en-US" sz="2400" b="1">
                <a:solidFill>
                  <a:srgbClr val="102033"/>
                </a:solidFill>
                <a:latin typeface="Futura"/>
                <a:cs typeface="Futura"/>
              </a:rPr>
              <a:t> · </a:t>
            </a:r>
            <a:r>
              <a:rPr lang="en-US" sz="2600" b="1">
                <a:solidFill>
                  <a:srgbClr val="102033"/>
                </a:solidFill>
                <a:latin typeface="Futura"/>
                <a:cs typeface="Futura"/>
              </a:rPr>
              <a:t>at a glance</a:t>
            </a:r>
          </a:p>
        </p:txBody>
      </p:sp>
      <p:sp>
        <p:nvSpPr>
          <p:cNvPr id="3" name="Rectangle 2">
            <a:extLst>
              <a:ext uri="{FF2B5EF4-FFF2-40B4-BE49-F238E27FC236}">
                <a16:creationId xmlns:a16="http://schemas.microsoft.com/office/drawing/2014/main" id="{932ABD80-BFC7-E2A6-4E70-60784BC58192}"/>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191AB86-E21C-882A-7A98-C427226EA3ED}"/>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Team context, PR signals, AI coaching suggestions; all on one page.</a:t>
            </a:r>
          </a:p>
        </p:txBody>
      </p:sp>
      <p:sp>
        <p:nvSpPr>
          <p:cNvPr id="7" name="Rectangle 6">
            <a:extLst>
              <a:ext uri="{FF2B5EF4-FFF2-40B4-BE49-F238E27FC236}">
                <a16:creationId xmlns:a16="http://schemas.microsoft.com/office/drawing/2014/main" id="{F055AE62-A4F4-2299-C867-0C5C4CB2892F}"/>
              </a:ext>
            </a:extLst>
          </p:cNvPr>
          <p:cNvSpPr/>
          <p:nvPr/>
        </p:nvSpPr>
        <p:spPr>
          <a:xfrm>
            <a:off x="1397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2864EFF5-CDB4-434A-976D-1B2CB70ECBF1}"/>
              </a:ext>
            </a:extLst>
          </p:cNvPr>
          <p:cNvSpPr txBox="1"/>
          <p:nvPr/>
        </p:nvSpPr>
        <p:spPr>
          <a:xfrm>
            <a:off x="1397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TEAM CONTEXT</a:t>
            </a:r>
          </a:p>
        </p:txBody>
      </p:sp>
      <p:sp>
        <p:nvSpPr>
          <p:cNvPr id="9" name="Rectangle 8">
            <a:extLst>
              <a:ext uri="{FF2B5EF4-FFF2-40B4-BE49-F238E27FC236}">
                <a16:creationId xmlns:a16="http://schemas.microsoft.com/office/drawing/2014/main" id="{05FB37E7-AB06-9CDF-1423-B9E7AD9AE591}"/>
              </a:ext>
            </a:extLst>
          </p:cNvPr>
          <p:cNvSpPr/>
          <p:nvPr/>
        </p:nvSpPr>
        <p:spPr>
          <a:xfrm>
            <a:off x="3810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6ECB6419-2E28-F354-C79D-AF675D1F1845}"/>
              </a:ext>
            </a:extLst>
          </p:cNvPr>
          <p:cNvSpPr txBox="1"/>
          <p:nvPr/>
        </p:nvSpPr>
        <p:spPr>
          <a:xfrm>
            <a:off x="3810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PR SIGNALS</a:t>
            </a:r>
          </a:p>
        </p:txBody>
      </p:sp>
      <p:sp>
        <p:nvSpPr>
          <p:cNvPr id="11" name="Rectangle 10">
            <a:extLst>
              <a:ext uri="{FF2B5EF4-FFF2-40B4-BE49-F238E27FC236}">
                <a16:creationId xmlns:a16="http://schemas.microsoft.com/office/drawing/2014/main" id="{96EBBC86-C47D-494D-06C6-6DEF05C4D18D}"/>
              </a:ext>
            </a:extLst>
          </p:cNvPr>
          <p:cNvSpPr/>
          <p:nvPr/>
        </p:nvSpPr>
        <p:spPr>
          <a:xfrm>
            <a:off x="6223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2DDC915C-8FF9-D62C-0B56-CC6454C8ED4A}"/>
              </a:ext>
            </a:extLst>
          </p:cNvPr>
          <p:cNvSpPr txBox="1"/>
          <p:nvPr/>
        </p:nvSpPr>
        <p:spPr>
          <a:xfrm>
            <a:off x="6223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COACHING PROMPT</a:t>
            </a:r>
          </a:p>
        </p:txBody>
      </p:sp>
      <p:sp>
        <p:nvSpPr>
          <p:cNvPr id="13" name="Rectangle 12">
            <a:extLst>
              <a:ext uri="{FF2B5EF4-FFF2-40B4-BE49-F238E27FC236}">
                <a16:creationId xmlns:a16="http://schemas.microsoft.com/office/drawing/2014/main" id="{3AFAF215-B1CA-BA73-4AE2-01441B2A8069}"/>
              </a:ext>
            </a:extLst>
          </p:cNvPr>
          <p:cNvSpPr/>
          <p:nvPr/>
        </p:nvSpPr>
        <p:spPr>
          <a:xfrm>
            <a:off x="8636000" y="5689600"/>
            <a:ext cx="381000" cy="1905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0DC63B94-9FA0-EFD9-57B8-BC204EDB861E}"/>
              </a:ext>
            </a:extLst>
          </p:cNvPr>
          <p:cNvSpPr txBox="1"/>
          <p:nvPr/>
        </p:nvSpPr>
        <p:spPr>
          <a:xfrm>
            <a:off x="8636000" y="5778500"/>
            <a:ext cx="2286000" cy="228600"/>
          </a:xfrm>
          <a:prstGeom prst="rect">
            <a:avLst/>
          </a:prstGeom>
          <a:noFill/>
          <a:ln>
            <a:noFill/>
          </a:ln>
        </p:spPr>
        <p:txBody>
          <a:bodyPr vertOverflow="overflow" vert="horz" wrap="square" rtlCol="0" anchor="t">
            <a:noAutofit/>
          </a:bodyPr>
          <a:lstStyle/>
          <a:p>
            <a:pPr algn="l"/>
            <a:r>
              <a:rPr lang="en-US" sz="1000" b="1">
                <a:solidFill>
                  <a:srgbClr val="102033"/>
                </a:solidFill>
                <a:latin typeface="Futura"/>
                <a:cs typeface="Futura"/>
              </a:rPr>
              <a:t>SCORE BREAKDOWN</a:t>
            </a:r>
          </a:p>
        </p:txBody>
      </p:sp>
      <p:sp>
        <p:nvSpPr>
          <p:cNvPr id="15" name="Rectangle 14">
            <a:extLst>
              <a:ext uri="{FF2B5EF4-FFF2-40B4-BE49-F238E27FC236}">
                <a16:creationId xmlns:a16="http://schemas.microsoft.com/office/drawing/2014/main" id="{BFDF2600-9078-4B4A-023B-58CDADD78DF6}"/>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DD569E49-A806-A4B6-9FA5-209E02902931}"/>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10FE0D3D-80B1-BD45-8C44-E96E387526F3}"/>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47B15019-4799-887A-E3EC-C8BA40FD2AF4}"/>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1" name="Picture 20">
            <a:extLst>
              <a:ext uri="{FF2B5EF4-FFF2-40B4-BE49-F238E27FC236}">
                <a16:creationId xmlns:a16="http://schemas.microsoft.com/office/drawing/2014/main" id="{B8D6B325-4B91-C98A-2E16-9D44A2493FEA}"/>
              </a:ext>
            </a:extLst>
          </p:cNvPr>
          <p:cNvPicPr>
            <a:picLocks noChangeAspect="1"/>
          </p:cNvPicPr>
          <p:nvPr/>
        </p:nvPicPr>
        <p:blipFill>
          <a:blip r:embed="rId3"/>
          <a:stretch>
            <a:fillRect/>
          </a:stretch>
        </p:blipFill>
        <p:spPr>
          <a:xfrm>
            <a:off x="3600450" y="2124275"/>
            <a:ext cx="5245100" cy="344162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627863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97043-0891-C742-8F16-4C541B1C78F0}"/>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From numbers to conversation</a:t>
            </a:r>
          </a:p>
        </p:txBody>
      </p:sp>
      <p:sp>
        <p:nvSpPr>
          <p:cNvPr id="3" name="Rectangle 2">
            <a:extLst>
              <a:ext uri="{FF2B5EF4-FFF2-40B4-BE49-F238E27FC236}">
                <a16:creationId xmlns:a16="http://schemas.microsoft.com/office/drawing/2014/main" id="{1AC29D6D-3E9C-FB42-B6D9-E30AE11E2D40}"/>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CF31135-4962-FF4A-A152-1F344848551F}"/>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AI-generated coaching summary with guardrails in the prompt.</a:t>
            </a:r>
          </a:p>
        </p:txBody>
      </p:sp>
      <p:sp>
        <p:nvSpPr>
          <p:cNvPr id="5" name="Rectangle 4">
            <a:extLst>
              <a:ext uri="{FF2B5EF4-FFF2-40B4-BE49-F238E27FC236}">
                <a16:creationId xmlns:a16="http://schemas.microsoft.com/office/drawing/2014/main" id="{7A0D272D-B9DD-4E40-8003-D76319AD778E}"/>
              </a:ext>
            </a:extLst>
          </p:cNvPr>
          <p:cNvSpPr/>
          <p:nvPr/>
        </p:nvSpPr>
        <p:spPr>
          <a:xfrm>
            <a:off x="1016000" y="2222500"/>
            <a:ext cx="10160000" cy="3784600"/>
          </a:xfrm>
          <a:prstGeom prst="rect">
            <a:avLst/>
          </a:prstGeom>
          <a:solidFill>
            <a:srgbClr val="F6F6F6"/>
          </a:solidFill>
          <a:ln w="19050" cap="flat" cmpd="sng" algn="ctr">
            <a:noFill/>
            <a:prstDash val="solid"/>
            <a:miter lim="800000"/>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CodeBlockContent">
            <a:extLst>
              <a:ext uri="{FF2B5EF4-FFF2-40B4-BE49-F238E27FC236}">
                <a16:creationId xmlns:a16="http://schemas.microsoft.com/office/drawing/2014/main" id="{E71AE568-97FD-884B-830E-DC6540CFB3C3}"/>
              </a:ext>
            </a:extLst>
          </p:cNvPr>
          <p:cNvSpPr txBox="1"/>
          <p:nvPr/>
        </p:nvSpPr>
        <p:spPr>
          <a:xfrm>
            <a:off x="1397000" y="2413000"/>
            <a:ext cx="9398000" cy="3048000"/>
          </a:xfrm>
          <a:prstGeom prst="rect">
            <a:avLst/>
          </a:prstGeom>
          <a:noFill/>
          <a:ln>
            <a:noFill/>
          </a:ln>
        </p:spPr>
        <p:txBody>
          <a:bodyPr vertOverflow="overflow" vert="horz" wrap="square" rtlCol="0" anchor="t">
            <a:noAutofit/>
          </a:bodyPr>
          <a:lstStyle/>
          <a:p>
            <a:pPr>
              <a:lnSpc>
                <a:spcPts val="1600"/>
              </a:lnSpc>
            </a:pPr>
            <a:r>
              <a:rPr lang="en-US" sz="1300">
                <a:solidFill>
                  <a:srgbClr val="102033"/>
                </a:solidFill>
                <a:latin typeface="Consolas"/>
              </a:rPr>
              <a:t>You are an engineering leadership coach.</a:t>
            </a:r>
          </a:p>
          <a:p>
            <a:pPr>
              <a:lnSpc>
                <a:spcPts val="1600"/>
              </a:lnSpc>
            </a:pPr>
            <a:endParaRPr lang="en-US" sz="1300">
              <a:latin typeface="Consolas"/>
            </a:endParaRPr>
          </a:p>
          <a:p>
            <a:pPr>
              <a:lnSpc>
                <a:spcPts val="1600"/>
              </a:lnSpc>
            </a:pPr>
            <a:r>
              <a:rPr lang="en-US" sz="1300">
                <a:solidFill>
                  <a:srgbClr val="102033"/>
                </a:solidFill>
                <a:latin typeface="Consolas"/>
              </a:rPr>
              <a:t>Analyze this engineer's metrics and generate</a:t>
            </a:r>
          </a:p>
          <a:p>
            <a:pPr>
              <a:lnSpc>
                <a:spcPts val="1600"/>
              </a:lnSpc>
            </a:pPr>
            <a:r>
              <a:rPr lang="en-US" sz="1300">
                <a:solidFill>
                  <a:srgbClr val="102033"/>
                </a:solidFill>
                <a:latin typeface="Consolas"/>
              </a:rPr>
              <a:t>a coaching summary for their manager's 1:1.</a:t>
            </a:r>
          </a:p>
          <a:p>
            <a:pPr>
              <a:lnSpc>
                <a:spcPts val="1600"/>
              </a:lnSpc>
            </a:pPr>
            <a:endParaRPr lang="en-US" sz="1300">
              <a:latin typeface="Consolas"/>
            </a:endParaRPr>
          </a:p>
          <a:p>
            <a:pPr>
              <a:lnSpc>
                <a:spcPts val="1600"/>
              </a:lnSpc>
            </a:pPr>
            <a:r>
              <a:rPr lang="en-US" sz="1300">
                <a:solidFill>
                  <a:srgbClr val="102033"/>
                </a:solidFill>
                <a:latin typeface="Consolas"/>
              </a:rPr>
              <a:t>Input: current scores, score history, PR metrics,</a:t>
            </a:r>
          </a:p>
          <a:p>
            <a:pPr>
              <a:lnSpc>
                <a:spcPts val="1600"/>
              </a:lnSpc>
            </a:pPr>
            <a:r>
              <a:rPr lang="en-US" sz="1300">
                <a:solidFill>
                  <a:srgbClr val="102033"/>
                </a:solidFill>
                <a:latin typeface="Consolas"/>
              </a:rPr>
              <a:t>velocity data, classification highlights.</a:t>
            </a:r>
          </a:p>
          <a:p>
            <a:pPr>
              <a:lnSpc>
                <a:spcPts val="1600"/>
              </a:lnSpc>
            </a:pPr>
            <a:endParaRPr lang="en-US" sz="1300">
              <a:latin typeface="Consolas"/>
            </a:endParaRPr>
          </a:p>
          <a:p>
            <a:pPr>
              <a:lnSpc>
                <a:spcPts val="1600"/>
              </a:lnSpc>
            </a:pPr>
            <a:r>
              <a:rPr lang="en-US" sz="1300">
                <a:solidFill>
                  <a:srgbClr val="102033"/>
                </a:solidFill>
                <a:latin typeface="Consolas"/>
              </a:rPr>
              <a:t>Return: overall assessment, strengths (with evidence),</a:t>
            </a:r>
          </a:p>
          <a:p>
            <a:pPr>
              <a:lnSpc>
                <a:spcPts val="1600"/>
              </a:lnSpc>
            </a:pPr>
            <a:r>
              <a:rPr lang="en-US" sz="1300">
                <a:solidFill>
                  <a:srgbClr val="102033"/>
                </a:solidFill>
                <a:latin typeface="Consolas"/>
              </a:rPr>
              <a:t>growth areas (with talking points), velocity assessment,</a:t>
            </a:r>
          </a:p>
          <a:p>
            <a:pPr>
              <a:lnSpc>
                <a:spcPts val="1600"/>
              </a:lnSpc>
            </a:pPr>
            <a:r>
              <a:rPr lang="en-US" sz="1300">
                <a:solidFill>
                  <a:srgbClr val="102033"/>
                </a:solidFill>
                <a:latin typeface="Consolas"/>
              </a:rPr>
              <a:t>recommended actions, conversation opener.</a:t>
            </a:r>
          </a:p>
          <a:p>
            <a:pPr>
              <a:lnSpc>
                <a:spcPts val="1600"/>
              </a:lnSpc>
            </a:pPr>
            <a:endParaRPr lang="en-US" sz="1300">
              <a:latin typeface="Consolas"/>
            </a:endParaRPr>
          </a:p>
          <a:p>
            <a:pPr>
              <a:lnSpc>
                <a:spcPts val="1600"/>
              </a:lnSpc>
            </a:pPr>
            <a:r>
              <a:rPr lang="en-US" sz="1300">
                <a:solidFill>
                  <a:srgbClr val="102033"/>
                </a:solidFill>
                <a:latin typeface="Consolas"/>
              </a:rPr>
              <a:t>Guidelines:</a:t>
            </a:r>
          </a:p>
          <a:p>
            <a:pPr>
              <a:lnSpc>
                <a:spcPts val="1600"/>
              </a:lnSpc>
            </a:pPr>
            <a:r>
              <a:rPr lang="en-US" sz="1300">
                <a:solidFill>
                  <a:srgbClr val="F79226"/>
                </a:solidFill>
                <a:latin typeface="Consolas"/>
              </a:rPr>
              <a:t>- Frame growth areas as opportunities, not criticisms</a:t>
            </a:r>
          </a:p>
          <a:p>
            <a:pPr>
              <a:lnSpc>
                <a:spcPts val="1600"/>
              </a:lnSpc>
            </a:pPr>
            <a:r>
              <a:rPr lang="en-US" sz="1300">
                <a:solidFill>
                  <a:srgbClr val="F79226"/>
                </a:solidFill>
                <a:latin typeface="Consolas"/>
              </a:rPr>
              <a:t>- Reference actual numbers from the data</a:t>
            </a:r>
          </a:p>
          <a:p>
            <a:pPr>
              <a:lnSpc>
                <a:spcPts val="1600"/>
              </a:lnSpc>
            </a:pPr>
            <a:r>
              <a:rPr lang="en-US" sz="1300">
                <a:solidFill>
                  <a:srgbClr val="F79226"/>
                </a:solidFill>
                <a:latin typeface="Consolas"/>
              </a:rPr>
              <a:t>- If scores are improving, acknowledge the progress</a:t>
            </a:r>
          </a:p>
        </p:txBody>
      </p:sp>
      <p:sp>
        <p:nvSpPr>
          <p:cNvPr id="8" name="Rectangle 7">
            <a:extLst>
              <a:ext uri="{FF2B5EF4-FFF2-40B4-BE49-F238E27FC236}">
                <a16:creationId xmlns:a16="http://schemas.microsoft.com/office/drawing/2014/main" id="{8105ABFD-5D5D-004B-B494-BD552A714B9D}"/>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3F6998D2-CF22-1A4E-88DC-02DE0F41894B}"/>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0" name="TextBox 9">
            <a:extLst>
              <a:ext uri="{FF2B5EF4-FFF2-40B4-BE49-F238E27FC236}">
                <a16:creationId xmlns:a16="http://schemas.microsoft.com/office/drawing/2014/main" id="{F4C552CB-2C46-8C4B-B9C6-67EB2C196AF3}"/>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1" name="TextBox 10">
            <a:extLst>
              <a:ext uri="{FF2B5EF4-FFF2-40B4-BE49-F238E27FC236}">
                <a16:creationId xmlns:a16="http://schemas.microsoft.com/office/drawing/2014/main" id="{8D5902BE-B4F3-0B47-847B-3AF712ABC354}"/>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2462330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A4E158-AD82-5641-ABE2-084CCE1C1571}"/>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From signal to action</a:t>
            </a:r>
          </a:p>
        </p:txBody>
      </p:sp>
      <p:sp>
        <p:nvSpPr>
          <p:cNvPr id="3" name="Rectangle 2">
            <a:extLst>
              <a:ext uri="{FF2B5EF4-FFF2-40B4-BE49-F238E27FC236}">
                <a16:creationId xmlns:a16="http://schemas.microsoft.com/office/drawing/2014/main" id="{74622478-1E7F-634D-BBB5-DD72A5D321EA}"/>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FB09B315-2E3A-E547-BAA9-E674178EBD57}"/>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Five steps to use the data without becoming THAT boss</a:t>
            </a:r>
          </a:p>
        </p:txBody>
      </p:sp>
      <p:sp>
        <p:nvSpPr>
          <p:cNvPr id="5" name="Rectangle 4">
            <a:extLst>
              <a:ext uri="{FF2B5EF4-FFF2-40B4-BE49-F238E27FC236}">
                <a16:creationId xmlns:a16="http://schemas.microsoft.com/office/drawing/2014/main" id="{3E69757F-EB87-C444-BB1F-EABCC9255880}"/>
              </a:ext>
            </a:extLst>
          </p:cNvPr>
          <p:cNvSpPr/>
          <p:nvPr/>
        </p:nvSpPr>
        <p:spPr>
          <a:xfrm>
            <a:off x="1016000" y="2286000"/>
            <a:ext cx="2032000" cy="34290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AE03B408-F1DC-314E-89F9-49F1C9DE09E4}"/>
              </a:ext>
            </a:extLst>
          </p:cNvPr>
          <p:cNvSpPr/>
          <p:nvPr/>
        </p:nvSpPr>
        <p:spPr>
          <a:xfrm>
            <a:off x="1016000" y="2286000"/>
            <a:ext cx="203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78B14931-5AB1-6945-9BC9-31EF3A820598}"/>
              </a:ext>
            </a:extLst>
          </p:cNvPr>
          <p:cNvSpPr txBox="1"/>
          <p:nvPr/>
        </p:nvSpPr>
        <p:spPr>
          <a:xfrm>
            <a:off x="1270000" y="2603500"/>
            <a:ext cx="1524000" cy="508000"/>
          </a:xfrm>
          <a:prstGeom prst="rect">
            <a:avLst/>
          </a:prstGeom>
          <a:noFill/>
          <a:ln>
            <a:noFill/>
          </a:ln>
        </p:spPr>
        <p:txBody>
          <a:bodyPr vertOverflow="overflow" vert="horz" wrap="square" rtlCol="0" anchor="t">
            <a:noAutofit/>
          </a:bodyPr>
          <a:lstStyle/>
          <a:p>
            <a:pPr algn="l"/>
            <a:r>
              <a:rPr lang="en-US" sz="3200" b="1">
                <a:solidFill>
                  <a:srgbClr val="F79226"/>
                </a:solidFill>
                <a:latin typeface="Futura"/>
                <a:cs typeface="Futura"/>
              </a:rPr>
              <a:t>1.</a:t>
            </a:r>
          </a:p>
        </p:txBody>
      </p:sp>
      <p:sp>
        <p:nvSpPr>
          <p:cNvPr id="8" name="Rectangle 7">
            <a:extLst>
              <a:ext uri="{FF2B5EF4-FFF2-40B4-BE49-F238E27FC236}">
                <a16:creationId xmlns:a16="http://schemas.microsoft.com/office/drawing/2014/main" id="{876EB2D1-24E8-B143-AD6C-983658C820F1}"/>
              </a:ext>
            </a:extLst>
          </p:cNvPr>
          <p:cNvSpPr/>
          <p:nvPr/>
        </p:nvSpPr>
        <p:spPr>
          <a:xfrm>
            <a:off x="1270000" y="3302000"/>
            <a:ext cx="381000" cy="127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6AB7AAD-08AC-7244-B1DE-9422D3D59C83}"/>
              </a:ext>
            </a:extLst>
          </p:cNvPr>
          <p:cNvSpPr txBox="1"/>
          <p:nvPr/>
        </p:nvSpPr>
        <p:spPr>
          <a:xfrm>
            <a:off x="1270000" y="3492500"/>
            <a:ext cx="1524000" cy="355600"/>
          </a:xfrm>
          <a:prstGeom prst="rect">
            <a:avLst/>
          </a:prstGeom>
          <a:noFill/>
          <a:ln>
            <a:noFill/>
          </a:ln>
        </p:spPr>
        <p:txBody>
          <a:bodyPr vertOverflow="overflow" vert="horz" wrap="square" rtlCol="0" anchor="t">
            <a:noAutofit/>
          </a:bodyPr>
          <a:lstStyle/>
          <a:p>
            <a:pPr algn="l"/>
            <a:r>
              <a:rPr lang="en-US" sz="1700" b="1">
                <a:solidFill>
                  <a:srgbClr val="102033"/>
                </a:solidFill>
                <a:latin typeface="Futura"/>
                <a:cs typeface="Futura"/>
              </a:rPr>
              <a:t>Notice</a:t>
            </a:r>
          </a:p>
        </p:txBody>
      </p:sp>
      <p:sp>
        <p:nvSpPr>
          <p:cNvPr id="10" name="TextBox 9">
            <a:extLst>
              <a:ext uri="{FF2B5EF4-FFF2-40B4-BE49-F238E27FC236}">
                <a16:creationId xmlns:a16="http://schemas.microsoft.com/office/drawing/2014/main" id="{A008621F-1294-D743-B37E-FAB18599A6D1}"/>
              </a:ext>
            </a:extLst>
          </p:cNvPr>
          <p:cNvSpPr txBox="1"/>
          <p:nvPr/>
        </p:nvSpPr>
        <p:spPr>
          <a:xfrm>
            <a:off x="1270000" y="3937000"/>
            <a:ext cx="1524000" cy="152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The dashboard flags a pattern; a declining score, creeping rework, a timing shift.</a:t>
            </a:r>
          </a:p>
        </p:txBody>
      </p:sp>
      <p:sp>
        <p:nvSpPr>
          <p:cNvPr id="11" name="Right Arrow 10">
            <a:extLst>
              <a:ext uri="{FF2B5EF4-FFF2-40B4-BE49-F238E27FC236}">
                <a16:creationId xmlns:a16="http://schemas.microsoft.com/office/drawing/2014/main" id="{53604B11-E90A-644D-8A70-178D35F9BA9D}"/>
              </a:ext>
            </a:extLst>
          </p:cNvPr>
          <p:cNvSpPr/>
          <p:nvPr/>
        </p:nvSpPr>
        <p:spPr>
          <a:xfrm>
            <a:off x="3073400" y="3924300"/>
            <a:ext cx="101600" cy="152400"/>
          </a:xfrm>
          <a:prstGeom prst="rightArrow">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3F499106-A5B7-3041-B252-E4227F6734BD}"/>
              </a:ext>
            </a:extLst>
          </p:cNvPr>
          <p:cNvSpPr/>
          <p:nvPr/>
        </p:nvSpPr>
        <p:spPr>
          <a:xfrm>
            <a:off x="3175000" y="2286000"/>
            <a:ext cx="2032000" cy="34290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A8969927-4FCD-9542-ADD7-4264DFCFDE39}"/>
              </a:ext>
            </a:extLst>
          </p:cNvPr>
          <p:cNvSpPr/>
          <p:nvPr/>
        </p:nvSpPr>
        <p:spPr>
          <a:xfrm>
            <a:off x="3175000" y="2286000"/>
            <a:ext cx="203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DF6AB2F8-099D-5145-B53B-CEE82F7412F2}"/>
              </a:ext>
            </a:extLst>
          </p:cNvPr>
          <p:cNvSpPr txBox="1"/>
          <p:nvPr/>
        </p:nvSpPr>
        <p:spPr>
          <a:xfrm>
            <a:off x="3429000" y="2603500"/>
            <a:ext cx="1524000" cy="508000"/>
          </a:xfrm>
          <a:prstGeom prst="rect">
            <a:avLst/>
          </a:prstGeom>
          <a:noFill/>
          <a:ln>
            <a:noFill/>
          </a:ln>
        </p:spPr>
        <p:txBody>
          <a:bodyPr vertOverflow="overflow" vert="horz" wrap="square" rtlCol="0" anchor="t">
            <a:noAutofit/>
          </a:bodyPr>
          <a:lstStyle/>
          <a:p>
            <a:pPr algn="l"/>
            <a:r>
              <a:rPr lang="en-US" sz="3200" b="1" dirty="0">
                <a:solidFill>
                  <a:srgbClr val="F79226"/>
                </a:solidFill>
                <a:latin typeface="Futura"/>
                <a:cs typeface="Futura"/>
              </a:rPr>
              <a:t>2.</a:t>
            </a:r>
          </a:p>
        </p:txBody>
      </p:sp>
      <p:sp>
        <p:nvSpPr>
          <p:cNvPr id="15" name="Rectangle 14">
            <a:extLst>
              <a:ext uri="{FF2B5EF4-FFF2-40B4-BE49-F238E27FC236}">
                <a16:creationId xmlns:a16="http://schemas.microsoft.com/office/drawing/2014/main" id="{FBD113C7-E6BE-CB41-A18F-6505F86F44F4}"/>
              </a:ext>
            </a:extLst>
          </p:cNvPr>
          <p:cNvSpPr/>
          <p:nvPr/>
        </p:nvSpPr>
        <p:spPr>
          <a:xfrm>
            <a:off x="3429000" y="3302000"/>
            <a:ext cx="381000" cy="127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94767642-5EF7-DD43-A363-8D6F330F8082}"/>
              </a:ext>
            </a:extLst>
          </p:cNvPr>
          <p:cNvSpPr txBox="1"/>
          <p:nvPr/>
        </p:nvSpPr>
        <p:spPr>
          <a:xfrm>
            <a:off x="3429000" y="3492500"/>
            <a:ext cx="1778000" cy="3556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Contextualize</a:t>
            </a:r>
          </a:p>
        </p:txBody>
      </p:sp>
      <p:sp>
        <p:nvSpPr>
          <p:cNvPr id="17" name="TextBox 16">
            <a:extLst>
              <a:ext uri="{FF2B5EF4-FFF2-40B4-BE49-F238E27FC236}">
                <a16:creationId xmlns:a16="http://schemas.microsoft.com/office/drawing/2014/main" id="{37DBE396-435C-E649-9837-63DBE861D7DB}"/>
              </a:ext>
            </a:extLst>
          </p:cNvPr>
          <p:cNvSpPr txBox="1"/>
          <p:nvPr/>
        </p:nvSpPr>
        <p:spPr>
          <a:xfrm>
            <a:off x="3429000" y="3937000"/>
            <a:ext cx="1524000" cy="1524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Before you say anything, ask yourself if there's an obvious explanation.</a:t>
            </a:r>
          </a:p>
        </p:txBody>
      </p:sp>
      <p:sp>
        <p:nvSpPr>
          <p:cNvPr id="18" name="Right Arrow 17">
            <a:extLst>
              <a:ext uri="{FF2B5EF4-FFF2-40B4-BE49-F238E27FC236}">
                <a16:creationId xmlns:a16="http://schemas.microsoft.com/office/drawing/2014/main" id="{E6665CD3-D8A1-094F-911A-46CA76031E98}"/>
              </a:ext>
            </a:extLst>
          </p:cNvPr>
          <p:cNvSpPr/>
          <p:nvPr/>
        </p:nvSpPr>
        <p:spPr>
          <a:xfrm>
            <a:off x="5232400" y="3924300"/>
            <a:ext cx="101600" cy="152400"/>
          </a:xfrm>
          <a:prstGeom prst="rightArrow">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326A1A0E-17FC-3649-BE7F-34347BDCDB2B}"/>
              </a:ext>
            </a:extLst>
          </p:cNvPr>
          <p:cNvSpPr/>
          <p:nvPr/>
        </p:nvSpPr>
        <p:spPr>
          <a:xfrm>
            <a:off x="5334000" y="2286000"/>
            <a:ext cx="2032000" cy="34290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CB3EB5C7-6D7A-864E-8E60-448861E04214}"/>
              </a:ext>
            </a:extLst>
          </p:cNvPr>
          <p:cNvSpPr/>
          <p:nvPr/>
        </p:nvSpPr>
        <p:spPr>
          <a:xfrm>
            <a:off x="5334000" y="2286000"/>
            <a:ext cx="203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8D378583-5183-CA46-9220-053D72DD3B9C}"/>
              </a:ext>
            </a:extLst>
          </p:cNvPr>
          <p:cNvSpPr txBox="1"/>
          <p:nvPr/>
        </p:nvSpPr>
        <p:spPr>
          <a:xfrm>
            <a:off x="5588000" y="2603500"/>
            <a:ext cx="1524000" cy="508000"/>
          </a:xfrm>
          <a:prstGeom prst="rect">
            <a:avLst/>
          </a:prstGeom>
          <a:noFill/>
          <a:ln>
            <a:noFill/>
          </a:ln>
        </p:spPr>
        <p:txBody>
          <a:bodyPr vertOverflow="overflow" vert="horz" wrap="square" rtlCol="0" anchor="t">
            <a:noAutofit/>
          </a:bodyPr>
          <a:lstStyle/>
          <a:p>
            <a:pPr algn="l"/>
            <a:r>
              <a:rPr lang="en-US" sz="3200" b="1" dirty="0">
                <a:solidFill>
                  <a:srgbClr val="F79226"/>
                </a:solidFill>
                <a:latin typeface="Futura"/>
                <a:cs typeface="Futura"/>
              </a:rPr>
              <a:t>3.</a:t>
            </a:r>
          </a:p>
        </p:txBody>
      </p:sp>
      <p:sp>
        <p:nvSpPr>
          <p:cNvPr id="22" name="Rectangle 21">
            <a:extLst>
              <a:ext uri="{FF2B5EF4-FFF2-40B4-BE49-F238E27FC236}">
                <a16:creationId xmlns:a16="http://schemas.microsoft.com/office/drawing/2014/main" id="{FB28E5FE-0530-9C4E-A13E-CC50E406AC19}"/>
              </a:ext>
            </a:extLst>
          </p:cNvPr>
          <p:cNvSpPr/>
          <p:nvPr/>
        </p:nvSpPr>
        <p:spPr>
          <a:xfrm>
            <a:off x="5588000" y="3302000"/>
            <a:ext cx="381000" cy="127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9BB9A422-8128-784C-8B5E-F888396736B5}"/>
              </a:ext>
            </a:extLst>
          </p:cNvPr>
          <p:cNvSpPr txBox="1"/>
          <p:nvPr/>
        </p:nvSpPr>
        <p:spPr>
          <a:xfrm>
            <a:off x="5588000" y="3492500"/>
            <a:ext cx="1524000" cy="3556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Discuss</a:t>
            </a:r>
          </a:p>
        </p:txBody>
      </p:sp>
      <p:sp>
        <p:nvSpPr>
          <p:cNvPr id="24" name="TextBox 23">
            <a:extLst>
              <a:ext uri="{FF2B5EF4-FFF2-40B4-BE49-F238E27FC236}">
                <a16:creationId xmlns:a16="http://schemas.microsoft.com/office/drawing/2014/main" id="{CFDD6BC5-B780-EF48-BE93-818443C91289}"/>
              </a:ext>
            </a:extLst>
          </p:cNvPr>
          <p:cNvSpPr txBox="1"/>
          <p:nvPr/>
        </p:nvSpPr>
        <p:spPr>
          <a:xfrm>
            <a:off x="5588000" y="3937000"/>
            <a:ext cx="1524000" cy="1524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Use the coaching summary talking points in your next 1:1, not the raw numbers.</a:t>
            </a:r>
          </a:p>
        </p:txBody>
      </p:sp>
      <p:sp>
        <p:nvSpPr>
          <p:cNvPr id="25" name="Right Arrow 24">
            <a:extLst>
              <a:ext uri="{FF2B5EF4-FFF2-40B4-BE49-F238E27FC236}">
                <a16:creationId xmlns:a16="http://schemas.microsoft.com/office/drawing/2014/main" id="{C67B6492-D9FB-C540-B84E-8E5927C31109}"/>
              </a:ext>
            </a:extLst>
          </p:cNvPr>
          <p:cNvSpPr/>
          <p:nvPr/>
        </p:nvSpPr>
        <p:spPr>
          <a:xfrm>
            <a:off x="7391400" y="3924300"/>
            <a:ext cx="101600" cy="152400"/>
          </a:xfrm>
          <a:prstGeom prst="rightArrow">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42834451-3557-2B4A-B941-842119ADDFBF}"/>
              </a:ext>
            </a:extLst>
          </p:cNvPr>
          <p:cNvSpPr/>
          <p:nvPr/>
        </p:nvSpPr>
        <p:spPr>
          <a:xfrm>
            <a:off x="7493000" y="2286000"/>
            <a:ext cx="2032000" cy="34290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193C38CB-959C-F04D-B561-6EAE854BADD1}"/>
              </a:ext>
            </a:extLst>
          </p:cNvPr>
          <p:cNvSpPr/>
          <p:nvPr/>
        </p:nvSpPr>
        <p:spPr>
          <a:xfrm>
            <a:off x="7493000" y="2286000"/>
            <a:ext cx="203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B41E749F-0658-0145-B174-D24BE01739E9}"/>
              </a:ext>
            </a:extLst>
          </p:cNvPr>
          <p:cNvSpPr txBox="1"/>
          <p:nvPr/>
        </p:nvSpPr>
        <p:spPr>
          <a:xfrm>
            <a:off x="7747000" y="2603500"/>
            <a:ext cx="1524000" cy="508000"/>
          </a:xfrm>
          <a:prstGeom prst="rect">
            <a:avLst/>
          </a:prstGeom>
          <a:noFill/>
          <a:ln>
            <a:noFill/>
          </a:ln>
        </p:spPr>
        <p:txBody>
          <a:bodyPr vertOverflow="overflow" vert="horz" wrap="square" rtlCol="0" anchor="t">
            <a:noAutofit/>
          </a:bodyPr>
          <a:lstStyle/>
          <a:p>
            <a:pPr algn="l"/>
            <a:r>
              <a:rPr lang="en-US" sz="3200" b="1" dirty="0">
                <a:solidFill>
                  <a:srgbClr val="F79226"/>
                </a:solidFill>
                <a:latin typeface="Futura"/>
                <a:cs typeface="Futura"/>
              </a:rPr>
              <a:t>4.</a:t>
            </a:r>
          </a:p>
        </p:txBody>
      </p:sp>
      <p:sp>
        <p:nvSpPr>
          <p:cNvPr id="29" name="Rectangle 28">
            <a:extLst>
              <a:ext uri="{FF2B5EF4-FFF2-40B4-BE49-F238E27FC236}">
                <a16:creationId xmlns:a16="http://schemas.microsoft.com/office/drawing/2014/main" id="{BEE2B0A6-2551-A947-B5B8-723B07DA8EE0}"/>
              </a:ext>
            </a:extLst>
          </p:cNvPr>
          <p:cNvSpPr/>
          <p:nvPr/>
        </p:nvSpPr>
        <p:spPr>
          <a:xfrm>
            <a:off x="7747000" y="3302000"/>
            <a:ext cx="381000" cy="127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7C736612-F805-B640-A0B3-3E8FE4903BDF}"/>
              </a:ext>
            </a:extLst>
          </p:cNvPr>
          <p:cNvSpPr txBox="1"/>
          <p:nvPr/>
        </p:nvSpPr>
        <p:spPr>
          <a:xfrm>
            <a:off x="7747000" y="3492500"/>
            <a:ext cx="1524000" cy="3556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Support</a:t>
            </a:r>
          </a:p>
        </p:txBody>
      </p:sp>
      <p:sp>
        <p:nvSpPr>
          <p:cNvPr id="31" name="TextBox 30">
            <a:extLst>
              <a:ext uri="{FF2B5EF4-FFF2-40B4-BE49-F238E27FC236}">
                <a16:creationId xmlns:a16="http://schemas.microsoft.com/office/drawing/2014/main" id="{213C4573-F474-1A46-8744-2485F5144038}"/>
              </a:ext>
            </a:extLst>
          </p:cNvPr>
          <p:cNvSpPr txBox="1"/>
          <p:nvPr/>
        </p:nvSpPr>
        <p:spPr>
          <a:xfrm>
            <a:off x="7747000" y="3937000"/>
            <a:ext cx="1524000" cy="1524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Pair programming, targeted training, workload adjustment. This is where leadership happens.</a:t>
            </a:r>
          </a:p>
        </p:txBody>
      </p:sp>
      <p:sp>
        <p:nvSpPr>
          <p:cNvPr id="32" name="Right Arrow 31">
            <a:extLst>
              <a:ext uri="{FF2B5EF4-FFF2-40B4-BE49-F238E27FC236}">
                <a16:creationId xmlns:a16="http://schemas.microsoft.com/office/drawing/2014/main" id="{ABBC4173-D51D-DE4B-B379-B89A70D603E5}"/>
              </a:ext>
            </a:extLst>
          </p:cNvPr>
          <p:cNvSpPr/>
          <p:nvPr/>
        </p:nvSpPr>
        <p:spPr>
          <a:xfrm>
            <a:off x="9550400" y="3924300"/>
            <a:ext cx="101600" cy="152400"/>
          </a:xfrm>
          <a:prstGeom prst="rightArrow">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7016A52F-DB2A-D740-AD78-E672448D84D6}"/>
              </a:ext>
            </a:extLst>
          </p:cNvPr>
          <p:cNvSpPr/>
          <p:nvPr/>
        </p:nvSpPr>
        <p:spPr>
          <a:xfrm>
            <a:off x="9652000" y="2286000"/>
            <a:ext cx="2032000" cy="34290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305EAD09-142D-CA4D-861C-151247844F1A}"/>
              </a:ext>
            </a:extLst>
          </p:cNvPr>
          <p:cNvSpPr/>
          <p:nvPr/>
        </p:nvSpPr>
        <p:spPr>
          <a:xfrm>
            <a:off x="9652000" y="2286000"/>
            <a:ext cx="2032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2B4CBA62-2A38-5646-8ACE-19EAB74D9E33}"/>
              </a:ext>
            </a:extLst>
          </p:cNvPr>
          <p:cNvSpPr txBox="1"/>
          <p:nvPr/>
        </p:nvSpPr>
        <p:spPr>
          <a:xfrm>
            <a:off x="9906000" y="2603500"/>
            <a:ext cx="1524000" cy="508000"/>
          </a:xfrm>
          <a:prstGeom prst="rect">
            <a:avLst/>
          </a:prstGeom>
          <a:noFill/>
          <a:ln>
            <a:noFill/>
          </a:ln>
        </p:spPr>
        <p:txBody>
          <a:bodyPr vertOverflow="overflow" vert="horz" wrap="square" rtlCol="0" anchor="t">
            <a:noAutofit/>
          </a:bodyPr>
          <a:lstStyle/>
          <a:p>
            <a:pPr algn="l"/>
            <a:r>
              <a:rPr lang="en-US" sz="3200" b="1" dirty="0">
                <a:solidFill>
                  <a:srgbClr val="F79226"/>
                </a:solidFill>
                <a:latin typeface="Futura"/>
                <a:cs typeface="Futura"/>
              </a:rPr>
              <a:t>5.</a:t>
            </a:r>
          </a:p>
        </p:txBody>
      </p:sp>
      <p:sp>
        <p:nvSpPr>
          <p:cNvPr id="36" name="Rectangle 35">
            <a:extLst>
              <a:ext uri="{FF2B5EF4-FFF2-40B4-BE49-F238E27FC236}">
                <a16:creationId xmlns:a16="http://schemas.microsoft.com/office/drawing/2014/main" id="{C8BD2A9C-D6A2-F046-8ED4-DC34EEA5694A}"/>
              </a:ext>
            </a:extLst>
          </p:cNvPr>
          <p:cNvSpPr/>
          <p:nvPr/>
        </p:nvSpPr>
        <p:spPr>
          <a:xfrm>
            <a:off x="9906000" y="3302000"/>
            <a:ext cx="381000" cy="127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TextBox 36">
            <a:extLst>
              <a:ext uri="{FF2B5EF4-FFF2-40B4-BE49-F238E27FC236}">
                <a16:creationId xmlns:a16="http://schemas.microsoft.com/office/drawing/2014/main" id="{842E1765-D33B-EB43-9532-F67389A0CD25}"/>
              </a:ext>
            </a:extLst>
          </p:cNvPr>
          <p:cNvSpPr txBox="1"/>
          <p:nvPr/>
        </p:nvSpPr>
        <p:spPr>
          <a:xfrm>
            <a:off x="9906000" y="3492500"/>
            <a:ext cx="1524000" cy="355600"/>
          </a:xfrm>
          <a:prstGeom prst="rect">
            <a:avLst/>
          </a:prstGeom>
          <a:noFill/>
          <a:ln>
            <a:noFill/>
          </a:ln>
        </p:spPr>
        <p:txBody>
          <a:bodyPr vertOverflow="overflow" vert="horz" wrap="square" rtlCol="0" anchor="t">
            <a:noAutofit/>
          </a:bodyPr>
          <a:lstStyle/>
          <a:p>
            <a:pPr algn="l"/>
            <a:r>
              <a:rPr lang="en-US" sz="1700" b="1" dirty="0">
                <a:solidFill>
                  <a:srgbClr val="102033"/>
                </a:solidFill>
                <a:latin typeface="Futura"/>
                <a:cs typeface="Futura"/>
              </a:rPr>
              <a:t>Track</a:t>
            </a:r>
          </a:p>
        </p:txBody>
      </p:sp>
      <p:sp>
        <p:nvSpPr>
          <p:cNvPr id="38" name="TextBox 37">
            <a:extLst>
              <a:ext uri="{FF2B5EF4-FFF2-40B4-BE49-F238E27FC236}">
                <a16:creationId xmlns:a16="http://schemas.microsoft.com/office/drawing/2014/main" id="{E78CB91D-F929-4A4B-884F-52EED4A27283}"/>
              </a:ext>
            </a:extLst>
          </p:cNvPr>
          <p:cNvSpPr txBox="1"/>
          <p:nvPr/>
        </p:nvSpPr>
        <p:spPr>
          <a:xfrm>
            <a:off x="9906000" y="3937000"/>
            <a:ext cx="1524000" cy="1524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Check the next cycle. Did support move the signal? Iterate if not.</a:t>
            </a:r>
          </a:p>
        </p:txBody>
      </p:sp>
      <p:sp>
        <p:nvSpPr>
          <p:cNvPr id="39" name="TextBox 38">
            <a:extLst>
              <a:ext uri="{FF2B5EF4-FFF2-40B4-BE49-F238E27FC236}">
                <a16:creationId xmlns:a16="http://schemas.microsoft.com/office/drawing/2014/main" id="{107CCA8F-7824-9047-9235-510D01B99636}"/>
              </a:ext>
            </a:extLst>
          </p:cNvPr>
          <p:cNvSpPr txBox="1"/>
          <p:nvPr/>
        </p:nvSpPr>
        <p:spPr>
          <a:xfrm>
            <a:off x="1016000" y="6070600"/>
            <a:ext cx="10160000" cy="279400"/>
          </a:xfrm>
          <a:prstGeom prst="rect">
            <a:avLst/>
          </a:prstGeom>
          <a:noFill/>
          <a:ln>
            <a:noFill/>
          </a:ln>
        </p:spPr>
        <p:txBody>
          <a:bodyPr vertOverflow="overflow" vert="horz" wrap="square" rtlCol="0" anchor="t">
            <a:noAutofit/>
          </a:bodyPr>
          <a:lstStyle/>
          <a:p>
            <a:pPr algn="l"/>
            <a:r>
              <a:rPr lang="en-US" sz="1100" i="1" dirty="0">
                <a:solidFill>
                  <a:srgbClr val="102033"/>
                </a:solidFill>
                <a:latin typeface="Futura"/>
                <a:cs typeface="Futura"/>
              </a:rPr>
              <a:t>Support first, not escalate. If your first instinct is a PIP, you've missed the point.</a:t>
            </a:r>
          </a:p>
        </p:txBody>
      </p:sp>
      <p:sp>
        <p:nvSpPr>
          <p:cNvPr id="40" name="Rectangle 39">
            <a:extLst>
              <a:ext uri="{FF2B5EF4-FFF2-40B4-BE49-F238E27FC236}">
                <a16:creationId xmlns:a16="http://schemas.microsoft.com/office/drawing/2014/main" id="{E6F9396C-F0A3-6246-AB9D-A36E9C379947}"/>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F52A6AC5-DE58-0748-9F31-7C6A1B0E9299}"/>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42" name="TextBox 41">
            <a:extLst>
              <a:ext uri="{FF2B5EF4-FFF2-40B4-BE49-F238E27FC236}">
                <a16:creationId xmlns:a16="http://schemas.microsoft.com/office/drawing/2014/main" id="{C0EF7D4A-AA89-D44A-A44C-C6EE5F6D3227}"/>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43" name="TextBox 42">
            <a:extLst>
              <a:ext uri="{FF2B5EF4-FFF2-40B4-BE49-F238E27FC236}">
                <a16:creationId xmlns:a16="http://schemas.microsoft.com/office/drawing/2014/main" id="{B748D243-EC21-7545-BD2A-CF1E3441C786}"/>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352997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30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4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grpId="0" nodeType="withEffect">
                                  <p:stCondLst>
                                    <p:cond delay="30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par>
                                <p:cTn id="45" presetID="10" presetClass="entr" presetSubtype="0" fill="hold" grpId="0" nodeType="withEffect">
                                  <p:stCondLst>
                                    <p:cond delay="40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ntr" presetSubtype="0" fill="hold" grpId="0" nodeType="withEffect">
                                  <p:stCondLst>
                                    <p:cond delay="50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500"/>
                                        <p:tgtEl>
                                          <p:spTgt spid="25"/>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500"/>
                                        <p:tgtEl>
                                          <p:spTgt spid="26"/>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par>
                                <p:cTn id="63" presetID="10" presetClass="entr" presetSubtype="0" fill="hold" grpId="0" nodeType="withEffect">
                                  <p:stCondLst>
                                    <p:cond delay="20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30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par>
                                <p:cTn id="69" presetID="10" presetClass="entr" presetSubtype="0" fill="hold" grpId="0" nodeType="withEffect">
                                  <p:stCondLst>
                                    <p:cond delay="40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0"/>
                                        <p:tgtEl>
                                          <p:spTgt spid="30"/>
                                        </p:tgtEl>
                                      </p:cBhvr>
                                    </p:animEffect>
                                  </p:childTnLst>
                                </p:cTn>
                              </p:par>
                              <p:par>
                                <p:cTn id="72" presetID="10" presetClass="entr" presetSubtype="0" fill="hold" grpId="0" nodeType="withEffect">
                                  <p:stCondLst>
                                    <p:cond delay="50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wipe(left)">
                                      <p:cBhvr>
                                        <p:cTn id="79" dur="500"/>
                                        <p:tgtEl>
                                          <p:spTgt spid="32"/>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left)">
                                      <p:cBhvr>
                                        <p:cTn id="83" dur="500"/>
                                        <p:tgtEl>
                                          <p:spTgt spid="33"/>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wipe(left)">
                                      <p:cBhvr>
                                        <p:cTn id="86" dur="500"/>
                                        <p:tgtEl>
                                          <p:spTgt spid="34"/>
                                        </p:tgtEl>
                                      </p:cBhvr>
                                    </p:animEffect>
                                  </p:childTnLst>
                                </p:cTn>
                              </p:par>
                              <p:par>
                                <p:cTn id="87" presetID="10" presetClass="entr" presetSubtype="0" fill="hold" grpId="0" nodeType="withEffect">
                                  <p:stCondLst>
                                    <p:cond delay="20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500"/>
                                        <p:tgtEl>
                                          <p:spTgt spid="35"/>
                                        </p:tgtEl>
                                      </p:cBhvr>
                                    </p:animEffect>
                                  </p:childTnLst>
                                </p:cTn>
                              </p:par>
                              <p:par>
                                <p:cTn id="90" presetID="10" presetClass="entr" presetSubtype="0" fill="hold" grpId="0" nodeType="withEffect">
                                  <p:stCondLst>
                                    <p:cond delay="30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500"/>
                                        <p:tgtEl>
                                          <p:spTgt spid="36"/>
                                        </p:tgtEl>
                                      </p:cBhvr>
                                    </p:animEffect>
                                  </p:childTnLst>
                                </p:cTn>
                              </p:par>
                              <p:par>
                                <p:cTn id="93" presetID="10" presetClass="entr" presetSubtype="0" fill="hold" grpId="0" nodeType="withEffect">
                                  <p:stCondLst>
                                    <p:cond delay="40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childTnLst>
                                </p:cTn>
                              </p:par>
                              <p:par>
                                <p:cTn id="96" presetID="10" presetClass="entr" presetSubtype="0" fill="hold" grpId="0" nodeType="withEffect">
                                  <p:stCondLst>
                                    <p:cond delay="50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500"/>
                                        <p:tgtEl>
                                          <p:spTgt spid="38"/>
                                        </p:tgtEl>
                                      </p:cBhvr>
                                    </p:animEffect>
                                  </p:childTnLst>
                                </p:cTn>
                              </p:par>
                            </p:childTnLst>
                          </p:cTn>
                        </p:par>
                        <p:par>
                          <p:cTn id="99" fill="hold">
                            <p:stCondLst>
                              <p:cond delay="1500"/>
                            </p:stCondLst>
                            <p:childTnLst>
                              <p:par>
                                <p:cTn id="100" presetID="10" presetClass="entr" presetSubtype="0" fill="hold" grpId="0" nodeType="after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P spid="15" grpId="0" animBg="1"/>
      <p:bldP spid="16" grpId="0"/>
      <p:bldP spid="17" grpId="0"/>
      <p:bldP spid="18" grpId="0" animBg="1"/>
      <p:bldP spid="19" grpId="0" animBg="1"/>
      <p:bldP spid="20" grpId="0" animBg="1"/>
      <p:bldP spid="21" grpId="0"/>
      <p:bldP spid="22" grpId="0" animBg="1"/>
      <p:bldP spid="23" grpId="0"/>
      <p:bldP spid="24" grpId="0"/>
      <p:bldP spid="25" grpId="0" animBg="1"/>
      <p:bldP spid="26" grpId="0" animBg="1"/>
      <p:bldP spid="27" grpId="0" animBg="1"/>
      <p:bldP spid="28" grpId="0"/>
      <p:bldP spid="29" grpId="0" animBg="1"/>
      <p:bldP spid="30" grpId="0"/>
      <p:bldP spid="31" grpId="0"/>
      <p:bldP spid="32" grpId="0" animBg="1"/>
      <p:bldP spid="33" grpId="0" animBg="1"/>
      <p:bldP spid="34" grpId="0" animBg="1"/>
      <p:bldP spid="35" grpId="0"/>
      <p:bldP spid="36" grpId="0" animBg="1"/>
      <p:bldP spid="37" grpId="0"/>
      <p:bldP spid="38" grpId="0"/>
      <p:bldP spid="3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E060DC-5284-6D48-B839-0752BB4B3EA4}"/>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98065320-EB78-E746-A151-68490298A8EE}"/>
              </a:ext>
            </a:extLst>
          </p:cNvPr>
          <p:cNvSpPr txBox="1"/>
          <p:nvPr/>
        </p:nvSpPr>
        <p:spPr>
          <a:xfrm>
            <a:off x="1016000" y="3302000"/>
            <a:ext cx="2540000" cy="381000"/>
          </a:xfrm>
          <a:prstGeom prst="rect">
            <a:avLst/>
          </a:prstGeom>
          <a:noFill/>
          <a:ln>
            <a:noFill/>
          </a:ln>
        </p:spPr>
        <p:txBody>
          <a:bodyPr vertOverflow="overflow" vert="horz" wrap="square" rtlCol="0" anchor="t">
            <a:noAutofit/>
          </a:bodyPr>
          <a:lstStyle/>
          <a:p>
            <a:pPr algn="l"/>
            <a:r>
              <a:rPr lang="en-US" sz="1400" b="1">
                <a:solidFill>
                  <a:srgbClr val="F79226"/>
                </a:solidFill>
                <a:latin typeface="Futura"/>
                <a:cs typeface="Futura"/>
              </a:rPr>
              <a:t>06</a:t>
            </a:r>
          </a:p>
        </p:txBody>
      </p:sp>
      <p:sp>
        <p:nvSpPr>
          <p:cNvPr id="4" name="Rectangle 3">
            <a:extLst>
              <a:ext uri="{FF2B5EF4-FFF2-40B4-BE49-F238E27FC236}">
                <a16:creationId xmlns:a16="http://schemas.microsoft.com/office/drawing/2014/main" id="{3750B1EA-5DA9-BB47-9801-FE14C44F3A64}"/>
              </a:ext>
            </a:extLst>
          </p:cNvPr>
          <p:cNvSpPr/>
          <p:nvPr/>
        </p:nvSpPr>
        <p:spPr>
          <a:xfrm>
            <a:off x="1016000" y="3746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28C1608-015F-C143-9A07-871DD23DCB30}"/>
              </a:ext>
            </a:extLst>
          </p:cNvPr>
          <p:cNvSpPr txBox="1"/>
          <p:nvPr/>
        </p:nvSpPr>
        <p:spPr>
          <a:xfrm>
            <a:off x="1016000" y="4064000"/>
            <a:ext cx="10160000" cy="1016000"/>
          </a:xfrm>
          <a:prstGeom prst="rect">
            <a:avLst/>
          </a:prstGeom>
          <a:noFill/>
          <a:ln>
            <a:noFill/>
          </a:ln>
        </p:spPr>
        <p:txBody>
          <a:bodyPr vertOverflow="overflow" vert="horz" wrap="square" rtlCol="0" anchor="t">
            <a:noAutofit/>
          </a:bodyPr>
          <a:lstStyle/>
          <a:p>
            <a:pPr algn="l"/>
            <a:r>
              <a:rPr lang="en-US" sz="3400" b="1">
                <a:solidFill>
                  <a:srgbClr val="FFFFFF"/>
                </a:solidFill>
                <a:latin typeface="Futura"/>
                <a:cs typeface="Futura"/>
              </a:rPr>
              <a:t>GUARDRAILS
FOR TRUST</a:t>
            </a:r>
          </a:p>
        </p:txBody>
      </p:sp>
      <p:sp>
        <p:nvSpPr>
          <p:cNvPr id="6" name="TextBox 5">
            <a:extLst>
              <a:ext uri="{FF2B5EF4-FFF2-40B4-BE49-F238E27FC236}">
                <a16:creationId xmlns:a16="http://schemas.microsoft.com/office/drawing/2014/main" id="{E6641844-FE54-8446-A7D1-B7FDB6184846}"/>
              </a:ext>
            </a:extLst>
          </p:cNvPr>
          <p:cNvSpPr txBox="1"/>
          <p:nvPr/>
        </p:nvSpPr>
        <p:spPr>
          <a:xfrm>
            <a:off x="1016000" y="5397500"/>
            <a:ext cx="10160000" cy="304800"/>
          </a:xfrm>
          <a:prstGeom prst="rect">
            <a:avLst/>
          </a:prstGeom>
          <a:noFill/>
          <a:ln>
            <a:noFill/>
          </a:ln>
        </p:spPr>
        <p:txBody>
          <a:bodyPr vertOverflow="overflow" vert="horz" wrap="square" rtlCol="0" anchor="t">
            <a:noAutofit/>
          </a:bodyPr>
          <a:lstStyle/>
          <a:p>
            <a:pPr algn="l"/>
            <a:r>
              <a:rPr lang="en-US" sz="1500" i="1">
                <a:solidFill>
                  <a:srgbClr val="C8D1DC"/>
                </a:solidFill>
                <a:latin typeface="Futura"/>
                <a:cs typeface="Futura"/>
              </a:rPr>
              <a:t>Without them, none of this works.</a:t>
            </a:r>
          </a:p>
        </p:txBody>
      </p:sp>
      <p:sp>
        <p:nvSpPr>
          <p:cNvPr id="7" name="Rectangle 6">
            <a:extLst>
              <a:ext uri="{FF2B5EF4-FFF2-40B4-BE49-F238E27FC236}">
                <a16:creationId xmlns:a16="http://schemas.microsoft.com/office/drawing/2014/main" id="{310C8156-9A82-D246-AE10-E888985D7DFA}"/>
              </a:ext>
            </a:extLst>
          </p:cNvPr>
          <p:cNvSpPr/>
          <p:nvPr/>
        </p:nvSpPr>
        <p:spPr>
          <a:xfrm>
            <a:off x="1016000" y="6223000"/>
            <a:ext cx="10160000" cy="12700"/>
          </a:xfrm>
          <a:prstGeom prst="rect">
            <a:avLst/>
          </a:prstGeom>
          <a:solidFill>
            <a:srgbClr val="2A3A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35836CB8-2872-0A4B-8E5A-3851C03BB686}"/>
              </a:ext>
            </a:extLst>
          </p:cNvPr>
          <p:cNvSpPr txBox="1"/>
          <p:nvPr/>
        </p:nvSpPr>
        <p:spPr>
          <a:xfrm>
            <a:off x="8636000" y="6413500"/>
            <a:ext cx="2540000" cy="228600"/>
          </a:xfrm>
          <a:prstGeom prst="rect">
            <a:avLst/>
          </a:prstGeom>
          <a:noFill/>
          <a:ln>
            <a:noFill/>
          </a:ln>
        </p:spPr>
        <p:txBody>
          <a:bodyPr vertOverflow="overflow" vert="horz" wrap="square" rtlCol="0" anchor="t">
            <a:noAutofit/>
          </a:bodyPr>
          <a:lstStyle/>
          <a:p>
            <a:pPr algn="l"/>
            <a:r>
              <a:rPr lang="en-US" sz="1000">
                <a:solidFill>
                  <a:srgbClr val="9AA4B2"/>
                </a:solidFill>
                <a:latin typeface="Futura"/>
                <a:cs typeface="Futura"/>
              </a:rPr>
              <a:t>SECTION 06 / 07</a:t>
            </a:r>
          </a:p>
        </p:txBody>
      </p:sp>
    </p:spTree>
    <p:extLst>
      <p:ext uri="{BB962C8B-B14F-4D97-AF65-F5344CB8AC3E}">
        <p14:creationId xmlns:p14="http://schemas.microsoft.com/office/powerpoint/2010/main" val="190223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F89D43-BFA6-8C44-BF5F-D7BEBB6EE558}"/>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Guardrails that make this work</a:t>
            </a:r>
          </a:p>
        </p:txBody>
      </p:sp>
      <p:sp>
        <p:nvSpPr>
          <p:cNvPr id="3" name="Rectangle 2">
            <a:extLst>
              <a:ext uri="{FF2B5EF4-FFF2-40B4-BE49-F238E27FC236}">
                <a16:creationId xmlns:a16="http://schemas.microsoft.com/office/drawing/2014/main" id="{D4C2200F-9AAE-3245-B9B4-0F1C08AD3CF8}"/>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C33C361-D98D-604F-955D-859C36154BDC}"/>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Privacy, transparency, automation; built in, not bolted on.</a:t>
            </a:r>
          </a:p>
        </p:txBody>
      </p:sp>
      <p:sp>
        <p:nvSpPr>
          <p:cNvPr id="5" name="TextBox 4">
            <a:extLst>
              <a:ext uri="{FF2B5EF4-FFF2-40B4-BE49-F238E27FC236}">
                <a16:creationId xmlns:a16="http://schemas.microsoft.com/office/drawing/2014/main" id="{7FD68F33-51D4-D34D-9550-2AF32A6AA3FA}"/>
              </a:ext>
            </a:extLst>
          </p:cNvPr>
          <p:cNvSpPr txBox="1"/>
          <p:nvPr/>
        </p:nvSpPr>
        <p:spPr>
          <a:xfrm>
            <a:off x="1016000" y="2286000"/>
            <a:ext cx="457200" cy="304800"/>
          </a:xfrm>
          <a:prstGeom prst="rect">
            <a:avLst/>
          </a:prstGeom>
          <a:noFill/>
          <a:ln>
            <a:noFill/>
          </a:ln>
        </p:spPr>
        <p:txBody>
          <a:bodyPr vertOverflow="overflow" vert="horz" wrap="square" rtlCol="0" anchor="t">
            <a:noAutofit/>
          </a:bodyPr>
          <a:lstStyle/>
          <a:p>
            <a:pPr algn="l"/>
            <a:r>
              <a:rPr lang="en-US" b="1">
                <a:solidFill>
                  <a:srgbClr val="F79226"/>
                </a:solidFill>
                <a:latin typeface="Futura"/>
                <a:cs typeface="Futura"/>
              </a:rPr>
              <a:t>1.</a:t>
            </a:r>
          </a:p>
        </p:txBody>
      </p:sp>
      <p:sp>
        <p:nvSpPr>
          <p:cNvPr id="6" name="TextBox 5">
            <a:extLst>
              <a:ext uri="{FF2B5EF4-FFF2-40B4-BE49-F238E27FC236}">
                <a16:creationId xmlns:a16="http://schemas.microsoft.com/office/drawing/2014/main" id="{B6A7504B-CE2D-5A41-94AB-A35200FEC7FC}"/>
              </a:ext>
            </a:extLst>
          </p:cNvPr>
          <p:cNvSpPr txBox="1"/>
          <p:nvPr/>
        </p:nvSpPr>
        <p:spPr>
          <a:xfrm>
            <a:off x="1524000" y="2286000"/>
            <a:ext cx="4318000" cy="279400"/>
          </a:xfrm>
          <a:prstGeom prst="rect">
            <a:avLst/>
          </a:prstGeom>
          <a:noFill/>
          <a:ln>
            <a:noFill/>
          </a:ln>
        </p:spPr>
        <p:txBody>
          <a:bodyPr vertOverflow="overflow" vert="horz" wrap="square" rtlCol="0" anchor="t">
            <a:noAutofit/>
          </a:bodyPr>
          <a:lstStyle/>
          <a:p>
            <a:pPr algn="l"/>
            <a:r>
              <a:rPr lang="en-US" sz="1500" b="1">
                <a:solidFill>
                  <a:srgbClr val="102033"/>
                </a:solidFill>
                <a:latin typeface="Futura"/>
                <a:cs typeface="Futura"/>
              </a:rPr>
              <a:t>Presentation mode</a:t>
            </a:r>
          </a:p>
        </p:txBody>
      </p:sp>
      <p:sp>
        <p:nvSpPr>
          <p:cNvPr id="7" name="TextBox 6">
            <a:extLst>
              <a:ext uri="{FF2B5EF4-FFF2-40B4-BE49-F238E27FC236}">
                <a16:creationId xmlns:a16="http://schemas.microsoft.com/office/drawing/2014/main" id="{569B6092-EFF5-604C-8A8C-7C4D0AAD8A02}"/>
              </a:ext>
            </a:extLst>
          </p:cNvPr>
          <p:cNvSpPr txBox="1"/>
          <p:nvPr/>
        </p:nvSpPr>
        <p:spPr>
          <a:xfrm>
            <a:off x="1524000" y="2616200"/>
            <a:ext cx="4318000" cy="762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One-click anonymization for demos and cross-team sharing</a:t>
            </a:r>
          </a:p>
        </p:txBody>
      </p:sp>
      <p:sp>
        <p:nvSpPr>
          <p:cNvPr id="8" name="TextBox 7">
            <a:extLst>
              <a:ext uri="{FF2B5EF4-FFF2-40B4-BE49-F238E27FC236}">
                <a16:creationId xmlns:a16="http://schemas.microsoft.com/office/drawing/2014/main" id="{C05F1E66-94B0-FE4E-BCC0-9919F46E5B2A}"/>
              </a:ext>
            </a:extLst>
          </p:cNvPr>
          <p:cNvSpPr txBox="1"/>
          <p:nvPr/>
        </p:nvSpPr>
        <p:spPr>
          <a:xfrm>
            <a:off x="1016000" y="3492500"/>
            <a:ext cx="457200" cy="304800"/>
          </a:xfrm>
          <a:prstGeom prst="rect">
            <a:avLst/>
          </a:prstGeom>
          <a:noFill/>
          <a:ln>
            <a:noFill/>
          </a:ln>
        </p:spPr>
        <p:txBody>
          <a:bodyPr vertOverflow="overflow" vert="horz" wrap="square" rtlCol="0" anchor="t">
            <a:noAutofit/>
          </a:bodyPr>
          <a:lstStyle/>
          <a:p>
            <a:pPr algn="l"/>
            <a:r>
              <a:rPr lang="en-US" b="1" dirty="0">
                <a:solidFill>
                  <a:srgbClr val="F79226"/>
                </a:solidFill>
                <a:latin typeface="Futura"/>
                <a:cs typeface="Futura"/>
              </a:rPr>
              <a:t>2.</a:t>
            </a:r>
          </a:p>
        </p:txBody>
      </p:sp>
      <p:sp>
        <p:nvSpPr>
          <p:cNvPr id="9" name="TextBox 8">
            <a:extLst>
              <a:ext uri="{FF2B5EF4-FFF2-40B4-BE49-F238E27FC236}">
                <a16:creationId xmlns:a16="http://schemas.microsoft.com/office/drawing/2014/main" id="{8698B681-47A6-2D42-AB9C-931020CCFE99}"/>
              </a:ext>
            </a:extLst>
          </p:cNvPr>
          <p:cNvSpPr txBox="1"/>
          <p:nvPr/>
        </p:nvSpPr>
        <p:spPr>
          <a:xfrm>
            <a:off x="1524000" y="3492500"/>
            <a:ext cx="4318000" cy="279400"/>
          </a:xfrm>
          <a:prstGeom prst="rect">
            <a:avLst/>
          </a:prstGeom>
          <a:noFill/>
          <a:ln>
            <a:noFill/>
          </a:ln>
        </p:spPr>
        <p:txBody>
          <a:bodyPr vertOverflow="overflow" vert="horz" wrap="square" rtlCol="0" anchor="t">
            <a:noAutofit/>
          </a:bodyPr>
          <a:lstStyle/>
          <a:p>
            <a:pPr algn="l"/>
            <a:r>
              <a:rPr lang="en-US" sz="1500" b="1" dirty="0">
                <a:solidFill>
                  <a:srgbClr val="102033"/>
                </a:solidFill>
                <a:latin typeface="Futura"/>
                <a:cs typeface="Futura"/>
              </a:rPr>
              <a:t>Engineers see their own data</a:t>
            </a:r>
          </a:p>
        </p:txBody>
      </p:sp>
      <p:sp>
        <p:nvSpPr>
          <p:cNvPr id="10" name="TextBox 9">
            <a:extLst>
              <a:ext uri="{FF2B5EF4-FFF2-40B4-BE49-F238E27FC236}">
                <a16:creationId xmlns:a16="http://schemas.microsoft.com/office/drawing/2014/main" id="{0B9C7B9A-5E8F-1A47-BADA-964429C1DD8E}"/>
              </a:ext>
            </a:extLst>
          </p:cNvPr>
          <p:cNvSpPr txBox="1"/>
          <p:nvPr/>
        </p:nvSpPr>
        <p:spPr>
          <a:xfrm>
            <a:off x="1524000" y="3822700"/>
            <a:ext cx="4318000" cy="762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Access-controlled, not hidden. Transparency breeds trust; hiding metrics breeds suspicion.</a:t>
            </a:r>
          </a:p>
        </p:txBody>
      </p:sp>
      <p:sp>
        <p:nvSpPr>
          <p:cNvPr id="11" name="TextBox 10">
            <a:extLst>
              <a:ext uri="{FF2B5EF4-FFF2-40B4-BE49-F238E27FC236}">
                <a16:creationId xmlns:a16="http://schemas.microsoft.com/office/drawing/2014/main" id="{E9177FDF-3BBE-C740-8D88-03D7F15EBE21}"/>
              </a:ext>
            </a:extLst>
          </p:cNvPr>
          <p:cNvSpPr txBox="1"/>
          <p:nvPr/>
        </p:nvSpPr>
        <p:spPr>
          <a:xfrm>
            <a:off x="1016000" y="4699000"/>
            <a:ext cx="457200" cy="304800"/>
          </a:xfrm>
          <a:prstGeom prst="rect">
            <a:avLst/>
          </a:prstGeom>
          <a:noFill/>
          <a:ln>
            <a:noFill/>
          </a:ln>
        </p:spPr>
        <p:txBody>
          <a:bodyPr vertOverflow="overflow" vert="horz" wrap="square" rtlCol="0" anchor="t">
            <a:noAutofit/>
          </a:bodyPr>
          <a:lstStyle/>
          <a:p>
            <a:pPr algn="l"/>
            <a:r>
              <a:rPr lang="en-US" b="1" dirty="0">
                <a:solidFill>
                  <a:srgbClr val="F79226"/>
                </a:solidFill>
                <a:latin typeface="Futura"/>
                <a:cs typeface="Futura"/>
              </a:rPr>
              <a:t>3.</a:t>
            </a:r>
          </a:p>
        </p:txBody>
      </p:sp>
      <p:sp>
        <p:nvSpPr>
          <p:cNvPr id="12" name="TextBox 11">
            <a:extLst>
              <a:ext uri="{FF2B5EF4-FFF2-40B4-BE49-F238E27FC236}">
                <a16:creationId xmlns:a16="http://schemas.microsoft.com/office/drawing/2014/main" id="{C17DB3FB-BC4B-3648-AD0A-914E28C1F18F}"/>
              </a:ext>
            </a:extLst>
          </p:cNvPr>
          <p:cNvSpPr txBox="1"/>
          <p:nvPr/>
        </p:nvSpPr>
        <p:spPr>
          <a:xfrm>
            <a:off x="1524000" y="4699000"/>
            <a:ext cx="4318000" cy="279400"/>
          </a:xfrm>
          <a:prstGeom prst="rect">
            <a:avLst/>
          </a:prstGeom>
          <a:noFill/>
          <a:ln>
            <a:noFill/>
          </a:ln>
        </p:spPr>
        <p:txBody>
          <a:bodyPr vertOverflow="overflow" vert="horz" wrap="square" rtlCol="0" anchor="t">
            <a:noAutofit/>
          </a:bodyPr>
          <a:lstStyle/>
          <a:p>
            <a:pPr algn="l"/>
            <a:r>
              <a:rPr lang="en-US" sz="1500" b="1" dirty="0">
                <a:solidFill>
                  <a:srgbClr val="102033"/>
                </a:solidFill>
                <a:latin typeface="Futura"/>
                <a:cs typeface="Futura"/>
              </a:rPr>
              <a:t>Including Human Relationships</a:t>
            </a:r>
          </a:p>
        </p:txBody>
      </p:sp>
      <p:sp>
        <p:nvSpPr>
          <p:cNvPr id="13" name="TextBox 12">
            <a:extLst>
              <a:ext uri="{FF2B5EF4-FFF2-40B4-BE49-F238E27FC236}">
                <a16:creationId xmlns:a16="http://schemas.microsoft.com/office/drawing/2014/main" id="{5532D640-2350-764A-96CE-E1EBD56CF958}"/>
              </a:ext>
            </a:extLst>
          </p:cNvPr>
          <p:cNvSpPr txBox="1"/>
          <p:nvPr/>
        </p:nvSpPr>
        <p:spPr>
          <a:xfrm>
            <a:off x="1524000" y="5029200"/>
            <a:ext cx="4318000" cy="762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Using real human communication in data and analytics</a:t>
            </a:r>
          </a:p>
        </p:txBody>
      </p:sp>
      <p:sp>
        <p:nvSpPr>
          <p:cNvPr id="14" name="TextBox 13">
            <a:extLst>
              <a:ext uri="{FF2B5EF4-FFF2-40B4-BE49-F238E27FC236}">
                <a16:creationId xmlns:a16="http://schemas.microsoft.com/office/drawing/2014/main" id="{EEC7E75B-9355-6A46-89D1-82728B799485}"/>
              </a:ext>
            </a:extLst>
          </p:cNvPr>
          <p:cNvSpPr txBox="1"/>
          <p:nvPr/>
        </p:nvSpPr>
        <p:spPr>
          <a:xfrm>
            <a:off x="6350000" y="2286000"/>
            <a:ext cx="457200" cy="304800"/>
          </a:xfrm>
          <a:prstGeom prst="rect">
            <a:avLst/>
          </a:prstGeom>
          <a:noFill/>
          <a:ln>
            <a:noFill/>
          </a:ln>
        </p:spPr>
        <p:txBody>
          <a:bodyPr vertOverflow="overflow" vert="horz" wrap="square" rtlCol="0" anchor="t">
            <a:noAutofit/>
          </a:bodyPr>
          <a:lstStyle/>
          <a:p>
            <a:pPr algn="l"/>
            <a:r>
              <a:rPr lang="en-US" b="1" dirty="0">
                <a:solidFill>
                  <a:srgbClr val="F79226"/>
                </a:solidFill>
                <a:latin typeface="Futura"/>
                <a:cs typeface="Futura"/>
              </a:rPr>
              <a:t>4.</a:t>
            </a:r>
          </a:p>
        </p:txBody>
      </p:sp>
      <p:sp>
        <p:nvSpPr>
          <p:cNvPr id="15" name="TextBox 14">
            <a:extLst>
              <a:ext uri="{FF2B5EF4-FFF2-40B4-BE49-F238E27FC236}">
                <a16:creationId xmlns:a16="http://schemas.microsoft.com/office/drawing/2014/main" id="{B1625E47-DBBD-1B49-A247-0942FFEA67F2}"/>
              </a:ext>
            </a:extLst>
          </p:cNvPr>
          <p:cNvSpPr txBox="1"/>
          <p:nvPr/>
        </p:nvSpPr>
        <p:spPr>
          <a:xfrm>
            <a:off x="6858000" y="2286000"/>
            <a:ext cx="4318000" cy="279400"/>
          </a:xfrm>
          <a:prstGeom prst="rect">
            <a:avLst/>
          </a:prstGeom>
          <a:noFill/>
          <a:ln>
            <a:noFill/>
          </a:ln>
        </p:spPr>
        <p:txBody>
          <a:bodyPr vertOverflow="overflow" vert="horz" wrap="square" rtlCol="0" anchor="t">
            <a:noAutofit/>
          </a:bodyPr>
          <a:lstStyle/>
          <a:p>
            <a:pPr algn="l"/>
            <a:r>
              <a:rPr lang="en-US" sz="1500" b="1" dirty="0">
                <a:solidFill>
                  <a:srgbClr val="102033"/>
                </a:solidFill>
                <a:latin typeface="Futura"/>
                <a:cs typeface="Futura"/>
              </a:rPr>
              <a:t>Confidence on everything</a:t>
            </a:r>
          </a:p>
        </p:txBody>
      </p:sp>
      <p:sp>
        <p:nvSpPr>
          <p:cNvPr id="16" name="TextBox 15">
            <a:extLst>
              <a:ext uri="{FF2B5EF4-FFF2-40B4-BE49-F238E27FC236}">
                <a16:creationId xmlns:a16="http://schemas.microsoft.com/office/drawing/2014/main" id="{CA20B313-7060-2143-882C-F16498B4EC55}"/>
              </a:ext>
            </a:extLst>
          </p:cNvPr>
          <p:cNvSpPr txBox="1"/>
          <p:nvPr/>
        </p:nvSpPr>
        <p:spPr>
          <a:xfrm>
            <a:off x="6858000" y="2616200"/>
            <a:ext cx="4318000" cy="762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Every classification ships with a confidence score. Low confidence = manually verify.</a:t>
            </a:r>
          </a:p>
        </p:txBody>
      </p:sp>
      <p:sp>
        <p:nvSpPr>
          <p:cNvPr id="17" name="TextBox 16">
            <a:extLst>
              <a:ext uri="{FF2B5EF4-FFF2-40B4-BE49-F238E27FC236}">
                <a16:creationId xmlns:a16="http://schemas.microsoft.com/office/drawing/2014/main" id="{4B687B3F-B0C0-3B40-9420-469F036A1BA3}"/>
              </a:ext>
            </a:extLst>
          </p:cNvPr>
          <p:cNvSpPr txBox="1"/>
          <p:nvPr/>
        </p:nvSpPr>
        <p:spPr>
          <a:xfrm>
            <a:off x="6350000" y="3492500"/>
            <a:ext cx="457200" cy="304800"/>
          </a:xfrm>
          <a:prstGeom prst="rect">
            <a:avLst/>
          </a:prstGeom>
          <a:noFill/>
          <a:ln>
            <a:noFill/>
          </a:ln>
        </p:spPr>
        <p:txBody>
          <a:bodyPr vertOverflow="overflow" vert="horz" wrap="square" rtlCol="0" anchor="t">
            <a:noAutofit/>
          </a:bodyPr>
          <a:lstStyle/>
          <a:p>
            <a:pPr algn="l"/>
            <a:r>
              <a:rPr lang="en-US" b="1" dirty="0">
                <a:solidFill>
                  <a:srgbClr val="F79226"/>
                </a:solidFill>
                <a:latin typeface="Futura"/>
                <a:cs typeface="Futura"/>
              </a:rPr>
              <a:t>5.</a:t>
            </a:r>
          </a:p>
        </p:txBody>
      </p:sp>
      <p:sp>
        <p:nvSpPr>
          <p:cNvPr id="18" name="TextBox 17">
            <a:extLst>
              <a:ext uri="{FF2B5EF4-FFF2-40B4-BE49-F238E27FC236}">
                <a16:creationId xmlns:a16="http://schemas.microsoft.com/office/drawing/2014/main" id="{4BE2B623-053E-4C4A-AD9B-9F44E4683D86}"/>
              </a:ext>
            </a:extLst>
          </p:cNvPr>
          <p:cNvSpPr txBox="1"/>
          <p:nvPr/>
        </p:nvSpPr>
        <p:spPr>
          <a:xfrm>
            <a:off x="6858000" y="3492500"/>
            <a:ext cx="4318000" cy="279400"/>
          </a:xfrm>
          <a:prstGeom prst="rect">
            <a:avLst/>
          </a:prstGeom>
          <a:noFill/>
          <a:ln>
            <a:noFill/>
          </a:ln>
        </p:spPr>
        <p:txBody>
          <a:bodyPr vertOverflow="overflow" vert="horz" wrap="square" rtlCol="0" anchor="t">
            <a:noAutofit/>
          </a:bodyPr>
          <a:lstStyle/>
          <a:p>
            <a:pPr algn="l"/>
            <a:r>
              <a:rPr lang="en-US" sz="1500" b="1" dirty="0">
                <a:solidFill>
                  <a:srgbClr val="102033"/>
                </a:solidFill>
                <a:latin typeface="Futura"/>
                <a:cs typeface="Futura"/>
              </a:rPr>
              <a:t>Multi-dimensional Scoring &amp; Trends</a:t>
            </a:r>
          </a:p>
        </p:txBody>
      </p:sp>
      <p:sp>
        <p:nvSpPr>
          <p:cNvPr id="19" name="TextBox 18">
            <a:extLst>
              <a:ext uri="{FF2B5EF4-FFF2-40B4-BE49-F238E27FC236}">
                <a16:creationId xmlns:a16="http://schemas.microsoft.com/office/drawing/2014/main" id="{CBEC3E43-50D2-7E40-898C-9DB06C64AAA4}"/>
              </a:ext>
            </a:extLst>
          </p:cNvPr>
          <p:cNvSpPr txBox="1"/>
          <p:nvPr/>
        </p:nvSpPr>
        <p:spPr>
          <a:xfrm>
            <a:off x="6858000" y="3822700"/>
            <a:ext cx="4318000" cy="762000"/>
          </a:xfrm>
          <a:prstGeom prst="rect">
            <a:avLst/>
          </a:prstGeom>
          <a:noFill/>
          <a:ln>
            <a:noFill/>
          </a:ln>
        </p:spPr>
        <p:txBody>
          <a:bodyPr vertOverflow="overflow" vert="horz" wrap="square" rtlCol="0" anchor="t">
            <a:noAutofit/>
          </a:bodyPr>
          <a:lstStyle/>
          <a:p>
            <a:r>
              <a:rPr lang="en-US" sz="1100" dirty="0">
                <a:solidFill>
                  <a:srgbClr val="6C757D"/>
                </a:solidFill>
                <a:latin typeface="Futura"/>
                <a:cs typeface="Futura"/>
              </a:rPr>
              <a:t>Can’t game all metrics. We watch the slope, not the snapshot.</a:t>
            </a:r>
          </a:p>
        </p:txBody>
      </p:sp>
      <p:sp>
        <p:nvSpPr>
          <p:cNvPr id="20" name="TextBox 19">
            <a:extLst>
              <a:ext uri="{FF2B5EF4-FFF2-40B4-BE49-F238E27FC236}">
                <a16:creationId xmlns:a16="http://schemas.microsoft.com/office/drawing/2014/main" id="{97C3B088-D01C-0648-8080-9F1F010516E9}"/>
              </a:ext>
            </a:extLst>
          </p:cNvPr>
          <p:cNvSpPr txBox="1"/>
          <p:nvPr/>
        </p:nvSpPr>
        <p:spPr>
          <a:xfrm>
            <a:off x="1016000" y="6070600"/>
            <a:ext cx="10160000" cy="279400"/>
          </a:xfrm>
          <a:prstGeom prst="rect">
            <a:avLst/>
          </a:prstGeom>
          <a:noFill/>
          <a:ln>
            <a:noFill/>
          </a:ln>
        </p:spPr>
        <p:txBody>
          <a:bodyPr vertOverflow="overflow" vert="horz" wrap="square" rtlCol="0" anchor="t">
            <a:noAutofit/>
          </a:bodyPr>
          <a:lstStyle/>
          <a:p>
            <a:pPr algn="l"/>
            <a:r>
              <a:rPr lang="en-US" sz="1100" i="1" dirty="0">
                <a:solidFill>
                  <a:srgbClr val="102033"/>
                </a:solidFill>
                <a:latin typeface="Futura"/>
                <a:cs typeface="Futura"/>
              </a:rPr>
              <a:t>— If engineers don't trust the system, it doesn't matter how good the metrics are.</a:t>
            </a:r>
          </a:p>
        </p:txBody>
      </p:sp>
      <p:sp>
        <p:nvSpPr>
          <p:cNvPr id="21" name="Rectangle 20">
            <a:extLst>
              <a:ext uri="{FF2B5EF4-FFF2-40B4-BE49-F238E27FC236}">
                <a16:creationId xmlns:a16="http://schemas.microsoft.com/office/drawing/2014/main" id="{71FCA3AD-5D5D-4448-A433-26D4BEE94A30}"/>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0964625F-9887-3C44-AA15-DC108FC399C8}"/>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23" name="TextBox 22">
            <a:extLst>
              <a:ext uri="{FF2B5EF4-FFF2-40B4-BE49-F238E27FC236}">
                <a16:creationId xmlns:a16="http://schemas.microsoft.com/office/drawing/2014/main" id="{A52189CB-BF78-4043-9103-1C63091FE10E}"/>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24" name="TextBox 23">
            <a:extLst>
              <a:ext uri="{FF2B5EF4-FFF2-40B4-BE49-F238E27FC236}">
                <a16:creationId xmlns:a16="http://schemas.microsoft.com/office/drawing/2014/main" id="{E108A595-FD51-BB40-9CE8-40CE282D66F3}"/>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3242486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1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20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1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1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2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4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C31E0D-DF28-9F48-AE32-C547A0DA1E8E}"/>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803372C3-6137-184C-AB92-AA0C845DA948}"/>
              </a:ext>
            </a:extLst>
          </p:cNvPr>
          <p:cNvSpPr txBox="1"/>
          <p:nvPr/>
        </p:nvSpPr>
        <p:spPr>
          <a:xfrm>
            <a:off x="1016000" y="3302000"/>
            <a:ext cx="2540000" cy="381000"/>
          </a:xfrm>
          <a:prstGeom prst="rect">
            <a:avLst/>
          </a:prstGeom>
          <a:noFill/>
          <a:ln>
            <a:noFill/>
          </a:ln>
        </p:spPr>
        <p:txBody>
          <a:bodyPr vertOverflow="overflow" vert="horz" wrap="square" rtlCol="0" anchor="t">
            <a:noAutofit/>
          </a:bodyPr>
          <a:lstStyle/>
          <a:p>
            <a:pPr algn="l"/>
            <a:r>
              <a:rPr lang="en-US" sz="1400" b="1">
                <a:solidFill>
                  <a:srgbClr val="F79226"/>
                </a:solidFill>
                <a:latin typeface="Futura"/>
                <a:cs typeface="Futura"/>
              </a:rPr>
              <a:t>07</a:t>
            </a:r>
          </a:p>
        </p:txBody>
      </p:sp>
      <p:sp>
        <p:nvSpPr>
          <p:cNvPr id="4" name="Rectangle 3">
            <a:extLst>
              <a:ext uri="{FF2B5EF4-FFF2-40B4-BE49-F238E27FC236}">
                <a16:creationId xmlns:a16="http://schemas.microsoft.com/office/drawing/2014/main" id="{82B97E40-E92E-0343-BD3E-CCAF356C43BD}"/>
              </a:ext>
            </a:extLst>
          </p:cNvPr>
          <p:cNvSpPr/>
          <p:nvPr/>
        </p:nvSpPr>
        <p:spPr>
          <a:xfrm>
            <a:off x="1016000" y="3746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2AB4D268-9C27-AD43-A9DD-758BC7FBC4D4}"/>
              </a:ext>
            </a:extLst>
          </p:cNvPr>
          <p:cNvSpPr txBox="1"/>
          <p:nvPr/>
        </p:nvSpPr>
        <p:spPr>
          <a:xfrm>
            <a:off x="1016000" y="4064000"/>
            <a:ext cx="10160000" cy="1016000"/>
          </a:xfrm>
          <a:prstGeom prst="rect">
            <a:avLst/>
          </a:prstGeom>
          <a:noFill/>
          <a:ln>
            <a:noFill/>
          </a:ln>
        </p:spPr>
        <p:txBody>
          <a:bodyPr vertOverflow="overflow" vert="horz" wrap="square" rtlCol="0" anchor="t">
            <a:noAutofit/>
          </a:bodyPr>
          <a:lstStyle/>
          <a:p>
            <a:pPr algn="l"/>
            <a:r>
              <a:rPr lang="en-US" sz="3400" b="1">
                <a:solidFill>
                  <a:srgbClr val="FFFFFF"/>
                </a:solidFill>
                <a:latin typeface="Futura"/>
                <a:cs typeface="Futura"/>
              </a:rPr>
              <a:t>BUILD THIS
YOURSELF</a:t>
            </a:r>
          </a:p>
        </p:txBody>
      </p:sp>
      <p:sp>
        <p:nvSpPr>
          <p:cNvPr id="6" name="TextBox 5">
            <a:extLst>
              <a:ext uri="{FF2B5EF4-FFF2-40B4-BE49-F238E27FC236}">
                <a16:creationId xmlns:a16="http://schemas.microsoft.com/office/drawing/2014/main" id="{EEEB56FF-53F8-5F45-BF2B-15ADA36B54F8}"/>
              </a:ext>
            </a:extLst>
          </p:cNvPr>
          <p:cNvSpPr txBox="1"/>
          <p:nvPr/>
        </p:nvSpPr>
        <p:spPr>
          <a:xfrm>
            <a:off x="1016000" y="5397500"/>
            <a:ext cx="10160000" cy="304800"/>
          </a:xfrm>
          <a:prstGeom prst="rect">
            <a:avLst/>
          </a:prstGeom>
          <a:noFill/>
          <a:ln>
            <a:noFill/>
          </a:ln>
        </p:spPr>
        <p:txBody>
          <a:bodyPr vertOverflow="overflow" vert="horz" wrap="square" rtlCol="0" anchor="t">
            <a:noAutofit/>
          </a:bodyPr>
          <a:lstStyle/>
          <a:p>
            <a:pPr algn="l"/>
            <a:r>
              <a:rPr lang="en-US" sz="1500" i="1">
                <a:solidFill>
                  <a:srgbClr val="C8D1DC"/>
                </a:solidFill>
                <a:latin typeface="Futura"/>
                <a:cs typeface="Futura"/>
              </a:rPr>
              <a:t>The stack is straightforward. The conversation with your team is the hard part.</a:t>
            </a:r>
          </a:p>
        </p:txBody>
      </p:sp>
      <p:sp>
        <p:nvSpPr>
          <p:cNvPr id="7" name="Rectangle 6">
            <a:extLst>
              <a:ext uri="{FF2B5EF4-FFF2-40B4-BE49-F238E27FC236}">
                <a16:creationId xmlns:a16="http://schemas.microsoft.com/office/drawing/2014/main" id="{A0F4D1F3-DBC3-1E4E-A932-D0F394EA1252}"/>
              </a:ext>
            </a:extLst>
          </p:cNvPr>
          <p:cNvSpPr/>
          <p:nvPr/>
        </p:nvSpPr>
        <p:spPr>
          <a:xfrm>
            <a:off x="1016000" y="6223000"/>
            <a:ext cx="10160000" cy="12700"/>
          </a:xfrm>
          <a:prstGeom prst="rect">
            <a:avLst/>
          </a:prstGeom>
          <a:solidFill>
            <a:srgbClr val="2A3A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2F0249F1-E388-9C43-88A4-3EFB3D3D7543}"/>
              </a:ext>
            </a:extLst>
          </p:cNvPr>
          <p:cNvSpPr txBox="1"/>
          <p:nvPr/>
        </p:nvSpPr>
        <p:spPr>
          <a:xfrm>
            <a:off x="8636000" y="6413500"/>
            <a:ext cx="2540000" cy="228600"/>
          </a:xfrm>
          <a:prstGeom prst="rect">
            <a:avLst/>
          </a:prstGeom>
          <a:noFill/>
          <a:ln>
            <a:noFill/>
          </a:ln>
        </p:spPr>
        <p:txBody>
          <a:bodyPr vertOverflow="overflow" vert="horz" wrap="square" rtlCol="0" anchor="t">
            <a:noAutofit/>
          </a:bodyPr>
          <a:lstStyle/>
          <a:p>
            <a:pPr algn="l"/>
            <a:r>
              <a:rPr lang="en-US" sz="1000">
                <a:solidFill>
                  <a:srgbClr val="9AA4B2"/>
                </a:solidFill>
                <a:latin typeface="Futura"/>
                <a:cs typeface="Futura"/>
              </a:rPr>
              <a:t>SECTION 07 / 07</a:t>
            </a:r>
          </a:p>
        </p:txBody>
      </p:sp>
    </p:spTree>
    <p:extLst>
      <p:ext uri="{BB962C8B-B14F-4D97-AF65-F5344CB8AC3E}">
        <p14:creationId xmlns:p14="http://schemas.microsoft.com/office/powerpoint/2010/main" val="126854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17799E-A42F-D646-BFD5-4260F2249D0D}"/>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dirty="0">
                <a:solidFill>
                  <a:srgbClr val="102033"/>
                </a:solidFill>
                <a:latin typeface="Futura"/>
                <a:cs typeface="Futura"/>
              </a:rPr>
              <a:t>5-phase build plan</a:t>
            </a:r>
          </a:p>
        </p:txBody>
      </p:sp>
      <p:sp>
        <p:nvSpPr>
          <p:cNvPr id="3" name="Rectangle 2">
            <a:extLst>
              <a:ext uri="{FF2B5EF4-FFF2-40B4-BE49-F238E27FC236}">
                <a16:creationId xmlns:a16="http://schemas.microsoft.com/office/drawing/2014/main" id="{4E023ED2-8FCF-9042-947D-10CC3ABA73CD}"/>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5E76CAE8-4C0C-1C40-933C-4D6B05DCB959}"/>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Web App Framework, DB, background jobs, charting framework, and AI API</a:t>
            </a:r>
          </a:p>
        </p:txBody>
      </p:sp>
      <p:sp>
        <p:nvSpPr>
          <p:cNvPr id="5" name="Rectangle 4">
            <a:extLst>
              <a:ext uri="{FF2B5EF4-FFF2-40B4-BE49-F238E27FC236}">
                <a16:creationId xmlns:a16="http://schemas.microsoft.com/office/drawing/2014/main" id="{13A8D442-1D90-F244-9693-E1366CC11175}"/>
              </a:ext>
            </a:extLst>
          </p:cNvPr>
          <p:cNvSpPr/>
          <p:nvPr/>
        </p:nvSpPr>
        <p:spPr>
          <a:xfrm>
            <a:off x="1270000" y="2857500"/>
            <a:ext cx="9652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1F837494-695A-B444-9938-A748FA1824C0}"/>
              </a:ext>
            </a:extLst>
          </p:cNvPr>
          <p:cNvSpPr/>
          <p:nvPr/>
        </p:nvSpPr>
        <p:spPr>
          <a:xfrm>
            <a:off x="1206500" y="2794000"/>
            <a:ext cx="127000" cy="127000"/>
          </a:xfrm>
          <a:prstGeom prst="ellipse">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0BAA4291-1752-174C-B074-F2A189C79542}"/>
              </a:ext>
            </a:extLst>
          </p:cNvPr>
          <p:cNvSpPr txBox="1"/>
          <p:nvPr/>
        </p:nvSpPr>
        <p:spPr>
          <a:xfrm>
            <a:off x="508000" y="2387600"/>
            <a:ext cx="1524000" cy="228600"/>
          </a:xfrm>
          <a:prstGeom prst="rect">
            <a:avLst/>
          </a:prstGeom>
          <a:noFill/>
          <a:ln>
            <a:noFill/>
          </a:ln>
        </p:spPr>
        <p:txBody>
          <a:bodyPr vertOverflow="overflow" vert="horz" wrap="square" rtlCol="0" anchor="t">
            <a:noAutofit/>
          </a:bodyPr>
          <a:lstStyle/>
          <a:p>
            <a:pPr algn="ctr"/>
            <a:r>
              <a:rPr lang="en-US" sz="1000" b="1" dirty="0">
                <a:solidFill>
                  <a:srgbClr val="F79226"/>
                </a:solidFill>
                <a:latin typeface="Futura"/>
                <a:cs typeface="Futura"/>
              </a:rPr>
              <a:t>Phase 1</a:t>
            </a:r>
          </a:p>
        </p:txBody>
      </p:sp>
      <p:sp>
        <p:nvSpPr>
          <p:cNvPr id="8" name="TextBox 7">
            <a:extLst>
              <a:ext uri="{FF2B5EF4-FFF2-40B4-BE49-F238E27FC236}">
                <a16:creationId xmlns:a16="http://schemas.microsoft.com/office/drawing/2014/main" id="{F694A4D6-AB6C-7249-A8E6-D988B6EB5E3A}"/>
              </a:ext>
            </a:extLst>
          </p:cNvPr>
          <p:cNvSpPr txBox="1"/>
          <p:nvPr/>
        </p:nvSpPr>
        <p:spPr>
          <a:xfrm>
            <a:off x="508000" y="3111500"/>
            <a:ext cx="1524000" cy="279400"/>
          </a:xfrm>
          <a:prstGeom prst="rect">
            <a:avLst/>
          </a:prstGeom>
          <a:noFill/>
          <a:ln>
            <a:noFill/>
          </a:ln>
        </p:spPr>
        <p:txBody>
          <a:bodyPr vertOverflow="overflow" vert="horz" wrap="square" rtlCol="0" anchor="t">
            <a:noAutofit/>
          </a:bodyPr>
          <a:lstStyle/>
          <a:p>
            <a:pPr algn="l"/>
            <a:r>
              <a:rPr lang="en-US" sz="1300" b="1">
                <a:solidFill>
                  <a:srgbClr val="102033"/>
                </a:solidFill>
                <a:latin typeface="Futura"/>
                <a:cs typeface="Futura"/>
              </a:rPr>
              <a:t>Connect data</a:t>
            </a:r>
          </a:p>
        </p:txBody>
      </p:sp>
      <p:sp>
        <p:nvSpPr>
          <p:cNvPr id="9" name="TextBox 8">
            <a:extLst>
              <a:ext uri="{FF2B5EF4-FFF2-40B4-BE49-F238E27FC236}">
                <a16:creationId xmlns:a16="http://schemas.microsoft.com/office/drawing/2014/main" id="{3490F50A-71DC-1247-A610-282E3E66AB66}"/>
              </a:ext>
            </a:extLst>
          </p:cNvPr>
          <p:cNvSpPr txBox="1"/>
          <p:nvPr/>
        </p:nvSpPr>
        <p:spPr>
          <a:xfrm>
            <a:off x="444500" y="3454400"/>
            <a:ext cx="1651000" cy="7620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Sync services for GitHub and Linear/Jira APIs.</a:t>
            </a:r>
          </a:p>
        </p:txBody>
      </p:sp>
      <p:sp>
        <p:nvSpPr>
          <p:cNvPr id="10" name="Oval 9">
            <a:extLst>
              <a:ext uri="{FF2B5EF4-FFF2-40B4-BE49-F238E27FC236}">
                <a16:creationId xmlns:a16="http://schemas.microsoft.com/office/drawing/2014/main" id="{3202EADA-666C-1E4C-ACE3-0B5EA53B5BB9}"/>
              </a:ext>
            </a:extLst>
          </p:cNvPr>
          <p:cNvSpPr/>
          <p:nvPr/>
        </p:nvSpPr>
        <p:spPr>
          <a:xfrm>
            <a:off x="3136900" y="2794000"/>
            <a:ext cx="127000" cy="127000"/>
          </a:xfrm>
          <a:prstGeom prst="ellipse">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276E3A50-91D6-B144-A61E-CFAAB9199B53}"/>
              </a:ext>
            </a:extLst>
          </p:cNvPr>
          <p:cNvSpPr txBox="1"/>
          <p:nvPr/>
        </p:nvSpPr>
        <p:spPr>
          <a:xfrm>
            <a:off x="2438400" y="2387600"/>
            <a:ext cx="1524000" cy="228600"/>
          </a:xfrm>
          <a:prstGeom prst="rect">
            <a:avLst/>
          </a:prstGeom>
          <a:noFill/>
          <a:ln>
            <a:noFill/>
          </a:ln>
        </p:spPr>
        <p:txBody>
          <a:bodyPr vertOverflow="overflow" vert="horz" wrap="square" rtlCol="0" anchor="t">
            <a:noAutofit/>
          </a:bodyPr>
          <a:lstStyle/>
          <a:p>
            <a:pPr algn="ctr"/>
            <a:r>
              <a:rPr lang="en-US" sz="1000" b="1" dirty="0">
                <a:solidFill>
                  <a:srgbClr val="F79226"/>
                </a:solidFill>
                <a:latin typeface="Futura"/>
                <a:cs typeface="Futura"/>
              </a:rPr>
              <a:t>Phase 2</a:t>
            </a:r>
          </a:p>
        </p:txBody>
      </p:sp>
      <p:sp>
        <p:nvSpPr>
          <p:cNvPr id="12" name="TextBox 11">
            <a:extLst>
              <a:ext uri="{FF2B5EF4-FFF2-40B4-BE49-F238E27FC236}">
                <a16:creationId xmlns:a16="http://schemas.microsoft.com/office/drawing/2014/main" id="{241256C0-E7AF-6642-AB4E-261F9BB8BBDB}"/>
              </a:ext>
            </a:extLst>
          </p:cNvPr>
          <p:cNvSpPr txBox="1"/>
          <p:nvPr/>
        </p:nvSpPr>
        <p:spPr>
          <a:xfrm>
            <a:off x="2438400" y="3111500"/>
            <a:ext cx="1524000" cy="279400"/>
          </a:xfrm>
          <a:prstGeom prst="rect">
            <a:avLst/>
          </a:prstGeom>
          <a:noFill/>
          <a:ln>
            <a:noFill/>
          </a:ln>
        </p:spPr>
        <p:txBody>
          <a:bodyPr vertOverflow="overflow" vert="horz" wrap="square" rtlCol="0" anchor="t">
            <a:noAutofit/>
          </a:bodyPr>
          <a:lstStyle/>
          <a:p>
            <a:pPr algn="l"/>
            <a:r>
              <a:rPr lang="en-US" sz="1300" b="1" dirty="0">
                <a:solidFill>
                  <a:srgbClr val="102033"/>
                </a:solidFill>
                <a:latin typeface="Futura"/>
                <a:cs typeface="Futura"/>
              </a:rPr>
              <a:t>Velocity math</a:t>
            </a:r>
          </a:p>
        </p:txBody>
      </p:sp>
      <p:sp>
        <p:nvSpPr>
          <p:cNvPr id="13" name="TextBox 12">
            <a:extLst>
              <a:ext uri="{FF2B5EF4-FFF2-40B4-BE49-F238E27FC236}">
                <a16:creationId xmlns:a16="http://schemas.microsoft.com/office/drawing/2014/main" id="{970919CF-E113-C348-B212-CC79BC8526E4}"/>
              </a:ext>
            </a:extLst>
          </p:cNvPr>
          <p:cNvSpPr txBox="1"/>
          <p:nvPr/>
        </p:nvSpPr>
        <p:spPr>
          <a:xfrm>
            <a:off x="2374900" y="3454400"/>
            <a:ext cx="1651000" cy="762000"/>
          </a:xfrm>
          <a:prstGeom prst="rect">
            <a:avLst/>
          </a:prstGeom>
          <a:noFill/>
          <a:ln>
            <a:noFill/>
          </a:ln>
        </p:spPr>
        <p:txBody>
          <a:bodyPr vertOverflow="overflow" vert="horz" wrap="square" rtlCol="0" anchor="t">
            <a:noAutofit/>
          </a:bodyPr>
          <a:lstStyle/>
          <a:p>
            <a:pPr algn="l"/>
            <a:r>
              <a:rPr lang="en-US" sz="1000" dirty="0">
                <a:solidFill>
                  <a:srgbClr val="6C757D"/>
                </a:solidFill>
                <a:latin typeface="Futura"/>
                <a:cs typeface="Futura"/>
              </a:rPr>
              <a:t>Points, hours-per-point, chart dashboard.</a:t>
            </a:r>
          </a:p>
        </p:txBody>
      </p:sp>
      <p:sp>
        <p:nvSpPr>
          <p:cNvPr id="14" name="Oval 13">
            <a:extLst>
              <a:ext uri="{FF2B5EF4-FFF2-40B4-BE49-F238E27FC236}">
                <a16:creationId xmlns:a16="http://schemas.microsoft.com/office/drawing/2014/main" id="{33C1C1DA-5A98-DA48-B15D-81A00ACA8DB4}"/>
              </a:ext>
            </a:extLst>
          </p:cNvPr>
          <p:cNvSpPr/>
          <p:nvPr/>
        </p:nvSpPr>
        <p:spPr>
          <a:xfrm>
            <a:off x="5067300" y="2794000"/>
            <a:ext cx="127000" cy="127000"/>
          </a:xfrm>
          <a:prstGeom prst="ellipse">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A9BD600D-9003-0648-A83D-71683444FAEB}"/>
              </a:ext>
            </a:extLst>
          </p:cNvPr>
          <p:cNvSpPr txBox="1"/>
          <p:nvPr/>
        </p:nvSpPr>
        <p:spPr>
          <a:xfrm>
            <a:off x="4368800" y="2387600"/>
            <a:ext cx="1524000" cy="228600"/>
          </a:xfrm>
          <a:prstGeom prst="rect">
            <a:avLst/>
          </a:prstGeom>
          <a:noFill/>
          <a:ln>
            <a:noFill/>
          </a:ln>
        </p:spPr>
        <p:txBody>
          <a:bodyPr vertOverflow="overflow" vert="horz" wrap="square" rtlCol="0" anchor="t">
            <a:noAutofit/>
          </a:bodyPr>
          <a:lstStyle/>
          <a:p>
            <a:pPr algn="ctr"/>
            <a:r>
              <a:rPr lang="en-US" sz="1000" b="1" dirty="0">
                <a:solidFill>
                  <a:srgbClr val="F79226"/>
                </a:solidFill>
                <a:latin typeface="Futura"/>
                <a:cs typeface="Futura"/>
              </a:rPr>
              <a:t>Phase 3</a:t>
            </a:r>
          </a:p>
        </p:txBody>
      </p:sp>
      <p:sp>
        <p:nvSpPr>
          <p:cNvPr id="16" name="TextBox 15">
            <a:extLst>
              <a:ext uri="{FF2B5EF4-FFF2-40B4-BE49-F238E27FC236}">
                <a16:creationId xmlns:a16="http://schemas.microsoft.com/office/drawing/2014/main" id="{2300718A-4E11-754D-B0A0-57E34E592AF8}"/>
              </a:ext>
            </a:extLst>
          </p:cNvPr>
          <p:cNvSpPr txBox="1"/>
          <p:nvPr/>
        </p:nvSpPr>
        <p:spPr>
          <a:xfrm>
            <a:off x="4368800" y="3111500"/>
            <a:ext cx="1524000" cy="279400"/>
          </a:xfrm>
          <a:prstGeom prst="rect">
            <a:avLst/>
          </a:prstGeom>
          <a:noFill/>
          <a:ln>
            <a:noFill/>
          </a:ln>
        </p:spPr>
        <p:txBody>
          <a:bodyPr vertOverflow="overflow" vert="horz" wrap="square" rtlCol="0" anchor="t">
            <a:noAutofit/>
          </a:bodyPr>
          <a:lstStyle/>
          <a:p>
            <a:pPr algn="l"/>
            <a:r>
              <a:rPr lang="en-US" sz="1300" b="1" dirty="0">
                <a:solidFill>
                  <a:srgbClr val="102033"/>
                </a:solidFill>
                <a:latin typeface="Futura"/>
                <a:cs typeface="Futura"/>
              </a:rPr>
              <a:t>PR analysis</a:t>
            </a:r>
          </a:p>
        </p:txBody>
      </p:sp>
      <p:sp>
        <p:nvSpPr>
          <p:cNvPr id="17" name="TextBox 16">
            <a:extLst>
              <a:ext uri="{FF2B5EF4-FFF2-40B4-BE49-F238E27FC236}">
                <a16:creationId xmlns:a16="http://schemas.microsoft.com/office/drawing/2014/main" id="{8C966C02-1F01-974B-9C13-2136B9B14917}"/>
              </a:ext>
            </a:extLst>
          </p:cNvPr>
          <p:cNvSpPr txBox="1"/>
          <p:nvPr/>
        </p:nvSpPr>
        <p:spPr>
          <a:xfrm>
            <a:off x="4305300" y="3454400"/>
            <a:ext cx="1651000" cy="762000"/>
          </a:xfrm>
          <a:prstGeom prst="rect">
            <a:avLst/>
          </a:prstGeom>
          <a:noFill/>
          <a:ln>
            <a:noFill/>
          </a:ln>
        </p:spPr>
        <p:txBody>
          <a:bodyPr vertOverflow="overflow" vert="horz" wrap="square" rtlCol="0" anchor="t">
            <a:noAutofit/>
          </a:bodyPr>
          <a:lstStyle/>
          <a:p>
            <a:pPr algn="l"/>
            <a:r>
              <a:rPr lang="en-US" sz="1000" dirty="0">
                <a:solidFill>
                  <a:srgbClr val="6C757D"/>
                </a:solidFill>
                <a:latin typeface="Futura"/>
                <a:cs typeface="Futura"/>
              </a:rPr>
              <a:t>Rework patterns, review cycle metrics.</a:t>
            </a:r>
          </a:p>
        </p:txBody>
      </p:sp>
      <p:sp>
        <p:nvSpPr>
          <p:cNvPr id="18" name="Oval 17">
            <a:extLst>
              <a:ext uri="{FF2B5EF4-FFF2-40B4-BE49-F238E27FC236}">
                <a16:creationId xmlns:a16="http://schemas.microsoft.com/office/drawing/2014/main" id="{1C294E29-4E1F-1A46-9909-95D86904A5C8}"/>
              </a:ext>
            </a:extLst>
          </p:cNvPr>
          <p:cNvSpPr/>
          <p:nvPr/>
        </p:nvSpPr>
        <p:spPr>
          <a:xfrm>
            <a:off x="6997700" y="2794000"/>
            <a:ext cx="127000" cy="127000"/>
          </a:xfrm>
          <a:prstGeom prst="ellipse">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B6DD9013-04EC-7847-8565-1116084B5E36}"/>
              </a:ext>
            </a:extLst>
          </p:cNvPr>
          <p:cNvSpPr txBox="1"/>
          <p:nvPr/>
        </p:nvSpPr>
        <p:spPr>
          <a:xfrm>
            <a:off x="6299200" y="2387600"/>
            <a:ext cx="1524000" cy="228600"/>
          </a:xfrm>
          <a:prstGeom prst="rect">
            <a:avLst/>
          </a:prstGeom>
          <a:noFill/>
          <a:ln>
            <a:noFill/>
          </a:ln>
        </p:spPr>
        <p:txBody>
          <a:bodyPr vertOverflow="overflow" vert="horz" wrap="square" rtlCol="0" anchor="t">
            <a:noAutofit/>
          </a:bodyPr>
          <a:lstStyle/>
          <a:p>
            <a:pPr algn="ctr"/>
            <a:r>
              <a:rPr lang="en-US" sz="1000" b="1" dirty="0">
                <a:solidFill>
                  <a:srgbClr val="F79226"/>
                </a:solidFill>
                <a:latin typeface="Futura"/>
                <a:cs typeface="Futura"/>
              </a:rPr>
              <a:t>Phase 4</a:t>
            </a:r>
          </a:p>
        </p:txBody>
      </p:sp>
      <p:sp>
        <p:nvSpPr>
          <p:cNvPr id="20" name="TextBox 19">
            <a:extLst>
              <a:ext uri="{FF2B5EF4-FFF2-40B4-BE49-F238E27FC236}">
                <a16:creationId xmlns:a16="http://schemas.microsoft.com/office/drawing/2014/main" id="{F92DD893-4030-504A-9490-480F88DBE50B}"/>
              </a:ext>
            </a:extLst>
          </p:cNvPr>
          <p:cNvSpPr txBox="1"/>
          <p:nvPr/>
        </p:nvSpPr>
        <p:spPr>
          <a:xfrm>
            <a:off x="6267450" y="3113314"/>
            <a:ext cx="1587500" cy="279400"/>
          </a:xfrm>
          <a:prstGeom prst="rect">
            <a:avLst/>
          </a:prstGeom>
          <a:noFill/>
          <a:ln>
            <a:noFill/>
          </a:ln>
        </p:spPr>
        <p:txBody>
          <a:bodyPr vertOverflow="overflow" vert="horz" wrap="square" rtlCol="0" anchor="t">
            <a:noAutofit/>
          </a:bodyPr>
          <a:lstStyle/>
          <a:p>
            <a:pPr algn="l"/>
            <a:r>
              <a:rPr lang="en-US" sz="1300" b="1" dirty="0">
                <a:solidFill>
                  <a:srgbClr val="102033"/>
                </a:solidFill>
                <a:latin typeface="Futura"/>
                <a:cs typeface="Futura"/>
              </a:rPr>
              <a:t>AI classification</a:t>
            </a:r>
          </a:p>
        </p:txBody>
      </p:sp>
      <p:sp>
        <p:nvSpPr>
          <p:cNvPr id="21" name="TextBox 20">
            <a:extLst>
              <a:ext uri="{FF2B5EF4-FFF2-40B4-BE49-F238E27FC236}">
                <a16:creationId xmlns:a16="http://schemas.microsoft.com/office/drawing/2014/main" id="{A1189BCD-3445-6845-BD06-94E305245367}"/>
              </a:ext>
            </a:extLst>
          </p:cNvPr>
          <p:cNvSpPr txBox="1"/>
          <p:nvPr/>
        </p:nvSpPr>
        <p:spPr>
          <a:xfrm>
            <a:off x="6235700" y="3454400"/>
            <a:ext cx="1651000" cy="762000"/>
          </a:xfrm>
          <a:prstGeom prst="rect">
            <a:avLst/>
          </a:prstGeom>
          <a:noFill/>
          <a:ln>
            <a:noFill/>
          </a:ln>
        </p:spPr>
        <p:txBody>
          <a:bodyPr vertOverflow="overflow" vert="horz" wrap="square" rtlCol="0" anchor="t">
            <a:noAutofit/>
          </a:bodyPr>
          <a:lstStyle/>
          <a:p>
            <a:pPr algn="l"/>
            <a:r>
              <a:rPr lang="en-US" sz="1000" dirty="0">
                <a:solidFill>
                  <a:srgbClr val="6C757D"/>
                </a:solidFill>
                <a:latin typeface="Futura"/>
                <a:cs typeface="Futura"/>
              </a:rPr>
              <a:t>Comment categorization with AI.</a:t>
            </a:r>
          </a:p>
        </p:txBody>
      </p:sp>
      <p:sp>
        <p:nvSpPr>
          <p:cNvPr id="22" name="Oval 21">
            <a:extLst>
              <a:ext uri="{FF2B5EF4-FFF2-40B4-BE49-F238E27FC236}">
                <a16:creationId xmlns:a16="http://schemas.microsoft.com/office/drawing/2014/main" id="{53CDFE87-34BB-ED42-AE78-671AE0930A51}"/>
              </a:ext>
            </a:extLst>
          </p:cNvPr>
          <p:cNvSpPr/>
          <p:nvPr/>
        </p:nvSpPr>
        <p:spPr>
          <a:xfrm>
            <a:off x="8928100" y="2794000"/>
            <a:ext cx="127000" cy="127000"/>
          </a:xfrm>
          <a:prstGeom prst="ellipse">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F53B1F55-D814-F740-A4D1-52AA820F2ED0}"/>
              </a:ext>
            </a:extLst>
          </p:cNvPr>
          <p:cNvSpPr txBox="1"/>
          <p:nvPr/>
        </p:nvSpPr>
        <p:spPr>
          <a:xfrm>
            <a:off x="8229600" y="2387600"/>
            <a:ext cx="1524000" cy="228600"/>
          </a:xfrm>
          <a:prstGeom prst="rect">
            <a:avLst/>
          </a:prstGeom>
          <a:noFill/>
          <a:ln>
            <a:noFill/>
          </a:ln>
        </p:spPr>
        <p:txBody>
          <a:bodyPr vertOverflow="overflow" vert="horz" wrap="square" rtlCol="0" anchor="t">
            <a:noAutofit/>
          </a:bodyPr>
          <a:lstStyle/>
          <a:p>
            <a:pPr algn="ctr"/>
            <a:r>
              <a:rPr lang="en-US" sz="1000" b="1" dirty="0">
                <a:solidFill>
                  <a:srgbClr val="F79226"/>
                </a:solidFill>
                <a:latin typeface="Futura"/>
                <a:cs typeface="Futura"/>
              </a:rPr>
              <a:t>Phase 5</a:t>
            </a:r>
          </a:p>
        </p:txBody>
      </p:sp>
      <p:sp>
        <p:nvSpPr>
          <p:cNvPr id="24" name="TextBox 23">
            <a:extLst>
              <a:ext uri="{FF2B5EF4-FFF2-40B4-BE49-F238E27FC236}">
                <a16:creationId xmlns:a16="http://schemas.microsoft.com/office/drawing/2014/main" id="{57A415A1-79A2-9345-9182-55E2B8949AB9}"/>
              </a:ext>
            </a:extLst>
          </p:cNvPr>
          <p:cNvSpPr txBox="1"/>
          <p:nvPr/>
        </p:nvSpPr>
        <p:spPr>
          <a:xfrm>
            <a:off x="8026400" y="3117850"/>
            <a:ext cx="1930400" cy="279400"/>
          </a:xfrm>
          <a:prstGeom prst="rect">
            <a:avLst/>
          </a:prstGeom>
          <a:noFill/>
          <a:ln>
            <a:noFill/>
          </a:ln>
        </p:spPr>
        <p:txBody>
          <a:bodyPr vertOverflow="overflow" vert="horz" wrap="square" rtlCol="0" anchor="t">
            <a:noAutofit/>
          </a:bodyPr>
          <a:lstStyle/>
          <a:p>
            <a:pPr algn="l"/>
            <a:r>
              <a:rPr lang="en-US" sz="1300" b="1" dirty="0">
                <a:solidFill>
                  <a:srgbClr val="102033"/>
                </a:solidFill>
                <a:latin typeface="Futura"/>
                <a:cs typeface="Futura"/>
              </a:rPr>
              <a:t>Scoring &amp; coaching</a:t>
            </a:r>
          </a:p>
        </p:txBody>
      </p:sp>
      <p:sp>
        <p:nvSpPr>
          <p:cNvPr id="25" name="TextBox 24">
            <a:extLst>
              <a:ext uri="{FF2B5EF4-FFF2-40B4-BE49-F238E27FC236}">
                <a16:creationId xmlns:a16="http://schemas.microsoft.com/office/drawing/2014/main" id="{2D45ADFE-BDD0-B140-9CB3-D5F4CE42E1E2}"/>
              </a:ext>
            </a:extLst>
          </p:cNvPr>
          <p:cNvSpPr txBox="1"/>
          <p:nvPr/>
        </p:nvSpPr>
        <p:spPr>
          <a:xfrm>
            <a:off x="8166100" y="3454400"/>
            <a:ext cx="1651000" cy="762000"/>
          </a:xfrm>
          <a:prstGeom prst="rect">
            <a:avLst/>
          </a:prstGeom>
          <a:noFill/>
          <a:ln>
            <a:noFill/>
          </a:ln>
        </p:spPr>
        <p:txBody>
          <a:bodyPr vertOverflow="overflow" vert="horz" wrap="square" rtlCol="0" anchor="t">
            <a:noAutofit/>
          </a:bodyPr>
          <a:lstStyle/>
          <a:p>
            <a:pPr algn="l"/>
            <a:r>
              <a:rPr lang="en-US" sz="1000" dirty="0">
                <a:solidFill>
                  <a:srgbClr val="6C757D"/>
                </a:solidFill>
                <a:latin typeface="Futura"/>
                <a:cs typeface="Futura"/>
              </a:rPr>
              <a:t>Confidence labels, coaching summaries.</a:t>
            </a:r>
          </a:p>
        </p:txBody>
      </p:sp>
      <p:sp>
        <p:nvSpPr>
          <p:cNvPr id="26" name="Oval 25">
            <a:extLst>
              <a:ext uri="{FF2B5EF4-FFF2-40B4-BE49-F238E27FC236}">
                <a16:creationId xmlns:a16="http://schemas.microsoft.com/office/drawing/2014/main" id="{8B6B960B-C1A9-EE40-A5F0-DB9366021639}"/>
              </a:ext>
            </a:extLst>
          </p:cNvPr>
          <p:cNvSpPr/>
          <p:nvPr/>
        </p:nvSpPr>
        <p:spPr>
          <a:xfrm>
            <a:off x="10858500" y="2794000"/>
            <a:ext cx="127000" cy="127000"/>
          </a:xfrm>
          <a:prstGeom prst="ellipse">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90938D8F-F883-8B40-93AC-46E65D12AF5F}"/>
              </a:ext>
            </a:extLst>
          </p:cNvPr>
          <p:cNvSpPr txBox="1"/>
          <p:nvPr/>
        </p:nvSpPr>
        <p:spPr>
          <a:xfrm>
            <a:off x="10160000" y="2387600"/>
            <a:ext cx="1524000" cy="228600"/>
          </a:xfrm>
          <a:prstGeom prst="rect">
            <a:avLst/>
          </a:prstGeom>
          <a:noFill/>
          <a:ln>
            <a:noFill/>
          </a:ln>
        </p:spPr>
        <p:txBody>
          <a:bodyPr vertOverflow="overflow" vert="horz" wrap="square" rtlCol="0" anchor="t">
            <a:noAutofit/>
          </a:bodyPr>
          <a:lstStyle/>
          <a:p>
            <a:pPr algn="ctr"/>
            <a:r>
              <a:rPr lang="en-US" sz="1000" b="1" dirty="0">
                <a:solidFill>
                  <a:srgbClr val="F79226"/>
                </a:solidFill>
                <a:latin typeface="Futura"/>
                <a:cs typeface="Futura"/>
              </a:rPr>
              <a:t>Ongoing</a:t>
            </a:r>
          </a:p>
        </p:txBody>
      </p:sp>
      <p:sp>
        <p:nvSpPr>
          <p:cNvPr id="28" name="TextBox 27">
            <a:extLst>
              <a:ext uri="{FF2B5EF4-FFF2-40B4-BE49-F238E27FC236}">
                <a16:creationId xmlns:a16="http://schemas.microsoft.com/office/drawing/2014/main" id="{02FAF8E2-38D3-3D47-B98B-559552182A64}"/>
              </a:ext>
            </a:extLst>
          </p:cNvPr>
          <p:cNvSpPr txBox="1"/>
          <p:nvPr/>
        </p:nvSpPr>
        <p:spPr>
          <a:xfrm>
            <a:off x="10160000" y="3117850"/>
            <a:ext cx="1524000" cy="279400"/>
          </a:xfrm>
          <a:prstGeom prst="rect">
            <a:avLst/>
          </a:prstGeom>
          <a:noFill/>
          <a:ln>
            <a:noFill/>
          </a:ln>
        </p:spPr>
        <p:txBody>
          <a:bodyPr vertOverflow="overflow" vert="horz" wrap="square" rtlCol="0" anchor="t">
            <a:noAutofit/>
          </a:bodyPr>
          <a:lstStyle/>
          <a:p>
            <a:pPr algn="l"/>
            <a:r>
              <a:rPr lang="en-US" sz="1300" b="1" dirty="0">
                <a:solidFill>
                  <a:srgbClr val="102033"/>
                </a:solidFill>
                <a:latin typeface="Futura"/>
                <a:cs typeface="Futura"/>
              </a:rPr>
              <a:t>Calibrate</a:t>
            </a:r>
          </a:p>
        </p:txBody>
      </p:sp>
      <p:sp>
        <p:nvSpPr>
          <p:cNvPr id="29" name="TextBox 28">
            <a:extLst>
              <a:ext uri="{FF2B5EF4-FFF2-40B4-BE49-F238E27FC236}">
                <a16:creationId xmlns:a16="http://schemas.microsoft.com/office/drawing/2014/main" id="{EFC9BC31-C69A-FF40-9E17-9A46598CA282}"/>
              </a:ext>
            </a:extLst>
          </p:cNvPr>
          <p:cNvSpPr txBox="1"/>
          <p:nvPr/>
        </p:nvSpPr>
        <p:spPr>
          <a:xfrm>
            <a:off x="10096500" y="3454400"/>
            <a:ext cx="1651000" cy="762000"/>
          </a:xfrm>
          <a:prstGeom prst="rect">
            <a:avLst/>
          </a:prstGeom>
          <a:noFill/>
          <a:ln>
            <a:noFill/>
          </a:ln>
        </p:spPr>
        <p:txBody>
          <a:bodyPr vertOverflow="overflow" vert="horz" wrap="square" rtlCol="0" anchor="t">
            <a:noAutofit/>
          </a:bodyPr>
          <a:lstStyle/>
          <a:p>
            <a:pPr algn="l"/>
            <a:r>
              <a:rPr lang="en-US" sz="1000" dirty="0">
                <a:solidFill>
                  <a:srgbClr val="6C757D"/>
                </a:solidFill>
                <a:latin typeface="Futura"/>
                <a:cs typeface="Futura"/>
              </a:rPr>
              <a:t>Iterate and communicate</a:t>
            </a:r>
          </a:p>
        </p:txBody>
      </p:sp>
      <p:sp>
        <p:nvSpPr>
          <p:cNvPr id="30" name="Rectangle 29">
            <a:extLst>
              <a:ext uri="{FF2B5EF4-FFF2-40B4-BE49-F238E27FC236}">
                <a16:creationId xmlns:a16="http://schemas.microsoft.com/office/drawing/2014/main" id="{6B8A1866-2EC2-2F41-AA95-460699EFC0B0}"/>
              </a:ext>
            </a:extLst>
          </p:cNvPr>
          <p:cNvSpPr/>
          <p:nvPr/>
        </p:nvSpPr>
        <p:spPr>
          <a:xfrm>
            <a:off x="1016000" y="4572000"/>
            <a:ext cx="10160000" cy="12700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AE733C15-163E-B34B-9F15-A1EF8160A482}"/>
              </a:ext>
            </a:extLst>
          </p:cNvPr>
          <p:cNvSpPr/>
          <p:nvPr/>
        </p:nvSpPr>
        <p:spPr>
          <a:xfrm>
            <a:off x="1016000" y="4572000"/>
            <a:ext cx="38100" cy="12700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7A00BF74-8EDC-7649-B3A9-850085DC9BAE}"/>
              </a:ext>
            </a:extLst>
          </p:cNvPr>
          <p:cNvSpPr txBox="1"/>
          <p:nvPr/>
        </p:nvSpPr>
        <p:spPr>
          <a:xfrm>
            <a:off x="1397000" y="4800600"/>
            <a:ext cx="5080000" cy="203200"/>
          </a:xfrm>
          <a:prstGeom prst="rect">
            <a:avLst/>
          </a:prstGeom>
          <a:noFill/>
          <a:ln>
            <a:noFill/>
          </a:ln>
        </p:spPr>
        <p:txBody>
          <a:bodyPr vertOverflow="overflow" vert="horz" wrap="square" rtlCol="0" anchor="t">
            <a:noAutofit/>
          </a:bodyPr>
          <a:lstStyle/>
          <a:p>
            <a:pPr algn="l"/>
            <a:r>
              <a:rPr lang="en-US" sz="1000" b="1" dirty="0">
                <a:solidFill>
                  <a:srgbClr val="F79226"/>
                </a:solidFill>
                <a:latin typeface="Futura"/>
                <a:cs typeface="Futura"/>
              </a:rPr>
              <a:t>THE HARDEST PART</a:t>
            </a:r>
          </a:p>
        </p:txBody>
      </p:sp>
      <p:sp>
        <p:nvSpPr>
          <p:cNvPr id="33" name="TextBox 32">
            <a:extLst>
              <a:ext uri="{FF2B5EF4-FFF2-40B4-BE49-F238E27FC236}">
                <a16:creationId xmlns:a16="http://schemas.microsoft.com/office/drawing/2014/main" id="{7B968465-FA25-4B4D-A92A-B90F93504FEC}"/>
              </a:ext>
            </a:extLst>
          </p:cNvPr>
          <p:cNvSpPr txBox="1"/>
          <p:nvPr/>
        </p:nvSpPr>
        <p:spPr>
          <a:xfrm>
            <a:off x="1397000" y="5029200"/>
            <a:ext cx="5080000" cy="304800"/>
          </a:xfrm>
          <a:prstGeom prst="rect">
            <a:avLst/>
          </a:prstGeom>
          <a:noFill/>
          <a:ln>
            <a:noFill/>
          </a:ln>
        </p:spPr>
        <p:txBody>
          <a:bodyPr vertOverflow="overflow" vert="horz" wrap="square" rtlCol="0" anchor="t">
            <a:noAutofit/>
          </a:bodyPr>
          <a:lstStyle/>
          <a:p>
            <a:pPr algn="l"/>
            <a:r>
              <a:rPr lang="en-US" sz="1600" b="1" dirty="0">
                <a:solidFill>
                  <a:srgbClr val="102033"/>
                </a:solidFill>
                <a:latin typeface="Futura"/>
                <a:cs typeface="Futura"/>
              </a:rPr>
              <a:t>isn't the code.</a:t>
            </a:r>
          </a:p>
        </p:txBody>
      </p:sp>
      <p:sp>
        <p:nvSpPr>
          <p:cNvPr id="34" name="TextBox 33">
            <a:extLst>
              <a:ext uri="{FF2B5EF4-FFF2-40B4-BE49-F238E27FC236}">
                <a16:creationId xmlns:a16="http://schemas.microsoft.com/office/drawing/2014/main" id="{1F7A8057-A235-9C4C-8ADF-8C6FD3438C89}"/>
              </a:ext>
            </a:extLst>
          </p:cNvPr>
          <p:cNvSpPr txBox="1"/>
          <p:nvPr/>
        </p:nvSpPr>
        <p:spPr>
          <a:xfrm>
            <a:off x="1397000" y="5334000"/>
            <a:ext cx="9652000" cy="5080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It's the conversation with your team about why.</a:t>
            </a:r>
          </a:p>
        </p:txBody>
      </p:sp>
      <p:sp>
        <p:nvSpPr>
          <p:cNvPr id="35" name="Rectangle 34">
            <a:extLst>
              <a:ext uri="{FF2B5EF4-FFF2-40B4-BE49-F238E27FC236}">
                <a16:creationId xmlns:a16="http://schemas.microsoft.com/office/drawing/2014/main" id="{DF96A0A7-E91D-0046-81D9-95D2AA1F6A6C}"/>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FABD19DF-C19E-9149-B417-8FCC5BD81773}"/>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37" name="TextBox 36">
            <a:extLst>
              <a:ext uri="{FF2B5EF4-FFF2-40B4-BE49-F238E27FC236}">
                <a16:creationId xmlns:a16="http://schemas.microsoft.com/office/drawing/2014/main" id="{7A6E5E63-8AB7-4B4F-A6F0-2ECFFE26D55E}"/>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38" name="TextBox 37">
            <a:extLst>
              <a:ext uri="{FF2B5EF4-FFF2-40B4-BE49-F238E27FC236}">
                <a16:creationId xmlns:a16="http://schemas.microsoft.com/office/drawing/2014/main" id="{0C9187EB-6A2A-7346-9573-5EC753BF5878}"/>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1731576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childTnLst>
                                </p:cTn>
                              </p:par>
                              <p:par>
                                <p:cTn id="22" presetID="10" presetClass="entr" presetSubtype="0" fill="hold" grpId="0" nodeType="withEffect">
                                  <p:stCondLst>
                                    <p:cond delay="10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childTnLst>
                                </p:cTn>
                              </p:par>
                              <p:par>
                                <p:cTn id="25" presetID="10" presetClass="entr" presetSubtype="0" fill="hold" grpId="0" nodeType="withEffect">
                                  <p:stCondLst>
                                    <p:cond delay="2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childTnLst>
                                </p:cTn>
                              </p:par>
                              <p:par>
                                <p:cTn id="28" presetID="10" presetClass="entr" presetSubtype="0" fill="hold" grpId="0" nodeType="withEffect">
                                  <p:stCondLst>
                                    <p:cond delay="3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1000"/>
                                        <p:tgtEl>
                                          <p:spTgt spid="19"/>
                                        </p:tgtEl>
                                      </p:cBhvr>
                                    </p:animEffect>
                                  </p:childTnLst>
                                </p:cTn>
                              </p:par>
                              <p:par>
                                <p:cTn id="36" presetID="10" presetClass="entr" presetSubtype="0" fill="hold" grpId="0" nodeType="withEffect">
                                  <p:stCondLst>
                                    <p:cond delay="1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1000"/>
                                        <p:tgtEl>
                                          <p:spTgt spid="18"/>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1000"/>
                                        <p:tgtEl>
                                          <p:spTgt spid="20"/>
                                        </p:tgtEl>
                                      </p:cBhvr>
                                    </p:animEffect>
                                  </p:childTnLst>
                                </p:cTn>
                              </p:par>
                              <p:par>
                                <p:cTn id="42" presetID="10" presetClass="entr" presetSubtype="0" fill="hold" grpId="0" nodeType="withEffect">
                                  <p:stCondLst>
                                    <p:cond delay="30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10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1000"/>
                                        <p:tgtEl>
                                          <p:spTgt spid="23"/>
                                        </p:tgtEl>
                                      </p:cBhvr>
                                    </p:animEffect>
                                  </p:childTnLst>
                                </p:cTn>
                              </p:par>
                              <p:par>
                                <p:cTn id="50" presetID="10" presetClass="entr" presetSubtype="0" fill="hold" grpId="0" nodeType="withEffect">
                                  <p:stCondLst>
                                    <p:cond delay="1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1000"/>
                                        <p:tgtEl>
                                          <p:spTgt spid="22"/>
                                        </p:tgtEl>
                                      </p:cBhvr>
                                    </p:animEffect>
                                  </p:childTnLst>
                                </p:cTn>
                              </p:par>
                              <p:par>
                                <p:cTn id="53" presetID="10" presetClass="entr" presetSubtype="0" fill="hold" grpId="0" nodeType="withEffect">
                                  <p:stCondLst>
                                    <p:cond delay="2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1000"/>
                                        <p:tgtEl>
                                          <p:spTgt spid="24"/>
                                        </p:tgtEl>
                                      </p:cBhvr>
                                    </p:animEffect>
                                  </p:childTnLst>
                                </p:cTn>
                              </p:par>
                              <p:par>
                                <p:cTn id="56" presetID="10" presetClass="entr" presetSubtype="0" fill="hold" grpId="0" nodeType="withEffect">
                                  <p:stCondLst>
                                    <p:cond delay="30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10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1000"/>
                                        <p:tgtEl>
                                          <p:spTgt spid="27"/>
                                        </p:tgtEl>
                                      </p:cBhvr>
                                    </p:animEffect>
                                  </p:childTnLst>
                                </p:cTn>
                              </p:par>
                              <p:par>
                                <p:cTn id="64" presetID="10" presetClass="entr" presetSubtype="0" fill="hold" grpId="0" nodeType="withEffect">
                                  <p:stCondLst>
                                    <p:cond delay="10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1000"/>
                                        <p:tgtEl>
                                          <p:spTgt spid="26"/>
                                        </p:tgtEl>
                                      </p:cBhvr>
                                    </p:animEffect>
                                  </p:childTnLst>
                                </p:cTn>
                              </p:par>
                              <p:par>
                                <p:cTn id="67" presetID="10" presetClass="entr" presetSubtype="0" fill="hold" grpId="0" nodeType="withEffect">
                                  <p:stCondLst>
                                    <p:cond delay="20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1000"/>
                                        <p:tgtEl>
                                          <p:spTgt spid="28"/>
                                        </p:tgtEl>
                                      </p:cBhvr>
                                    </p:animEffect>
                                  </p:childTnLst>
                                </p:cTn>
                              </p:par>
                              <p:par>
                                <p:cTn id="70" presetID="10" presetClass="entr" presetSubtype="0" fill="hold" grpId="0" nodeType="withEffect">
                                  <p:stCondLst>
                                    <p:cond delay="30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1000"/>
                                        <p:tgtEl>
                                          <p:spTgt spid="29"/>
                                        </p:tgtEl>
                                      </p:cBhvr>
                                    </p:animEffect>
                                  </p:childTnLst>
                                </p:cTn>
                              </p:par>
                            </p:childTnLst>
                          </p:cTn>
                        </p:par>
                        <p:par>
                          <p:cTn id="73" fill="hold">
                            <p:stCondLst>
                              <p:cond delay="1300"/>
                            </p:stCondLst>
                            <p:childTnLst>
                              <p:par>
                                <p:cTn id="74" presetID="22" presetClass="entr" presetSubtype="1" fill="hold" grpId="0" nodeType="after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wipe(up)">
                                      <p:cBhvr>
                                        <p:cTn id="76" dur="500"/>
                                        <p:tgtEl>
                                          <p:spTgt spid="31"/>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up)">
                                      <p:cBhvr>
                                        <p:cTn id="79" dur="500"/>
                                        <p:tgtEl>
                                          <p:spTgt spid="30"/>
                                        </p:tgtEl>
                                      </p:cBhvr>
                                    </p:animEffect>
                                  </p:childTnLst>
                                </p:cTn>
                              </p:par>
                              <p:par>
                                <p:cTn id="80" presetID="10" presetClass="entr" presetSubtype="0" fill="hold" grpId="0" nodeType="withEffect">
                                  <p:stCondLst>
                                    <p:cond delay="20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1000"/>
                                        <p:tgtEl>
                                          <p:spTgt spid="32"/>
                                        </p:tgtEl>
                                      </p:cBhvr>
                                    </p:animEffect>
                                  </p:childTnLst>
                                </p:cTn>
                              </p:par>
                              <p:par>
                                <p:cTn id="83" presetID="10" presetClass="entr" presetSubtype="0" fill="hold" grpId="0" nodeType="withEffect">
                                  <p:stCondLst>
                                    <p:cond delay="30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1000"/>
                                        <p:tgtEl>
                                          <p:spTgt spid="33"/>
                                        </p:tgtEl>
                                      </p:cBhvr>
                                    </p:animEffect>
                                  </p:childTnLst>
                                </p:cTn>
                              </p:par>
                              <p:par>
                                <p:cTn id="86" presetID="10" presetClass="entr" presetSubtype="0" fill="hold" grpId="0" nodeType="withEffect">
                                  <p:stCondLst>
                                    <p:cond delay="40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p:bldP spid="14" grpId="0" animBg="1"/>
      <p:bldP spid="15" grpId="0"/>
      <p:bldP spid="16" grpId="0"/>
      <p:bldP spid="17" grpId="0"/>
      <p:bldP spid="18" grpId="0" animBg="1"/>
      <p:bldP spid="19" grpId="0"/>
      <p:bldP spid="20" grpId="0"/>
      <p:bldP spid="21" grpId="0"/>
      <p:bldP spid="22" grpId="0" animBg="1"/>
      <p:bldP spid="23" grpId="0"/>
      <p:bldP spid="24" grpId="0"/>
      <p:bldP spid="25" grpId="0"/>
      <p:bldP spid="26" grpId="0" animBg="1"/>
      <p:bldP spid="27" grpId="0"/>
      <p:bldP spid="28" grpId="0"/>
      <p:bldP spid="29" grpId="0"/>
      <p:bldP spid="30" grpId="0" animBg="1"/>
      <p:bldP spid="31" grpId="0" animBg="1"/>
      <p:bldP spid="32" grpId="0"/>
      <p:bldP spid="33" grpId="0"/>
      <p:bldP spid="3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2EDA3B-77A5-F548-8223-413179B524EA}"/>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dirty="0">
                <a:solidFill>
                  <a:srgbClr val="102033"/>
                </a:solidFill>
                <a:latin typeface="Futura"/>
                <a:cs typeface="Futura"/>
              </a:rPr>
              <a:t>What to remember tomorrow morning</a:t>
            </a:r>
          </a:p>
        </p:txBody>
      </p:sp>
      <p:sp>
        <p:nvSpPr>
          <p:cNvPr id="3" name="Rectangle 2">
            <a:extLst>
              <a:ext uri="{FF2B5EF4-FFF2-40B4-BE49-F238E27FC236}">
                <a16:creationId xmlns:a16="http://schemas.microsoft.com/office/drawing/2014/main" id="{582A839C-EEAC-F843-B4A6-F3492ADA848E}"/>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639DA51-08C2-7F4A-BE6B-D30097394F45}"/>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Three things to take with you.</a:t>
            </a:r>
          </a:p>
        </p:txBody>
      </p:sp>
      <p:sp>
        <p:nvSpPr>
          <p:cNvPr id="5" name="TextBox 4">
            <a:extLst>
              <a:ext uri="{FF2B5EF4-FFF2-40B4-BE49-F238E27FC236}">
                <a16:creationId xmlns:a16="http://schemas.microsoft.com/office/drawing/2014/main" id="{2A4A4EDF-55D6-0F47-8532-6B3B1E0A9306}"/>
              </a:ext>
            </a:extLst>
          </p:cNvPr>
          <p:cNvSpPr txBox="1"/>
          <p:nvPr/>
        </p:nvSpPr>
        <p:spPr>
          <a:xfrm>
            <a:off x="1016000" y="2349500"/>
            <a:ext cx="889000" cy="635000"/>
          </a:xfrm>
          <a:prstGeom prst="rect">
            <a:avLst/>
          </a:prstGeom>
          <a:noFill/>
          <a:ln>
            <a:noFill/>
          </a:ln>
        </p:spPr>
        <p:txBody>
          <a:bodyPr vertOverflow="overflow" vert="horz" wrap="square" rtlCol="0" anchor="t">
            <a:noAutofit/>
          </a:bodyPr>
          <a:lstStyle/>
          <a:p>
            <a:pPr algn="l"/>
            <a:r>
              <a:rPr lang="en-US" sz="3400" b="1">
                <a:solidFill>
                  <a:srgbClr val="F79226"/>
                </a:solidFill>
                <a:latin typeface="Futura"/>
                <a:cs typeface="Futura"/>
              </a:rPr>
              <a:t>3.</a:t>
            </a:r>
          </a:p>
        </p:txBody>
      </p:sp>
      <p:sp>
        <p:nvSpPr>
          <p:cNvPr id="6" name="TextBox 5">
            <a:extLst>
              <a:ext uri="{FF2B5EF4-FFF2-40B4-BE49-F238E27FC236}">
                <a16:creationId xmlns:a16="http://schemas.microsoft.com/office/drawing/2014/main" id="{F0BB476D-489B-6841-83A6-8C72889AD1B1}"/>
              </a:ext>
            </a:extLst>
          </p:cNvPr>
          <p:cNvSpPr txBox="1"/>
          <p:nvPr/>
        </p:nvSpPr>
        <p:spPr>
          <a:xfrm>
            <a:off x="2029823" y="2348593"/>
            <a:ext cx="9144000" cy="304800"/>
          </a:xfrm>
          <a:prstGeom prst="rect">
            <a:avLst/>
          </a:prstGeom>
          <a:noFill/>
          <a:ln>
            <a:noFill/>
          </a:ln>
        </p:spPr>
        <p:txBody>
          <a:bodyPr vertOverflow="overflow" vert="horz" wrap="square" rtlCol="0" anchor="t">
            <a:noAutofit/>
          </a:bodyPr>
          <a:lstStyle/>
          <a:p>
            <a:pPr algn="l"/>
            <a:r>
              <a:rPr lang="en-US" sz="1600" b="1">
                <a:solidFill>
                  <a:srgbClr val="102033"/>
                </a:solidFill>
                <a:latin typeface="Futura"/>
                <a:cs typeface="Futura"/>
              </a:rPr>
              <a:t>Guardrails are a feature.</a:t>
            </a:r>
          </a:p>
        </p:txBody>
      </p:sp>
      <p:sp>
        <p:nvSpPr>
          <p:cNvPr id="7" name="TextBox 6">
            <a:extLst>
              <a:ext uri="{FF2B5EF4-FFF2-40B4-BE49-F238E27FC236}">
                <a16:creationId xmlns:a16="http://schemas.microsoft.com/office/drawing/2014/main" id="{DACF6232-1F22-AB41-A410-88FA479CCDE1}"/>
              </a:ext>
            </a:extLst>
          </p:cNvPr>
          <p:cNvSpPr txBox="1"/>
          <p:nvPr/>
        </p:nvSpPr>
        <p:spPr>
          <a:xfrm>
            <a:off x="2029823" y="2653393"/>
            <a:ext cx="9144000" cy="3302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Credibility through transparency, confidence labels, and access control — with hours-per-point as your constant against time.</a:t>
            </a:r>
          </a:p>
        </p:txBody>
      </p:sp>
      <p:sp>
        <p:nvSpPr>
          <p:cNvPr id="8" name="Rectangle 7">
            <a:extLst>
              <a:ext uri="{FF2B5EF4-FFF2-40B4-BE49-F238E27FC236}">
                <a16:creationId xmlns:a16="http://schemas.microsoft.com/office/drawing/2014/main" id="{43D3C8C4-CFC8-F84B-BC61-E5970EABB1C5}"/>
              </a:ext>
            </a:extLst>
          </p:cNvPr>
          <p:cNvSpPr/>
          <p:nvPr/>
        </p:nvSpPr>
        <p:spPr>
          <a:xfrm>
            <a:off x="1016000" y="3124200"/>
            <a:ext cx="10160000" cy="12700"/>
          </a:xfrm>
          <a:prstGeom prst="rect">
            <a:avLst/>
          </a:prstGeom>
          <a:solidFill>
            <a:srgbClr val="F0F1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488F050B-D11D-BD47-AF3A-E9F23B7C1265}"/>
              </a:ext>
            </a:extLst>
          </p:cNvPr>
          <p:cNvSpPr txBox="1"/>
          <p:nvPr/>
        </p:nvSpPr>
        <p:spPr>
          <a:xfrm>
            <a:off x="1016000" y="3271157"/>
            <a:ext cx="889000" cy="635000"/>
          </a:xfrm>
          <a:prstGeom prst="rect">
            <a:avLst/>
          </a:prstGeom>
          <a:noFill/>
          <a:ln>
            <a:noFill/>
          </a:ln>
        </p:spPr>
        <p:txBody>
          <a:bodyPr vertOverflow="overflow" vert="horz" wrap="square" rtlCol="0" anchor="t">
            <a:noAutofit/>
          </a:bodyPr>
          <a:lstStyle/>
          <a:p>
            <a:pPr algn="l"/>
            <a:r>
              <a:rPr lang="en-US" sz="3400" b="1" dirty="0">
                <a:solidFill>
                  <a:srgbClr val="F79226"/>
                </a:solidFill>
                <a:latin typeface="Futura"/>
                <a:cs typeface="Futura"/>
              </a:rPr>
              <a:t>2.</a:t>
            </a:r>
          </a:p>
        </p:txBody>
      </p:sp>
      <p:sp>
        <p:nvSpPr>
          <p:cNvPr id="10" name="TextBox 9">
            <a:extLst>
              <a:ext uri="{FF2B5EF4-FFF2-40B4-BE49-F238E27FC236}">
                <a16:creationId xmlns:a16="http://schemas.microsoft.com/office/drawing/2014/main" id="{69AB1F8E-963C-0A4A-9C51-9D1A5594C7A0}"/>
              </a:ext>
            </a:extLst>
          </p:cNvPr>
          <p:cNvSpPr txBox="1"/>
          <p:nvPr/>
        </p:nvSpPr>
        <p:spPr>
          <a:xfrm>
            <a:off x="2032000" y="3276600"/>
            <a:ext cx="9144000" cy="304800"/>
          </a:xfrm>
          <a:prstGeom prst="rect">
            <a:avLst/>
          </a:prstGeom>
          <a:noFill/>
          <a:ln>
            <a:noFill/>
          </a:ln>
        </p:spPr>
        <p:txBody>
          <a:bodyPr vertOverflow="overflow" vert="horz" wrap="square" rtlCol="0" anchor="t">
            <a:noAutofit/>
          </a:bodyPr>
          <a:lstStyle/>
          <a:p>
            <a:pPr algn="l"/>
            <a:r>
              <a:rPr lang="en-US" sz="1600" b="1" dirty="0">
                <a:solidFill>
                  <a:srgbClr val="102033"/>
                </a:solidFill>
                <a:latin typeface="Futura"/>
                <a:cs typeface="Futura"/>
              </a:rPr>
              <a:t>Three tiers.</a:t>
            </a:r>
          </a:p>
        </p:txBody>
      </p:sp>
      <p:sp>
        <p:nvSpPr>
          <p:cNvPr id="11" name="TextBox 10">
            <a:extLst>
              <a:ext uri="{FF2B5EF4-FFF2-40B4-BE49-F238E27FC236}">
                <a16:creationId xmlns:a16="http://schemas.microsoft.com/office/drawing/2014/main" id="{1A812DB5-2BEA-0A4B-879F-75EAA37AEE55}"/>
              </a:ext>
            </a:extLst>
          </p:cNvPr>
          <p:cNvSpPr txBox="1"/>
          <p:nvPr/>
        </p:nvSpPr>
        <p:spPr>
          <a:xfrm>
            <a:off x="2051594" y="3581400"/>
            <a:ext cx="9144000" cy="3302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Outcomes are the rearview mirror. System signals are the dashboard. Behaviors are the engine light.</a:t>
            </a:r>
          </a:p>
        </p:txBody>
      </p:sp>
      <p:sp>
        <p:nvSpPr>
          <p:cNvPr id="12" name="Rectangle 11">
            <a:extLst>
              <a:ext uri="{FF2B5EF4-FFF2-40B4-BE49-F238E27FC236}">
                <a16:creationId xmlns:a16="http://schemas.microsoft.com/office/drawing/2014/main" id="{76B948CD-7F01-524F-A0E2-87498D732768}"/>
              </a:ext>
            </a:extLst>
          </p:cNvPr>
          <p:cNvSpPr/>
          <p:nvPr/>
        </p:nvSpPr>
        <p:spPr>
          <a:xfrm>
            <a:off x="1024708" y="4052207"/>
            <a:ext cx="10160000" cy="12700"/>
          </a:xfrm>
          <a:prstGeom prst="rect">
            <a:avLst/>
          </a:prstGeom>
          <a:solidFill>
            <a:srgbClr val="F0F1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A6E183B3-FCB1-0E47-A982-C472EAFB0924}"/>
              </a:ext>
            </a:extLst>
          </p:cNvPr>
          <p:cNvSpPr txBox="1"/>
          <p:nvPr/>
        </p:nvSpPr>
        <p:spPr>
          <a:xfrm>
            <a:off x="1079500" y="4196443"/>
            <a:ext cx="889000" cy="635000"/>
          </a:xfrm>
          <a:prstGeom prst="rect">
            <a:avLst/>
          </a:prstGeom>
          <a:noFill/>
          <a:ln>
            <a:noFill/>
          </a:ln>
        </p:spPr>
        <p:txBody>
          <a:bodyPr vertOverflow="overflow" vert="horz" wrap="square" rtlCol="0" anchor="t">
            <a:noAutofit/>
          </a:bodyPr>
          <a:lstStyle/>
          <a:p>
            <a:pPr algn="l"/>
            <a:r>
              <a:rPr lang="en-US" sz="3400" b="1" dirty="0">
                <a:solidFill>
                  <a:srgbClr val="F79226"/>
                </a:solidFill>
                <a:latin typeface="Futura"/>
                <a:cs typeface="Futura"/>
              </a:rPr>
              <a:t>1.</a:t>
            </a:r>
          </a:p>
        </p:txBody>
      </p:sp>
      <p:sp>
        <p:nvSpPr>
          <p:cNvPr id="14" name="TextBox 13">
            <a:extLst>
              <a:ext uri="{FF2B5EF4-FFF2-40B4-BE49-F238E27FC236}">
                <a16:creationId xmlns:a16="http://schemas.microsoft.com/office/drawing/2014/main" id="{A72AE8B3-EC29-9E4B-9EE7-884AC09AC6FC}"/>
              </a:ext>
            </a:extLst>
          </p:cNvPr>
          <p:cNvSpPr txBox="1"/>
          <p:nvPr/>
        </p:nvSpPr>
        <p:spPr>
          <a:xfrm>
            <a:off x="2051594" y="4203156"/>
            <a:ext cx="9144000" cy="304800"/>
          </a:xfrm>
          <a:prstGeom prst="rect">
            <a:avLst/>
          </a:prstGeom>
          <a:noFill/>
          <a:ln>
            <a:noFill/>
          </a:ln>
        </p:spPr>
        <p:txBody>
          <a:bodyPr vertOverflow="overflow" vert="horz" wrap="square" rtlCol="0" anchor="t">
            <a:noAutofit/>
          </a:bodyPr>
          <a:lstStyle/>
          <a:p>
            <a:pPr algn="l"/>
            <a:r>
              <a:rPr lang="en-US" sz="1600" b="1" dirty="0">
                <a:solidFill>
                  <a:srgbClr val="102033"/>
                </a:solidFill>
                <a:latin typeface="Futura"/>
                <a:cs typeface="Futura"/>
              </a:rPr>
              <a:t>Start conversations, not end careers.</a:t>
            </a:r>
          </a:p>
        </p:txBody>
      </p:sp>
      <p:sp>
        <p:nvSpPr>
          <p:cNvPr id="15" name="TextBox 14">
            <a:extLst>
              <a:ext uri="{FF2B5EF4-FFF2-40B4-BE49-F238E27FC236}">
                <a16:creationId xmlns:a16="http://schemas.microsoft.com/office/drawing/2014/main" id="{4C7D7BE6-EC40-A043-B047-A1EE63E7DD6B}"/>
              </a:ext>
            </a:extLst>
          </p:cNvPr>
          <p:cNvSpPr txBox="1"/>
          <p:nvPr/>
        </p:nvSpPr>
        <p:spPr>
          <a:xfrm>
            <a:off x="2053771" y="4509407"/>
            <a:ext cx="9144000" cy="330200"/>
          </a:xfrm>
          <a:prstGeom prst="rect">
            <a:avLst/>
          </a:prstGeom>
          <a:noFill/>
          <a:ln>
            <a:noFill/>
          </a:ln>
        </p:spPr>
        <p:txBody>
          <a:bodyPr vertOverflow="overflow" vert="horz" wrap="square" rtlCol="0" anchor="t">
            <a:noAutofit/>
          </a:bodyPr>
          <a:lstStyle/>
          <a:p>
            <a:pPr algn="l"/>
            <a:r>
              <a:rPr lang="en-US" sz="1100" dirty="0">
                <a:solidFill>
                  <a:srgbClr val="6C757D"/>
                </a:solidFill>
                <a:latin typeface="Futura"/>
                <a:cs typeface="Futura"/>
              </a:rPr>
              <a:t>If your first instinct when a metric dips is to escalate, you've missed the entire point.</a:t>
            </a:r>
          </a:p>
        </p:txBody>
      </p:sp>
      <p:sp>
        <p:nvSpPr>
          <p:cNvPr id="24" name="Rectangle 23">
            <a:extLst>
              <a:ext uri="{FF2B5EF4-FFF2-40B4-BE49-F238E27FC236}">
                <a16:creationId xmlns:a16="http://schemas.microsoft.com/office/drawing/2014/main" id="{25D8A4C1-82EA-F240-9BAF-9AA849291BD2}"/>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117A317F-5138-E443-9926-6C4FEC7209FE}"/>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26" name="TextBox 25">
            <a:extLst>
              <a:ext uri="{FF2B5EF4-FFF2-40B4-BE49-F238E27FC236}">
                <a16:creationId xmlns:a16="http://schemas.microsoft.com/office/drawing/2014/main" id="{B23D7BFB-54B2-B840-9278-CE2CE008CF74}"/>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27" name="TextBox 26">
            <a:extLst>
              <a:ext uri="{FF2B5EF4-FFF2-40B4-BE49-F238E27FC236}">
                <a16:creationId xmlns:a16="http://schemas.microsoft.com/office/drawing/2014/main" id="{46888CDD-4962-1F42-84D9-06DBDA14B62E}"/>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3019004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1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2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animBg="1"/>
      <p:bldP spid="13" grpId="0"/>
      <p:bldP spid="14" grpId="0"/>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6D69B48-BBBF-704C-86C5-2A289CA7C199}"/>
              </a:ext>
            </a:extLst>
          </p:cNvPr>
          <p:cNvSpPr txBox="1"/>
          <p:nvPr/>
        </p:nvSpPr>
        <p:spPr>
          <a:xfrm>
            <a:off x="1016000" y="1778000"/>
            <a:ext cx="10160000" cy="1143000"/>
          </a:xfrm>
          <a:prstGeom prst="rect">
            <a:avLst/>
          </a:prstGeom>
          <a:noFill/>
          <a:ln>
            <a:noFill/>
          </a:ln>
        </p:spPr>
        <p:txBody>
          <a:bodyPr vertOverflow="overflow" vert="horz" wrap="square" rtlCol="0" anchor="t">
            <a:noAutofit/>
          </a:bodyPr>
          <a:lstStyle/>
          <a:p>
            <a:pPr algn="l"/>
            <a:r>
              <a:rPr lang="en-US" sz="7200" b="1">
                <a:solidFill>
                  <a:srgbClr val="102033"/>
                </a:solidFill>
                <a:latin typeface="Futura"/>
                <a:cs typeface="Futura"/>
              </a:rPr>
              <a:t>Thank you</a:t>
            </a:r>
          </a:p>
        </p:txBody>
      </p:sp>
      <p:sp>
        <p:nvSpPr>
          <p:cNvPr id="12" name="Rectangle 11">
            <a:extLst>
              <a:ext uri="{FF2B5EF4-FFF2-40B4-BE49-F238E27FC236}">
                <a16:creationId xmlns:a16="http://schemas.microsoft.com/office/drawing/2014/main" id="{B201E88C-AB71-0B40-91F2-6A32C07A797A}"/>
              </a:ext>
            </a:extLst>
          </p:cNvPr>
          <p:cNvSpPr/>
          <p:nvPr/>
        </p:nvSpPr>
        <p:spPr>
          <a:xfrm>
            <a:off x="1016000" y="30480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08B54225-4C77-EE41-80EC-96B9871EF2D8}"/>
              </a:ext>
            </a:extLst>
          </p:cNvPr>
          <p:cNvSpPr txBox="1"/>
          <p:nvPr/>
        </p:nvSpPr>
        <p:spPr>
          <a:xfrm>
            <a:off x="1016000" y="3340100"/>
            <a:ext cx="10160000" cy="330200"/>
          </a:xfrm>
          <a:prstGeom prst="rect">
            <a:avLst/>
          </a:prstGeom>
          <a:noFill/>
          <a:ln>
            <a:noFill/>
          </a:ln>
        </p:spPr>
        <p:txBody>
          <a:bodyPr vertOverflow="overflow" vert="horz" wrap="square" rtlCol="0" anchor="t">
            <a:noAutofit/>
          </a:bodyPr>
          <a:lstStyle/>
          <a:p>
            <a:pPr algn="l"/>
            <a:r>
              <a:rPr lang="en-US" sz="2000" i="1">
                <a:solidFill>
                  <a:srgbClr val="102033"/>
                </a:solidFill>
                <a:latin typeface="Futura"/>
                <a:cs typeface="Futura"/>
              </a:rPr>
              <a:t>Metrics should start conversations, not end careers.</a:t>
            </a:r>
          </a:p>
        </p:txBody>
      </p:sp>
      <p:sp>
        <p:nvSpPr>
          <p:cNvPr id="14" name="TextBox 13">
            <a:extLst>
              <a:ext uri="{FF2B5EF4-FFF2-40B4-BE49-F238E27FC236}">
                <a16:creationId xmlns:a16="http://schemas.microsoft.com/office/drawing/2014/main" id="{C727C405-EF7F-3744-9C27-FDDFF2531B3B}"/>
              </a:ext>
            </a:extLst>
          </p:cNvPr>
          <p:cNvSpPr txBox="1"/>
          <p:nvPr/>
        </p:nvSpPr>
        <p:spPr>
          <a:xfrm>
            <a:off x="1016000" y="4318000"/>
            <a:ext cx="5080000" cy="635000"/>
          </a:xfrm>
          <a:prstGeom prst="rect">
            <a:avLst/>
          </a:prstGeom>
          <a:noFill/>
          <a:ln>
            <a:noFill/>
          </a:ln>
        </p:spPr>
        <p:txBody>
          <a:bodyPr vertOverflow="overflow" vert="horz" wrap="square" rtlCol="0" anchor="t">
            <a:noAutofit/>
          </a:bodyPr>
          <a:lstStyle/>
          <a:p>
            <a:pPr algn="l"/>
            <a:r>
              <a:rPr lang="en-US" sz="4000" b="1">
                <a:solidFill>
                  <a:srgbClr val="F89226"/>
                </a:solidFill>
                <a:latin typeface="Futura"/>
                <a:cs typeface="Futura"/>
              </a:rPr>
              <a:t>Questions</a:t>
            </a:r>
            <a:r>
              <a:rPr lang="en-US" sz="4000" b="1">
                <a:solidFill>
                  <a:srgbClr val="F79226"/>
                </a:solidFill>
                <a:latin typeface="Futura"/>
                <a:cs typeface="Futura"/>
              </a:rPr>
              <a:t>?</a:t>
            </a:r>
          </a:p>
        </p:txBody>
      </p:sp>
      <p:sp>
        <p:nvSpPr>
          <p:cNvPr id="15" name="TextBox 14">
            <a:extLst>
              <a:ext uri="{FF2B5EF4-FFF2-40B4-BE49-F238E27FC236}">
                <a16:creationId xmlns:a16="http://schemas.microsoft.com/office/drawing/2014/main" id="{50560B1D-8D92-6A46-87A6-30A7A3523811}"/>
              </a:ext>
            </a:extLst>
          </p:cNvPr>
          <p:cNvSpPr txBox="1"/>
          <p:nvPr/>
        </p:nvSpPr>
        <p:spPr>
          <a:xfrm>
            <a:off x="1016000" y="5435600"/>
            <a:ext cx="5080000" cy="279400"/>
          </a:xfrm>
          <a:prstGeom prst="rect">
            <a:avLst/>
          </a:prstGeom>
          <a:noFill/>
          <a:ln>
            <a:noFill/>
          </a:ln>
        </p:spPr>
        <p:txBody>
          <a:bodyPr vertOverflow="overflow" vert="horz" wrap="square" rtlCol="0" anchor="t">
            <a:noAutofit/>
          </a:bodyPr>
          <a:lstStyle/>
          <a:p>
            <a:pPr algn="l"/>
            <a:r>
              <a:rPr lang="en-US" sz="1500" b="1">
                <a:solidFill>
                  <a:srgbClr val="102033"/>
                </a:solidFill>
                <a:latin typeface="Futura"/>
                <a:cs typeface="Futura"/>
              </a:rPr>
              <a:t>Eric Martin</a:t>
            </a:r>
          </a:p>
        </p:txBody>
      </p:sp>
      <p:sp>
        <p:nvSpPr>
          <p:cNvPr id="16" name="TextBox 15">
            <a:extLst>
              <a:ext uri="{FF2B5EF4-FFF2-40B4-BE49-F238E27FC236}">
                <a16:creationId xmlns:a16="http://schemas.microsoft.com/office/drawing/2014/main" id="{9547436F-AC8B-474F-9FA7-F075CEC69E7B}"/>
              </a:ext>
            </a:extLst>
          </p:cNvPr>
          <p:cNvSpPr txBox="1"/>
          <p:nvPr/>
        </p:nvSpPr>
        <p:spPr>
          <a:xfrm>
            <a:off x="1016000" y="5740400"/>
            <a:ext cx="6350000" cy="254000"/>
          </a:xfrm>
          <a:prstGeom prst="rect">
            <a:avLst/>
          </a:prstGeom>
          <a:noFill/>
          <a:ln>
            <a:noFill/>
          </a:ln>
        </p:spPr>
        <p:txBody>
          <a:bodyPr vertOverflow="overflow" vert="horz" wrap="square" rtlCol="0" anchor="t">
            <a:noAutofit/>
          </a:bodyPr>
          <a:lstStyle/>
          <a:p>
            <a:pPr algn="l"/>
            <a:r>
              <a:rPr lang="en-US" sz="1200">
                <a:solidFill>
                  <a:srgbClr val="6C757D"/>
                </a:solidFill>
                <a:latin typeface="Futura"/>
                <a:cs typeface="Futura"/>
              </a:rPr>
              <a:t>Director of Software Engineering, KODE Health</a:t>
            </a:r>
          </a:p>
        </p:txBody>
      </p:sp>
      <p:sp>
        <p:nvSpPr>
          <p:cNvPr id="17" name="Rectangle 16">
            <a:extLst>
              <a:ext uri="{FF2B5EF4-FFF2-40B4-BE49-F238E27FC236}">
                <a16:creationId xmlns:a16="http://schemas.microsoft.com/office/drawing/2014/main" id="{ABB0F969-84B7-8849-A9DC-90B1689CF48C}"/>
              </a:ext>
            </a:extLst>
          </p:cNvPr>
          <p:cNvSpPr/>
          <p:nvPr/>
        </p:nvSpPr>
        <p:spPr>
          <a:xfrm>
            <a:off x="1016000" y="63500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F616089A-2954-004C-ADB3-664E08FD995B}"/>
              </a:ext>
            </a:extLst>
          </p:cNvPr>
          <p:cNvSpPr txBox="1"/>
          <p:nvPr/>
        </p:nvSpPr>
        <p:spPr>
          <a:xfrm>
            <a:off x="1016000" y="6477000"/>
            <a:ext cx="635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19" name="TextBox 18">
            <a:extLst>
              <a:ext uri="{FF2B5EF4-FFF2-40B4-BE49-F238E27FC236}">
                <a16:creationId xmlns:a16="http://schemas.microsoft.com/office/drawing/2014/main" id="{D67CA5E4-D42E-AB40-9396-C60B8B96F300}"/>
              </a:ext>
            </a:extLst>
          </p:cNvPr>
          <p:cNvSpPr txBox="1"/>
          <p:nvPr/>
        </p:nvSpPr>
        <p:spPr>
          <a:xfrm>
            <a:off x="8636000" y="64770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D8EB8504-83A8-6429-7F50-D620A1A29ED3}"/>
              </a:ext>
            </a:extLst>
          </p:cNvPr>
          <p:cNvPicPr>
            <a:picLocks noChangeAspect="1"/>
          </p:cNvPicPr>
          <p:nvPr/>
        </p:nvPicPr>
        <p:blipFill>
          <a:blip r:embed="rId3"/>
          <a:stretch>
            <a:fillRect/>
          </a:stretch>
        </p:blipFill>
        <p:spPr>
          <a:xfrm>
            <a:off x="8382000" y="1968500"/>
            <a:ext cx="2286000" cy="2286000"/>
          </a:xfrm>
          <a:prstGeom prst="rect">
            <a:avLst/>
          </a:prstGeom>
        </p:spPr>
      </p:pic>
      <p:sp>
        <p:nvSpPr>
          <p:cNvPr id="21" name="TextBox 20">
            <a:hlinkClick r:id="rId4"/>
            <a:extLst>
              <a:ext uri="{FF2B5EF4-FFF2-40B4-BE49-F238E27FC236}">
                <a16:creationId xmlns:a16="http://schemas.microsoft.com/office/drawing/2014/main" id="{324F4477-BC85-DB46-A964-137620EE772C}"/>
              </a:ext>
            </a:extLst>
          </p:cNvPr>
          <p:cNvSpPr txBox="1"/>
          <p:nvPr/>
        </p:nvSpPr>
        <p:spPr>
          <a:xfrm>
            <a:off x="1016000" y="6007100"/>
            <a:ext cx="6350000" cy="254000"/>
          </a:xfrm>
          <a:prstGeom prst="rect">
            <a:avLst/>
          </a:prstGeom>
          <a:noFill/>
          <a:ln>
            <a:noFill/>
          </a:ln>
        </p:spPr>
        <p:txBody>
          <a:bodyPr vertOverflow="overflow" vert="horz" wrap="square" rtlCol="0" anchor="t">
            <a:noAutofit/>
          </a:bodyPr>
          <a:lstStyle/>
          <a:p>
            <a:pPr algn="l"/>
            <a:r>
              <a:rPr lang="en-US" sz="1200" b="1" err="1">
                <a:solidFill>
                  <a:srgbClr val="F89226"/>
                </a:solidFill>
                <a:latin typeface="Futura"/>
                <a:cs typeface="Futura"/>
                <a:hlinkClick r:id="rId5">
                  <a:extLst>
                    <a:ext uri="{A12FA001-AC4F-418D-AE19-62706E023703}">
                      <ahyp:hlinkClr xmlns:ahyp="http://schemas.microsoft.com/office/drawing/2018/hyperlinkcolor" val="tx"/>
                    </a:ext>
                  </a:extLst>
                </a:hlinkClick>
              </a:rPr>
              <a:t>linkedin.com</a:t>
            </a:r>
            <a:r>
              <a:rPr lang="en-US" sz="1200" b="1">
                <a:solidFill>
                  <a:srgbClr val="F89226"/>
                </a:solidFill>
                <a:latin typeface="Futura"/>
                <a:cs typeface="Futura"/>
                <a:hlinkClick r:id="rId5">
                  <a:extLst>
                    <a:ext uri="{A12FA001-AC4F-418D-AE19-62706E023703}">
                      <ahyp:hlinkClr xmlns:ahyp="http://schemas.microsoft.com/office/drawing/2018/hyperlinkcolor" val="tx"/>
                    </a:ext>
                  </a:extLst>
                </a:hlinkClick>
              </a:rPr>
              <a:t>/in/ericemartin1</a:t>
            </a:r>
            <a:endParaRPr lang="en-US" sz="1200" b="1">
              <a:solidFill>
                <a:srgbClr val="F89226"/>
              </a:solidFill>
              <a:latin typeface="Futura"/>
              <a:cs typeface="Futura"/>
            </a:endParaRPr>
          </a:p>
        </p:txBody>
      </p:sp>
      <p:sp>
        <p:nvSpPr>
          <p:cNvPr id="22" name="TextBox 21">
            <a:extLst>
              <a:ext uri="{FF2B5EF4-FFF2-40B4-BE49-F238E27FC236}">
                <a16:creationId xmlns:a16="http://schemas.microsoft.com/office/drawing/2014/main" id="{4312E7CA-5BD5-F743-9F81-6F0BA78FBE96}"/>
              </a:ext>
            </a:extLst>
          </p:cNvPr>
          <p:cNvSpPr txBox="1"/>
          <p:nvPr/>
        </p:nvSpPr>
        <p:spPr>
          <a:xfrm>
            <a:off x="8382000" y="1651000"/>
            <a:ext cx="2286000" cy="254000"/>
          </a:xfrm>
          <a:prstGeom prst="rect">
            <a:avLst/>
          </a:prstGeom>
          <a:noFill/>
          <a:ln>
            <a:noFill/>
          </a:ln>
        </p:spPr>
        <p:txBody>
          <a:bodyPr vertOverflow="overflow" vert="horz" wrap="none" rtlCol="0" anchor="t">
            <a:noAutofit/>
          </a:bodyPr>
          <a:lstStyle/>
          <a:p>
            <a:pPr algn="l"/>
            <a:r>
              <a:rPr lang="en-US" sz="1100" b="1">
                <a:solidFill>
                  <a:srgbClr val="F79226"/>
                </a:solidFill>
                <a:latin typeface="Futura"/>
                <a:cs typeface="Futura"/>
              </a:rPr>
              <a:t>SCAN →</a:t>
            </a:r>
          </a:p>
        </p:txBody>
      </p:sp>
      <p:sp>
        <p:nvSpPr>
          <p:cNvPr id="23" name="TextBox 22">
            <a:extLst>
              <a:ext uri="{FF2B5EF4-FFF2-40B4-BE49-F238E27FC236}">
                <a16:creationId xmlns:a16="http://schemas.microsoft.com/office/drawing/2014/main" id="{6EA896E6-6176-034D-BD43-5F3D6D2CB225}"/>
              </a:ext>
            </a:extLst>
          </p:cNvPr>
          <p:cNvSpPr txBox="1"/>
          <p:nvPr/>
        </p:nvSpPr>
        <p:spPr>
          <a:xfrm>
            <a:off x="8382000" y="4318000"/>
            <a:ext cx="2286000" cy="279400"/>
          </a:xfrm>
          <a:prstGeom prst="rect">
            <a:avLst/>
          </a:prstGeom>
          <a:noFill/>
          <a:ln>
            <a:noFill/>
          </a:ln>
        </p:spPr>
        <p:txBody>
          <a:bodyPr vertOverflow="overflow" vert="horz" wrap="none" rtlCol="0" anchor="t">
            <a:noAutofit/>
          </a:bodyPr>
          <a:lstStyle/>
          <a:p>
            <a:pPr algn="l"/>
            <a:r>
              <a:rPr lang="en-US" sz="1300" i="1">
                <a:solidFill>
                  <a:srgbClr val="102033"/>
                </a:solidFill>
                <a:latin typeface="Futura"/>
                <a:cs typeface="Futura"/>
              </a:rPr>
              <a:t>Let's connect.</a:t>
            </a:r>
          </a:p>
        </p:txBody>
      </p:sp>
    </p:spTree>
    <p:extLst>
      <p:ext uri="{BB962C8B-B14F-4D97-AF65-F5344CB8AC3E}">
        <p14:creationId xmlns:p14="http://schemas.microsoft.com/office/powerpoint/2010/main" val="3190407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9EF3D-7B50-C8E1-78FC-A4904EDA633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C87406-5112-0836-6B4B-7DB3C9F54AD0}"/>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F6508418-7F00-A6AF-3B34-02283BBA86DA}"/>
              </a:ext>
            </a:extLst>
          </p:cNvPr>
          <p:cNvSpPr txBox="1"/>
          <p:nvPr/>
        </p:nvSpPr>
        <p:spPr>
          <a:xfrm>
            <a:off x="1016000" y="3302000"/>
            <a:ext cx="2540000" cy="381000"/>
          </a:xfrm>
          <a:prstGeom prst="rect">
            <a:avLst/>
          </a:prstGeom>
          <a:noFill/>
          <a:ln>
            <a:noFill/>
          </a:ln>
        </p:spPr>
        <p:txBody>
          <a:bodyPr vertOverflow="overflow" vert="horz" wrap="square" rtlCol="0" anchor="t">
            <a:noAutofit/>
          </a:bodyPr>
          <a:lstStyle/>
          <a:p>
            <a:pPr algn="l"/>
            <a:endParaRPr lang="en-US" sz="1400" b="1" dirty="0">
              <a:solidFill>
                <a:srgbClr val="F79226"/>
              </a:solidFill>
              <a:latin typeface="Futura"/>
              <a:cs typeface="Futura"/>
            </a:endParaRPr>
          </a:p>
        </p:txBody>
      </p:sp>
      <p:sp>
        <p:nvSpPr>
          <p:cNvPr id="4" name="Rectangle 3">
            <a:extLst>
              <a:ext uri="{FF2B5EF4-FFF2-40B4-BE49-F238E27FC236}">
                <a16:creationId xmlns:a16="http://schemas.microsoft.com/office/drawing/2014/main" id="{0ED286D0-B2AD-416A-9BC7-22DD24309E88}"/>
              </a:ext>
            </a:extLst>
          </p:cNvPr>
          <p:cNvSpPr/>
          <p:nvPr/>
        </p:nvSpPr>
        <p:spPr>
          <a:xfrm>
            <a:off x="1016000" y="3746500"/>
            <a:ext cx="1524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47D7DD4E-086E-A292-2D7E-DC30F488990A}"/>
              </a:ext>
            </a:extLst>
          </p:cNvPr>
          <p:cNvSpPr txBox="1"/>
          <p:nvPr/>
        </p:nvSpPr>
        <p:spPr>
          <a:xfrm>
            <a:off x="1016000" y="4064000"/>
            <a:ext cx="10160000" cy="1016000"/>
          </a:xfrm>
          <a:prstGeom prst="rect">
            <a:avLst/>
          </a:prstGeom>
          <a:noFill/>
          <a:ln>
            <a:noFill/>
          </a:ln>
        </p:spPr>
        <p:txBody>
          <a:bodyPr vertOverflow="overflow" vert="horz" wrap="square" rtlCol="0" anchor="t">
            <a:noAutofit/>
          </a:bodyPr>
          <a:lstStyle/>
          <a:p>
            <a:pPr algn="l"/>
            <a:r>
              <a:rPr lang="en-US" sz="3400" b="1" dirty="0">
                <a:solidFill>
                  <a:srgbClr val="FFFFFF"/>
                </a:solidFill>
                <a:latin typeface="Futura"/>
                <a:cs typeface="Futura"/>
              </a:rPr>
              <a:t>GO HOME AND BUILD THIS
YOURSELF</a:t>
            </a:r>
          </a:p>
        </p:txBody>
      </p:sp>
      <p:sp>
        <p:nvSpPr>
          <p:cNvPr id="6" name="TextBox 5">
            <a:extLst>
              <a:ext uri="{FF2B5EF4-FFF2-40B4-BE49-F238E27FC236}">
                <a16:creationId xmlns:a16="http://schemas.microsoft.com/office/drawing/2014/main" id="{AD176C24-2EFA-DA0C-2CE6-2EF881FFC650}"/>
              </a:ext>
            </a:extLst>
          </p:cNvPr>
          <p:cNvSpPr txBox="1"/>
          <p:nvPr/>
        </p:nvSpPr>
        <p:spPr>
          <a:xfrm>
            <a:off x="1016000" y="5397500"/>
            <a:ext cx="10160000" cy="304800"/>
          </a:xfrm>
          <a:prstGeom prst="rect">
            <a:avLst/>
          </a:prstGeom>
          <a:noFill/>
          <a:ln>
            <a:noFill/>
          </a:ln>
        </p:spPr>
        <p:txBody>
          <a:bodyPr vertOverflow="overflow" vert="horz" wrap="square" rtlCol="0" anchor="t">
            <a:noAutofit/>
          </a:bodyPr>
          <a:lstStyle/>
          <a:p>
            <a:pPr algn="l"/>
            <a:r>
              <a:rPr lang="en-US" sz="1500" i="1" dirty="0">
                <a:solidFill>
                  <a:srgbClr val="C8D1DC"/>
                </a:solidFill>
                <a:latin typeface="Futura"/>
                <a:cs typeface="Futura"/>
              </a:rPr>
              <a:t>Now!  Why are you still here?</a:t>
            </a:r>
          </a:p>
        </p:txBody>
      </p:sp>
      <p:sp>
        <p:nvSpPr>
          <p:cNvPr id="7" name="Rectangle 6">
            <a:extLst>
              <a:ext uri="{FF2B5EF4-FFF2-40B4-BE49-F238E27FC236}">
                <a16:creationId xmlns:a16="http://schemas.microsoft.com/office/drawing/2014/main" id="{DFDADA9E-9B55-85D6-D53F-66429280E93C}"/>
              </a:ext>
            </a:extLst>
          </p:cNvPr>
          <p:cNvSpPr/>
          <p:nvPr/>
        </p:nvSpPr>
        <p:spPr>
          <a:xfrm>
            <a:off x="1016000" y="6223000"/>
            <a:ext cx="10160000" cy="12700"/>
          </a:xfrm>
          <a:prstGeom prst="rect">
            <a:avLst/>
          </a:prstGeom>
          <a:solidFill>
            <a:srgbClr val="2A3A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90734E96-C7C5-C310-C80B-9AFB1C2BBF21}"/>
              </a:ext>
            </a:extLst>
          </p:cNvPr>
          <p:cNvSpPr txBox="1"/>
          <p:nvPr/>
        </p:nvSpPr>
        <p:spPr>
          <a:xfrm>
            <a:off x="8636000" y="6413500"/>
            <a:ext cx="2540000" cy="228600"/>
          </a:xfrm>
          <a:prstGeom prst="rect">
            <a:avLst/>
          </a:prstGeom>
          <a:noFill/>
          <a:ln>
            <a:noFill/>
          </a:ln>
        </p:spPr>
        <p:txBody>
          <a:bodyPr vertOverflow="overflow" vert="horz" wrap="square" rtlCol="0" anchor="t">
            <a:noAutofit/>
          </a:bodyPr>
          <a:lstStyle/>
          <a:p>
            <a:pPr algn="l"/>
            <a:endParaRPr lang="en-US" sz="1000" dirty="0">
              <a:solidFill>
                <a:srgbClr val="9AA4B2"/>
              </a:solidFill>
              <a:latin typeface="Futura"/>
              <a:cs typeface="Futura"/>
            </a:endParaRPr>
          </a:p>
        </p:txBody>
      </p:sp>
    </p:spTree>
    <p:extLst>
      <p:ext uri="{BB962C8B-B14F-4D97-AF65-F5344CB8AC3E}">
        <p14:creationId xmlns:p14="http://schemas.microsoft.com/office/powerpoint/2010/main" val="2162249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6B95A-0AFB-F709-AB0D-FAD0BB6E86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420A6D-B76D-2CDF-BAA2-508575A3A584}"/>
              </a:ext>
            </a:extLst>
          </p:cNvPr>
          <p:cNvSpPr/>
          <p:nvPr/>
        </p:nvSpPr>
        <p:spPr>
          <a:xfrm>
            <a:off x="0" y="0"/>
            <a:ext cx="12192000" cy="6858000"/>
          </a:xfrm>
          <a:prstGeom prst="rect">
            <a:avLst/>
          </a:prstGeom>
          <a:solidFill>
            <a:srgbClr val="10203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931248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8EEDD-9046-2620-BC6A-91FF785ABC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4A8E37-5F92-CB05-F3F4-0FB8A0E1F878}"/>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02  ·  VELOCITY</a:t>
            </a:r>
          </a:p>
        </p:txBody>
      </p:sp>
      <p:sp>
        <p:nvSpPr>
          <p:cNvPr id="3" name="TextBox 2">
            <a:extLst>
              <a:ext uri="{FF2B5EF4-FFF2-40B4-BE49-F238E27FC236}">
                <a16:creationId xmlns:a16="http://schemas.microsoft.com/office/drawing/2014/main" id="{0753A409-4770-B22B-7D4E-3C01978629A3}"/>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Hours per point · the great equalizer</a:t>
            </a:r>
          </a:p>
        </p:txBody>
      </p:sp>
      <p:sp>
        <p:nvSpPr>
          <p:cNvPr id="4" name="Rectangle 3">
            <a:extLst>
              <a:ext uri="{FF2B5EF4-FFF2-40B4-BE49-F238E27FC236}">
                <a16:creationId xmlns:a16="http://schemas.microsoft.com/office/drawing/2014/main" id="{8FBC6806-7724-4AA6-1981-D76F485CA5EB}"/>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16807837-4D38-7B27-129E-DEA0294AF57C}"/>
              </a:ext>
            </a:extLst>
          </p:cNvPr>
          <p:cNvSpPr/>
          <p:nvPr/>
        </p:nvSpPr>
        <p:spPr>
          <a:xfrm>
            <a:off x="1016000" y="2349500"/>
            <a:ext cx="4826000" cy="2794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80641890-A859-0A6A-F1A1-48FA93B25B10}"/>
              </a:ext>
            </a:extLst>
          </p:cNvPr>
          <p:cNvSpPr/>
          <p:nvPr/>
        </p:nvSpPr>
        <p:spPr>
          <a:xfrm>
            <a:off x="1016000" y="2349500"/>
            <a:ext cx="4826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8BA8B190-3AF0-9450-80D8-4A3BC38C37AD}"/>
              </a:ext>
            </a:extLst>
          </p:cNvPr>
          <p:cNvSpPr txBox="1"/>
          <p:nvPr/>
        </p:nvSpPr>
        <p:spPr>
          <a:xfrm>
            <a:off x="1397000" y="2654300"/>
            <a:ext cx="4064000" cy="228600"/>
          </a:xfrm>
          <a:prstGeom prst="rect">
            <a:avLst/>
          </a:prstGeom>
          <a:noFill/>
          <a:ln>
            <a:noFill/>
          </a:ln>
        </p:spPr>
        <p:txBody>
          <a:bodyPr vertOverflow="overflow" vert="horz" wrap="square" rtlCol="0" anchor="t">
            <a:noAutofit/>
          </a:bodyPr>
          <a:lstStyle/>
          <a:p>
            <a:pPr algn="l"/>
            <a:r>
              <a:rPr lang="en-US" sz="1100" b="1">
                <a:solidFill>
                  <a:srgbClr val="6C757D"/>
                </a:solidFill>
                <a:latin typeface="Futura"/>
                <a:cs typeface="Futura"/>
              </a:rPr>
              <a:t>TEAM A</a:t>
            </a:r>
          </a:p>
        </p:txBody>
      </p:sp>
      <p:sp>
        <p:nvSpPr>
          <p:cNvPr id="8" name="TextBox 7">
            <a:extLst>
              <a:ext uri="{FF2B5EF4-FFF2-40B4-BE49-F238E27FC236}">
                <a16:creationId xmlns:a16="http://schemas.microsoft.com/office/drawing/2014/main" id="{79DAF5E3-0EFD-F050-0BA8-A5CF768FFF79}"/>
              </a:ext>
            </a:extLst>
          </p:cNvPr>
          <p:cNvSpPr txBox="1"/>
          <p:nvPr/>
        </p:nvSpPr>
        <p:spPr>
          <a:xfrm>
            <a:off x="1397000" y="3009900"/>
            <a:ext cx="4064000" cy="1143000"/>
          </a:xfrm>
          <a:prstGeom prst="rect">
            <a:avLst/>
          </a:prstGeom>
          <a:noFill/>
          <a:ln>
            <a:noFill/>
          </a:ln>
        </p:spPr>
        <p:txBody>
          <a:bodyPr vertOverflow="overflow" vert="horz" wrap="square" rtlCol="0" anchor="t">
            <a:noAutofit/>
          </a:bodyPr>
          <a:lstStyle/>
          <a:p>
            <a:pPr algn="l"/>
            <a:r>
              <a:rPr lang="en-US" sz="7200" b="1">
                <a:solidFill>
                  <a:srgbClr val="102033"/>
                </a:solidFill>
                <a:latin typeface="Futura"/>
                <a:cs typeface="Futura"/>
              </a:rPr>
              <a:t>50</a:t>
            </a:r>
          </a:p>
        </p:txBody>
      </p:sp>
      <p:sp>
        <p:nvSpPr>
          <p:cNvPr id="9" name="TextBox 8">
            <a:extLst>
              <a:ext uri="{FF2B5EF4-FFF2-40B4-BE49-F238E27FC236}">
                <a16:creationId xmlns:a16="http://schemas.microsoft.com/office/drawing/2014/main" id="{733D0F52-EA26-EB93-E361-4205A38C1508}"/>
              </a:ext>
            </a:extLst>
          </p:cNvPr>
          <p:cNvSpPr txBox="1"/>
          <p:nvPr/>
        </p:nvSpPr>
        <p:spPr>
          <a:xfrm>
            <a:off x="1397000" y="4152900"/>
            <a:ext cx="4064000" cy="254000"/>
          </a:xfrm>
          <a:prstGeom prst="rect">
            <a:avLst/>
          </a:prstGeom>
          <a:noFill/>
          <a:ln>
            <a:noFill/>
          </a:ln>
        </p:spPr>
        <p:txBody>
          <a:bodyPr vertOverflow="overflow" vert="horz" wrap="square" rtlCol="0" anchor="t">
            <a:noAutofit/>
          </a:bodyPr>
          <a:lstStyle/>
          <a:p>
            <a:pPr algn="l"/>
            <a:r>
              <a:rPr lang="en-US" sz="1300">
                <a:solidFill>
                  <a:srgbClr val="4A5663"/>
                </a:solidFill>
                <a:latin typeface="Futura"/>
                <a:cs typeface="Futura"/>
              </a:rPr>
              <a:t>points shipped</a:t>
            </a:r>
          </a:p>
        </p:txBody>
      </p:sp>
      <p:sp>
        <p:nvSpPr>
          <p:cNvPr id="10" name="TextBox 9">
            <a:extLst>
              <a:ext uri="{FF2B5EF4-FFF2-40B4-BE49-F238E27FC236}">
                <a16:creationId xmlns:a16="http://schemas.microsoft.com/office/drawing/2014/main" id="{3315C8D7-C979-719D-BAAE-3FFE661D8DA2}"/>
              </a:ext>
            </a:extLst>
          </p:cNvPr>
          <p:cNvSpPr txBox="1"/>
          <p:nvPr/>
        </p:nvSpPr>
        <p:spPr>
          <a:xfrm>
            <a:off x="1397000" y="4406900"/>
            <a:ext cx="4064000" cy="254000"/>
          </a:xfrm>
          <a:prstGeom prst="rect">
            <a:avLst/>
          </a:prstGeom>
          <a:noFill/>
          <a:ln>
            <a:noFill/>
          </a:ln>
        </p:spPr>
        <p:txBody>
          <a:bodyPr vertOverflow="overflow" vert="horz" wrap="square" rtlCol="0" anchor="t">
            <a:noAutofit/>
          </a:bodyPr>
          <a:lstStyle/>
          <a:p>
            <a:pPr algn="l"/>
            <a:r>
              <a:rPr lang="en-US" sz="1300">
                <a:solidFill>
                  <a:srgbClr val="4A5663"/>
                </a:solidFill>
                <a:latin typeface="Futura"/>
                <a:cs typeface="Futura"/>
              </a:rPr>
              <a:t>× 3 hrs/pt</a:t>
            </a:r>
          </a:p>
        </p:txBody>
      </p:sp>
      <p:sp>
        <p:nvSpPr>
          <p:cNvPr id="11" name="Rectangle 10">
            <a:extLst>
              <a:ext uri="{FF2B5EF4-FFF2-40B4-BE49-F238E27FC236}">
                <a16:creationId xmlns:a16="http://schemas.microsoft.com/office/drawing/2014/main" id="{18700137-377D-D2C5-3051-6EAEA30A8956}"/>
              </a:ext>
            </a:extLst>
          </p:cNvPr>
          <p:cNvSpPr/>
          <p:nvPr/>
        </p:nvSpPr>
        <p:spPr>
          <a:xfrm>
            <a:off x="1397000" y="4711700"/>
            <a:ext cx="1016000" cy="127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390B8047-4368-2013-8B1F-E375BABCA206}"/>
              </a:ext>
            </a:extLst>
          </p:cNvPr>
          <p:cNvSpPr txBox="1"/>
          <p:nvPr/>
        </p:nvSpPr>
        <p:spPr>
          <a:xfrm>
            <a:off x="1397000" y="4787900"/>
            <a:ext cx="4064000" cy="279400"/>
          </a:xfrm>
          <a:prstGeom prst="rect">
            <a:avLst/>
          </a:prstGeom>
          <a:noFill/>
          <a:ln>
            <a:noFill/>
          </a:ln>
        </p:spPr>
        <p:txBody>
          <a:bodyPr vertOverflow="overflow" vert="horz" wrap="square" rtlCol="0" anchor="t">
            <a:noAutofit/>
          </a:bodyPr>
          <a:lstStyle/>
          <a:p>
            <a:pPr algn="l"/>
            <a:r>
              <a:rPr lang="en-US" sz="1500" b="1">
                <a:solidFill>
                  <a:srgbClr val="102033"/>
                </a:solidFill>
                <a:latin typeface="Futura"/>
                <a:cs typeface="Futura"/>
              </a:rPr>
              <a:t>= 150 hours</a:t>
            </a:r>
          </a:p>
        </p:txBody>
      </p:sp>
      <p:sp>
        <p:nvSpPr>
          <p:cNvPr id="13" name="Rectangle 12">
            <a:extLst>
              <a:ext uri="{FF2B5EF4-FFF2-40B4-BE49-F238E27FC236}">
                <a16:creationId xmlns:a16="http://schemas.microsoft.com/office/drawing/2014/main" id="{244A2E22-3208-CB4D-317C-F5241CAAB529}"/>
              </a:ext>
            </a:extLst>
          </p:cNvPr>
          <p:cNvSpPr/>
          <p:nvPr/>
        </p:nvSpPr>
        <p:spPr>
          <a:xfrm>
            <a:off x="6604000" y="2349500"/>
            <a:ext cx="4826000" cy="27940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A76D5945-D176-B7DE-5A2D-6E1040658168}"/>
              </a:ext>
            </a:extLst>
          </p:cNvPr>
          <p:cNvSpPr/>
          <p:nvPr/>
        </p:nvSpPr>
        <p:spPr>
          <a:xfrm>
            <a:off x="6604000" y="2349500"/>
            <a:ext cx="4826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25FA2760-D169-0BFC-07C6-D7E47C2E70EA}"/>
              </a:ext>
            </a:extLst>
          </p:cNvPr>
          <p:cNvSpPr txBox="1"/>
          <p:nvPr/>
        </p:nvSpPr>
        <p:spPr>
          <a:xfrm>
            <a:off x="6985000" y="2654300"/>
            <a:ext cx="4064000" cy="228600"/>
          </a:xfrm>
          <a:prstGeom prst="rect">
            <a:avLst/>
          </a:prstGeom>
          <a:noFill/>
          <a:ln>
            <a:noFill/>
          </a:ln>
        </p:spPr>
        <p:txBody>
          <a:bodyPr vertOverflow="overflow" vert="horz" wrap="square" rtlCol="0" anchor="t">
            <a:noAutofit/>
          </a:bodyPr>
          <a:lstStyle/>
          <a:p>
            <a:pPr algn="l"/>
            <a:r>
              <a:rPr lang="en-US" sz="1100" b="1">
                <a:solidFill>
                  <a:srgbClr val="6C757D"/>
                </a:solidFill>
                <a:latin typeface="Futura"/>
                <a:cs typeface="Futura"/>
              </a:rPr>
              <a:t>TEAM B</a:t>
            </a:r>
          </a:p>
        </p:txBody>
      </p:sp>
      <p:sp>
        <p:nvSpPr>
          <p:cNvPr id="16" name="TextBox 15">
            <a:extLst>
              <a:ext uri="{FF2B5EF4-FFF2-40B4-BE49-F238E27FC236}">
                <a16:creationId xmlns:a16="http://schemas.microsoft.com/office/drawing/2014/main" id="{0201A0E1-AF6A-7FF1-1E68-DBDFE7BA165E}"/>
              </a:ext>
            </a:extLst>
          </p:cNvPr>
          <p:cNvSpPr txBox="1"/>
          <p:nvPr/>
        </p:nvSpPr>
        <p:spPr>
          <a:xfrm>
            <a:off x="6985000" y="3009900"/>
            <a:ext cx="4064000" cy="1143000"/>
          </a:xfrm>
          <a:prstGeom prst="rect">
            <a:avLst/>
          </a:prstGeom>
          <a:noFill/>
          <a:ln>
            <a:noFill/>
          </a:ln>
        </p:spPr>
        <p:txBody>
          <a:bodyPr vertOverflow="overflow" vert="horz" wrap="square" rtlCol="0" anchor="t">
            <a:noAutofit/>
          </a:bodyPr>
          <a:lstStyle/>
          <a:p>
            <a:pPr algn="l"/>
            <a:r>
              <a:rPr lang="en-US" sz="7200" b="1">
                <a:solidFill>
                  <a:srgbClr val="102033"/>
                </a:solidFill>
                <a:latin typeface="Futura"/>
                <a:cs typeface="Futura"/>
              </a:rPr>
              <a:t>30</a:t>
            </a:r>
          </a:p>
        </p:txBody>
      </p:sp>
      <p:sp>
        <p:nvSpPr>
          <p:cNvPr id="17" name="TextBox 16">
            <a:extLst>
              <a:ext uri="{FF2B5EF4-FFF2-40B4-BE49-F238E27FC236}">
                <a16:creationId xmlns:a16="http://schemas.microsoft.com/office/drawing/2014/main" id="{8B592879-6A87-D31E-BAFF-FE154E2DE942}"/>
              </a:ext>
            </a:extLst>
          </p:cNvPr>
          <p:cNvSpPr txBox="1"/>
          <p:nvPr/>
        </p:nvSpPr>
        <p:spPr>
          <a:xfrm>
            <a:off x="6985000" y="4152900"/>
            <a:ext cx="4064000" cy="254000"/>
          </a:xfrm>
          <a:prstGeom prst="rect">
            <a:avLst/>
          </a:prstGeom>
          <a:noFill/>
          <a:ln>
            <a:noFill/>
          </a:ln>
        </p:spPr>
        <p:txBody>
          <a:bodyPr vertOverflow="overflow" vert="horz" wrap="square" rtlCol="0" anchor="t">
            <a:noAutofit/>
          </a:bodyPr>
          <a:lstStyle/>
          <a:p>
            <a:pPr algn="l"/>
            <a:r>
              <a:rPr lang="en-US" sz="1300">
                <a:solidFill>
                  <a:srgbClr val="4A5663"/>
                </a:solidFill>
                <a:latin typeface="Futura"/>
                <a:cs typeface="Futura"/>
              </a:rPr>
              <a:t>points shipped</a:t>
            </a:r>
          </a:p>
        </p:txBody>
      </p:sp>
      <p:sp>
        <p:nvSpPr>
          <p:cNvPr id="18" name="TextBox 17">
            <a:extLst>
              <a:ext uri="{FF2B5EF4-FFF2-40B4-BE49-F238E27FC236}">
                <a16:creationId xmlns:a16="http://schemas.microsoft.com/office/drawing/2014/main" id="{4163092C-396D-728E-F9D4-63CB3EB8F80D}"/>
              </a:ext>
            </a:extLst>
          </p:cNvPr>
          <p:cNvSpPr txBox="1"/>
          <p:nvPr/>
        </p:nvSpPr>
        <p:spPr>
          <a:xfrm>
            <a:off x="6985000" y="4406900"/>
            <a:ext cx="4064000" cy="254000"/>
          </a:xfrm>
          <a:prstGeom prst="rect">
            <a:avLst/>
          </a:prstGeom>
          <a:noFill/>
          <a:ln>
            <a:noFill/>
          </a:ln>
        </p:spPr>
        <p:txBody>
          <a:bodyPr vertOverflow="overflow" vert="horz" wrap="square" rtlCol="0" anchor="t">
            <a:noAutofit/>
          </a:bodyPr>
          <a:lstStyle/>
          <a:p>
            <a:pPr algn="l"/>
            <a:r>
              <a:rPr lang="en-US" sz="1300">
                <a:solidFill>
                  <a:srgbClr val="4A5663"/>
                </a:solidFill>
                <a:latin typeface="Futura"/>
                <a:cs typeface="Futura"/>
              </a:rPr>
              <a:t>× 5 hrs/pt</a:t>
            </a:r>
          </a:p>
        </p:txBody>
      </p:sp>
      <p:sp>
        <p:nvSpPr>
          <p:cNvPr id="19" name="Rectangle 18">
            <a:extLst>
              <a:ext uri="{FF2B5EF4-FFF2-40B4-BE49-F238E27FC236}">
                <a16:creationId xmlns:a16="http://schemas.microsoft.com/office/drawing/2014/main" id="{39AA8642-4239-9884-2058-C6C50B80B416}"/>
              </a:ext>
            </a:extLst>
          </p:cNvPr>
          <p:cNvSpPr/>
          <p:nvPr/>
        </p:nvSpPr>
        <p:spPr>
          <a:xfrm>
            <a:off x="6985000" y="4711700"/>
            <a:ext cx="1016000" cy="127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23BC26FF-1F21-CAF7-DF7B-BE5A0E87A619}"/>
              </a:ext>
            </a:extLst>
          </p:cNvPr>
          <p:cNvSpPr txBox="1"/>
          <p:nvPr/>
        </p:nvSpPr>
        <p:spPr>
          <a:xfrm>
            <a:off x="6985000" y="4787900"/>
            <a:ext cx="4064000" cy="279400"/>
          </a:xfrm>
          <a:prstGeom prst="rect">
            <a:avLst/>
          </a:prstGeom>
          <a:noFill/>
          <a:ln>
            <a:noFill/>
          </a:ln>
        </p:spPr>
        <p:txBody>
          <a:bodyPr vertOverflow="overflow" vert="horz" wrap="square" rtlCol="0" anchor="t">
            <a:noAutofit/>
          </a:bodyPr>
          <a:lstStyle/>
          <a:p>
            <a:pPr algn="l"/>
            <a:r>
              <a:rPr lang="en-US" sz="1500" b="1">
                <a:solidFill>
                  <a:srgbClr val="102033"/>
                </a:solidFill>
                <a:latin typeface="Futura"/>
                <a:cs typeface="Futura"/>
              </a:rPr>
              <a:t>= 150 hours</a:t>
            </a:r>
          </a:p>
        </p:txBody>
      </p:sp>
      <p:sp>
        <p:nvSpPr>
          <p:cNvPr id="21" name="TextBox 20">
            <a:extLst>
              <a:ext uri="{FF2B5EF4-FFF2-40B4-BE49-F238E27FC236}">
                <a16:creationId xmlns:a16="http://schemas.microsoft.com/office/drawing/2014/main" id="{CFD1114A-0BC3-C2E6-5435-E5670763A111}"/>
              </a:ext>
            </a:extLst>
          </p:cNvPr>
          <p:cNvSpPr txBox="1"/>
          <p:nvPr/>
        </p:nvSpPr>
        <p:spPr>
          <a:xfrm>
            <a:off x="1016000" y="5397500"/>
            <a:ext cx="10414000" cy="279400"/>
          </a:xfrm>
          <a:prstGeom prst="rect">
            <a:avLst/>
          </a:prstGeom>
          <a:noFill/>
          <a:ln>
            <a:noFill/>
          </a:ln>
        </p:spPr>
        <p:txBody>
          <a:bodyPr vertOverflow="overflow" vert="horz" wrap="square" rtlCol="0" anchor="t">
            <a:noAutofit/>
          </a:bodyPr>
          <a:lstStyle/>
          <a:p>
            <a:pPr algn="l"/>
            <a:r>
              <a:rPr lang="en-US" sz="1200" b="1">
                <a:solidFill>
                  <a:srgbClr val="F79226"/>
                </a:solidFill>
                <a:latin typeface="Futura"/>
                <a:cs typeface="Futura"/>
              </a:rPr>
              <a:t>—  SAME EFFORT. DIFFERENT CALIBRATION.</a:t>
            </a:r>
          </a:p>
        </p:txBody>
      </p:sp>
      <p:sp>
        <p:nvSpPr>
          <p:cNvPr id="22" name="TextBox 21">
            <a:extLst>
              <a:ext uri="{FF2B5EF4-FFF2-40B4-BE49-F238E27FC236}">
                <a16:creationId xmlns:a16="http://schemas.microsoft.com/office/drawing/2014/main" id="{9A0CC81D-352B-5C5F-2D7E-9D6ECDC87746}"/>
              </a:ext>
            </a:extLst>
          </p:cNvPr>
          <p:cNvSpPr txBox="1"/>
          <p:nvPr/>
        </p:nvSpPr>
        <p:spPr>
          <a:xfrm>
            <a:off x="1016000" y="5740400"/>
            <a:ext cx="10414000" cy="279400"/>
          </a:xfrm>
          <a:prstGeom prst="rect">
            <a:avLst/>
          </a:prstGeom>
          <a:noFill/>
          <a:ln>
            <a:noFill/>
          </a:ln>
        </p:spPr>
        <p:txBody>
          <a:bodyPr vertOverflow="overflow" vert="horz" wrap="square" rtlCol="0" anchor="t">
            <a:noAutofit/>
          </a:bodyPr>
          <a:lstStyle/>
          <a:p>
            <a:pPr algn="l"/>
            <a:r>
              <a:rPr lang="en-US" sz="1400" i="1">
                <a:solidFill>
                  <a:srgbClr val="102033"/>
                </a:solidFill>
                <a:latin typeface="Futura"/>
                <a:cs typeface="Futura"/>
              </a:rPr>
              <a:t>Raw velocity hides this. Hours per point exposes it, and stops the "that team ships more" argument dead.</a:t>
            </a:r>
          </a:p>
        </p:txBody>
      </p:sp>
      <p:sp>
        <p:nvSpPr>
          <p:cNvPr id="23" name="TextBox 22">
            <a:extLst>
              <a:ext uri="{FF2B5EF4-FFF2-40B4-BE49-F238E27FC236}">
                <a16:creationId xmlns:a16="http://schemas.microsoft.com/office/drawing/2014/main" id="{75B04397-2D93-3276-F8B3-35D8B7F0C37D}"/>
              </a:ext>
            </a:extLst>
          </p:cNvPr>
          <p:cNvSpPr txBox="1"/>
          <p:nvPr/>
        </p:nvSpPr>
        <p:spPr>
          <a:xfrm>
            <a:off x="1016000" y="6070600"/>
            <a:ext cx="10414000" cy="279400"/>
          </a:xfrm>
          <a:prstGeom prst="rect">
            <a:avLst/>
          </a:prstGeom>
          <a:noFill/>
          <a:ln>
            <a:noFill/>
          </a:ln>
        </p:spPr>
        <p:txBody>
          <a:bodyPr vertOverflow="overflow" vert="horz" wrap="square" rtlCol="0" anchor="t">
            <a:noAutofit/>
          </a:bodyPr>
          <a:lstStyle/>
          <a:p>
            <a:pPr algn="l"/>
            <a:r>
              <a:rPr lang="en-US" sz="1200">
                <a:solidFill>
                  <a:srgbClr val="6C757D"/>
                </a:solidFill>
                <a:latin typeface="Futura"/>
                <a:cs typeface="Futura"/>
              </a:rPr>
              <a:t>Trending up? Estimation is drifting. Trending down? Getting efficient, or cutting corners. Check quality.</a:t>
            </a:r>
          </a:p>
        </p:txBody>
      </p:sp>
      <p:sp>
        <p:nvSpPr>
          <p:cNvPr id="24" name="Rectangle 23">
            <a:extLst>
              <a:ext uri="{FF2B5EF4-FFF2-40B4-BE49-F238E27FC236}">
                <a16:creationId xmlns:a16="http://schemas.microsoft.com/office/drawing/2014/main" id="{9DF5AD77-2400-89FF-0871-1F63AD3C6C3C}"/>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37B6B123-A939-40B5-47D3-2FA53285DFBA}"/>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26" name="TextBox 25">
            <a:extLst>
              <a:ext uri="{FF2B5EF4-FFF2-40B4-BE49-F238E27FC236}">
                <a16:creationId xmlns:a16="http://schemas.microsoft.com/office/drawing/2014/main" id="{376FACDD-4F71-303B-1B78-C02B39FDD8EF}"/>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7" name="TextBox 26">
            <a:extLst>
              <a:ext uri="{FF2B5EF4-FFF2-40B4-BE49-F238E27FC236}">
                <a16:creationId xmlns:a16="http://schemas.microsoft.com/office/drawing/2014/main" id="{52FC6751-981D-2E41-A589-FC6871722B68}"/>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spTree>
    <p:extLst>
      <p:ext uri="{BB962C8B-B14F-4D97-AF65-F5344CB8AC3E}">
        <p14:creationId xmlns:p14="http://schemas.microsoft.com/office/powerpoint/2010/main" val="3482531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316C66-B524-6C48-8ECA-86A5E34AD956}"/>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r>
              <a:rPr lang="en-US" sz="2600" b="1">
                <a:solidFill>
                  <a:srgbClr val="102033"/>
                </a:solidFill>
                <a:latin typeface="Futura"/>
                <a:cs typeface="Futura"/>
              </a:rPr>
              <a:t>Confidence</a:t>
            </a:r>
          </a:p>
        </p:txBody>
      </p:sp>
      <p:sp>
        <p:nvSpPr>
          <p:cNvPr id="3" name="Rectangle 2">
            <a:extLst>
              <a:ext uri="{FF2B5EF4-FFF2-40B4-BE49-F238E27FC236}">
                <a16:creationId xmlns:a16="http://schemas.microsoft.com/office/drawing/2014/main" id="{0890116D-F538-BB4E-B1BF-FDDF27297BA9}"/>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7A5DF557-B33B-F745-9581-236FAEC15B83}"/>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endParaRPr lang="en-US" sz="1300" i="1">
              <a:solidFill>
                <a:srgbClr val="6C757D"/>
              </a:solidFill>
              <a:latin typeface="Futura"/>
              <a:cs typeface="Futura"/>
            </a:endParaRPr>
          </a:p>
        </p:txBody>
      </p:sp>
      <p:sp>
        <p:nvSpPr>
          <p:cNvPr id="15" name="Rectangle 14">
            <a:extLst>
              <a:ext uri="{FF2B5EF4-FFF2-40B4-BE49-F238E27FC236}">
                <a16:creationId xmlns:a16="http://schemas.microsoft.com/office/drawing/2014/main" id="{C2E231C6-5C2F-EE47-926B-5312110B388C}"/>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966FFB24-AA82-9D49-A35D-A076A26DB5B4}"/>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17" name="TextBox 16">
            <a:extLst>
              <a:ext uri="{FF2B5EF4-FFF2-40B4-BE49-F238E27FC236}">
                <a16:creationId xmlns:a16="http://schemas.microsoft.com/office/drawing/2014/main" id="{B1CD3AA1-FD9D-7A49-9BDC-2966810126B2}"/>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18" name="TextBox 17">
            <a:extLst>
              <a:ext uri="{FF2B5EF4-FFF2-40B4-BE49-F238E27FC236}">
                <a16:creationId xmlns:a16="http://schemas.microsoft.com/office/drawing/2014/main" id="{4FFC881E-7A6B-0A48-B037-B7FBD74C3F4C}"/>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pic>
        <p:nvPicPr>
          <p:cNvPr id="20" name="Picture 19">
            <a:extLst>
              <a:ext uri="{FF2B5EF4-FFF2-40B4-BE49-F238E27FC236}">
                <a16:creationId xmlns:a16="http://schemas.microsoft.com/office/drawing/2014/main" id="{8667C22A-14B7-6EB9-1DEB-AEFE05933E01}"/>
              </a:ext>
            </a:extLst>
          </p:cNvPr>
          <p:cNvPicPr>
            <a:picLocks noChangeAspect="1"/>
          </p:cNvPicPr>
          <p:nvPr/>
        </p:nvPicPr>
        <p:blipFill>
          <a:blip r:embed="rId3"/>
          <a:stretch>
            <a:fillRect/>
          </a:stretch>
        </p:blipFill>
        <p:spPr>
          <a:xfrm>
            <a:off x="3352800" y="1865675"/>
            <a:ext cx="5486400" cy="4039825"/>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31526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9F04D6-3F58-8040-A2C2-0B5CF87F3580}"/>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Calibration is important</a:t>
            </a:r>
          </a:p>
        </p:txBody>
      </p:sp>
      <p:sp>
        <p:nvSpPr>
          <p:cNvPr id="3" name="Rectangle 2">
            <a:extLst>
              <a:ext uri="{FF2B5EF4-FFF2-40B4-BE49-F238E27FC236}">
                <a16:creationId xmlns:a16="http://schemas.microsoft.com/office/drawing/2014/main" id="{B525650D-92B7-1E48-9601-12BD4A6E192B}"/>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A00E9D83-393F-7848-8A87-E59B919E124D}"/>
              </a:ext>
            </a:extLst>
          </p:cNvPr>
          <p:cNvSpPr txBox="1"/>
          <p:nvPr/>
        </p:nvSpPr>
        <p:spPr>
          <a:xfrm>
            <a:off x="1016000" y="1752600"/>
            <a:ext cx="10414000" cy="254000"/>
          </a:xfrm>
          <a:prstGeom prst="rect">
            <a:avLst/>
          </a:prstGeom>
          <a:noFill/>
          <a:ln>
            <a:noFill/>
          </a:ln>
        </p:spPr>
        <p:txBody>
          <a:bodyPr vertOverflow="overflow" vert="horz" wrap="square" rtlCol="0" anchor="t">
            <a:noAutofit/>
          </a:bodyPr>
          <a:lstStyle/>
          <a:p>
            <a:pPr algn="l"/>
            <a:r>
              <a:rPr lang="en-US" sz="1300" i="1">
                <a:solidFill>
                  <a:srgbClr val="6C757D"/>
                </a:solidFill>
                <a:latin typeface="Futura"/>
                <a:cs typeface="Futura"/>
              </a:rPr>
              <a:t>How to know if your AI is actually helping.</a:t>
            </a:r>
          </a:p>
        </p:txBody>
      </p:sp>
      <p:sp>
        <p:nvSpPr>
          <p:cNvPr id="5" name="Rectangle 4">
            <a:extLst>
              <a:ext uri="{FF2B5EF4-FFF2-40B4-BE49-F238E27FC236}">
                <a16:creationId xmlns:a16="http://schemas.microsoft.com/office/drawing/2014/main" id="{CD876274-E08C-4F4F-B60B-5766D32B9D3F}"/>
              </a:ext>
            </a:extLst>
          </p:cNvPr>
          <p:cNvSpPr/>
          <p:nvPr/>
        </p:nvSpPr>
        <p:spPr>
          <a:xfrm>
            <a:off x="1016000" y="2286000"/>
            <a:ext cx="4826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0BF5D60E-4B78-6D4F-80D7-FC58795A7FBD}"/>
              </a:ext>
            </a:extLst>
          </p:cNvPr>
          <p:cNvSpPr/>
          <p:nvPr/>
        </p:nvSpPr>
        <p:spPr>
          <a:xfrm>
            <a:off x="1016000" y="2324100"/>
            <a:ext cx="4826000" cy="15875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2587E4A7-6805-C946-941B-12F72C03A80D}"/>
              </a:ext>
            </a:extLst>
          </p:cNvPr>
          <p:cNvSpPr txBox="1"/>
          <p:nvPr/>
        </p:nvSpPr>
        <p:spPr>
          <a:xfrm>
            <a:off x="1016000" y="2540000"/>
            <a:ext cx="4826000" cy="889000"/>
          </a:xfrm>
          <a:prstGeom prst="rect">
            <a:avLst/>
          </a:prstGeom>
          <a:noFill/>
          <a:ln>
            <a:noFill/>
          </a:ln>
        </p:spPr>
        <p:txBody>
          <a:bodyPr vertOverflow="overflow" vert="horz" wrap="square" rtlCol="0" anchor="t">
            <a:noAutofit/>
          </a:bodyPr>
          <a:lstStyle/>
          <a:p>
            <a:pPr algn="l"/>
            <a:r>
              <a:rPr lang="en-US" sz="4600" b="1">
                <a:solidFill>
                  <a:srgbClr val="102033"/>
                </a:solidFill>
                <a:latin typeface="Futura"/>
                <a:cs typeface="Futura"/>
              </a:rPr>
              <a:t>9,600+</a:t>
            </a:r>
          </a:p>
        </p:txBody>
      </p:sp>
      <p:sp>
        <p:nvSpPr>
          <p:cNvPr id="8" name="TextBox 7">
            <a:extLst>
              <a:ext uri="{FF2B5EF4-FFF2-40B4-BE49-F238E27FC236}">
                <a16:creationId xmlns:a16="http://schemas.microsoft.com/office/drawing/2014/main" id="{0FCC2A98-73A2-C849-AF31-2FF8556EA9EF}"/>
              </a:ext>
            </a:extLst>
          </p:cNvPr>
          <p:cNvSpPr txBox="1"/>
          <p:nvPr/>
        </p:nvSpPr>
        <p:spPr>
          <a:xfrm>
            <a:off x="1016000" y="3492500"/>
            <a:ext cx="4826000" cy="254000"/>
          </a:xfrm>
          <a:prstGeom prst="rect">
            <a:avLst/>
          </a:prstGeom>
          <a:noFill/>
          <a:ln>
            <a:noFill/>
          </a:ln>
        </p:spPr>
        <p:txBody>
          <a:bodyPr vertOverflow="overflow" vert="horz" wrap="square" rtlCol="0" anchor="t">
            <a:noAutofit/>
          </a:bodyPr>
          <a:lstStyle/>
          <a:p>
            <a:pPr algn="l"/>
            <a:r>
              <a:rPr lang="en-US" sz="1000" b="1">
                <a:solidFill>
                  <a:srgbClr val="F79226"/>
                </a:solidFill>
                <a:latin typeface="Futura"/>
                <a:cs typeface="Futura"/>
              </a:rPr>
              <a:t>COMMENTS CLASSIFIED</a:t>
            </a:r>
          </a:p>
        </p:txBody>
      </p:sp>
      <p:sp>
        <p:nvSpPr>
          <p:cNvPr id="9" name="Rectangle 8">
            <a:extLst>
              <a:ext uri="{FF2B5EF4-FFF2-40B4-BE49-F238E27FC236}">
                <a16:creationId xmlns:a16="http://schemas.microsoft.com/office/drawing/2014/main" id="{8D0D6F4A-98E2-F243-ADB0-409103824A1B}"/>
              </a:ext>
            </a:extLst>
          </p:cNvPr>
          <p:cNvSpPr/>
          <p:nvPr/>
        </p:nvSpPr>
        <p:spPr>
          <a:xfrm>
            <a:off x="6350000" y="2286000"/>
            <a:ext cx="4826000" cy="381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E18BF2BD-513F-3D45-AA6F-17DA158E7EBB}"/>
              </a:ext>
            </a:extLst>
          </p:cNvPr>
          <p:cNvSpPr/>
          <p:nvPr/>
        </p:nvSpPr>
        <p:spPr>
          <a:xfrm>
            <a:off x="6350000" y="2324100"/>
            <a:ext cx="4826000" cy="1587500"/>
          </a:xfrm>
          <a:prstGeom prst="rect">
            <a:avLst/>
          </a:prstGeom>
          <a:solidFill>
            <a:srgbClr val="F7F8F9"/>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2F0997E9-A8AE-884A-BC63-9EAB20CB2EBB}"/>
              </a:ext>
            </a:extLst>
          </p:cNvPr>
          <p:cNvSpPr txBox="1"/>
          <p:nvPr/>
        </p:nvSpPr>
        <p:spPr>
          <a:xfrm>
            <a:off x="6350000" y="2540000"/>
            <a:ext cx="4826000" cy="889000"/>
          </a:xfrm>
          <a:prstGeom prst="rect">
            <a:avLst/>
          </a:prstGeom>
          <a:noFill/>
          <a:ln>
            <a:noFill/>
          </a:ln>
        </p:spPr>
        <p:txBody>
          <a:bodyPr vertOverflow="overflow" vert="horz" wrap="square" rtlCol="0" anchor="t">
            <a:noAutofit/>
          </a:bodyPr>
          <a:lstStyle/>
          <a:p>
            <a:pPr algn="l"/>
            <a:r>
              <a:rPr lang="en-US" sz="4600" b="1">
                <a:solidFill>
                  <a:srgbClr val="102033"/>
                </a:solidFill>
                <a:latin typeface="Futura"/>
                <a:cs typeface="Futura"/>
              </a:rPr>
              <a:t>83%</a:t>
            </a:r>
          </a:p>
        </p:txBody>
      </p:sp>
      <p:sp>
        <p:nvSpPr>
          <p:cNvPr id="12" name="TextBox 11">
            <a:extLst>
              <a:ext uri="{FF2B5EF4-FFF2-40B4-BE49-F238E27FC236}">
                <a16:creationId xmlns:a16="http://schemas.microsoft.com/office/drawing/2014/main" id="{404EC9DC-7CB0-8E46-8F66-E622EB2F547B}"/>
              </a:ext>
            </a:extLst>
          </p:cNvPr>
          <p:cNvSpPr txBox="1"/>
          <p:nvPr/>
        </p:nvSpPr>
        <p:spPr>
          <a:xfrm>
            <a:off x="6350000" y="3492500"/>
            <a:ext cx="4826000" cy="254000"/>
          </a:xfrm>
          <a:prstGeom prst="rect">
            <a:avLst/>
          </a:prstGeom>
          <a:noFill/>
          <a:ln>
            <a:noFill/>
          </a:ln>
        </p:spPr>
        <p:txBody>
          <a:bodyPr vertOverflow="overflow" vert="horz" wrap="square" rtlCol="0" anchor="t">
            <a:noAutofit/>
          </a:bodyPr>
          <a:lstStyle/>
          <a:p>
            <a:pPr algn="l"/>
            <a:r>
              <a:rPr lang="en-US" sz="1000" b="1">
                <a:solidFill>
                  <a:srgbClr val="F79226"/>
                </a:solidFill>
                <a:latin typeface="Futura"/>
                <a:cs typeface="Futura"/>
              </a:rPr>
              <a:t>AVG CONFIDENCE</a:t>
            </a:r>
          </a:p>
        </p:txBody>
      </p:sp>
      <p:sp>
        <p:nvSpPr>
          <p:cNvPr id="17" name="TextBox 16">
            <a:extLst>
              <a:ext uri="{FF2B5EF4-FFF2-40B4-BE49-F238E27FC236}">
                <a16:creationId xmlns:a16="http://schemas.microsoft.com/office/drawing/2014/main" id="{77FD9A9E-A043-D64C-8A3A-175491F58F93}"/>
              </a:ext>
            </a:extLst>
          </p:cNvPr>
          <p:cNvSpPr txBox="1"/>
          <p:nvPr/>
        </p:nvSpPr>
        <p:spPr>
          <a:xfrm>
            <a:off x="1016000" y="4089400"/>
            <a:ext cx="4826000" cy="203200"/>
          </a:xfrm>
          <a:prstGeom prst="rect">
            <a:avLst/>
          </a:prstGeom>
          <a:noFill/>
          <a:ln>
            <a:noFill/>
          </a:ln>
        </p:spPr>
        <p:txBody>
          <a:bodyPr vertOverflow="overflow" vert="horz" wrap="square" rtlCol="0" anchor="t">
            <a:noAutofit/>
          </a:bodyPr>
          <a:lstStyle/>
          <a:p>
            <a:pPr algn="l"/>
            <a:r>
              <a:rPr lang="en-US" sz="1000" b="1">
                <a:solidFill>
                  <a:srgbClr val="43A44A"/>
                </a:solidFill>
                <a:latin typeface="Futura"/>
                <a:cs typeface="Futura"/>
              </a:rPr>
              <a:t>HIGHEST CONFIDENCE</a:t>
            </a:r>
          </a:p>
        </p:txBody>
      </p:sp>
      <p:sp>
        <p:nvSpPr>
          <p:cNvPr id="18" name="TextBox 17">
            <a:extLst>
              <a:ext uri="{FF2B5EF4-FFF2-40B4-BE49-F238E27FC236}">
                <a16:creationId xmlns:a16="http://schemas.microsoft.com/office/drawing/2014/main" id="{883C3416-2072-3D40-A214-4F13EDAEB6B9}"/>
              </a:ext>
            </a:extLst>
          </p:cNvPr>
          <p:cNvSpPr txBox="1"/>
          <p:nvPr/>
        </p:nvSpPr>
        <p:spPr>
          <a:xfrm>
            <a:off x="1016000" y="4343400"/>
            <a:ext cx="4826000" cy="1397000"/>
          </a:xfrm>
          <a:prstGeom prst="rect">
            <a:avLst/>
          </a:prstGeom>
          <a:noFill/>
          <a:ln>
            <a:noFill/>
          </a:ln>
        </p:spPr>
        <p:txBody>
          <a:bodyPr vertOverflow="overflow" vert="horz" wrap="square" rtlCol="0" anchor="t">
            <a:noAutofit/>
          </a:bodyPr>
          <a:lstStyle/>
          <a:p>
            <a:pPr algn="l"/>
            <a:r>
              <a:rPr lang="en-US" sz="1600">
                <a:solidFill>
                  <a:srgbClr val="102033"/>
                </a:solidFill>
                <a:latin typeface="Consolas"/>
                <a:cs typeface="Consolas"/>
              </a:rPr>
              <a:t>praise    — 89%
</a:t>
            </a:r>
            <a:r>
              <a:rPr lang="en-US" sz="1600" err="1">
                <a:solidFill>
                  <a:srgbClr val="102033"/>
                </a:solidFill>
                <a:latin typeface="Consolas"/>
                <a:cs typeface="Consolas"/>
              </a:rPr>
              <a:t>bug_found</a:t>
            </a:r>
            <a:r>
              <a:rPr lang="en-US" sz="1600">
                <a:solidFill>
                  <a:srgbClr val="102033"/>
                </a:solidFill>
                <a:latin typeface="Consolas"/>
                <a:cs typeface="Consolas"/>
              </a:rPr>
              <a:t> — 87%</a:t>
            </a:r>
          </a:p>
        </p:txBody>
      </p:sp>
      <p:sp>
        <p:nvSpPr>
          <p:cNvPr id="19" name="TextBox 18">
            <a:extLst>
              <a:ext uri="{FF2B5EF4-FFF2-40B4-BE49-F238E27FC236}">
                <a16:creationId xmlns:a16="http://schemas.microsoft.com/office/drawing/2014/main" id="{7C2C1ABF-2374-414B-920E-8DA633C445D1}"/>
              </a:ext>
            </a:extLst>
          </p:cNvPr>
          <p:cNvSpPr txBox="1"/>
          <p:nvPr/>
        </p:nvSpPr>
        <p:spPr>
          <a:xfrm>
            <a:off x="6350000" y="4089400"/>
            <a:ext cx="4826000" cy="203200"/>
          </a:xfrm>
          <a:prstGeom prst="rect">
            <a:avLst/>
          </a:prstGeom>
          <a:noFill/>
          <a:ln>
            <a:noFill/>
          </a:ln>
        </p:spPr>
        <p:txBody>
          <a:bodyPr vertOverflow="overflow" vert="horz" wrap="square" rtlCol="0" anchor="t">
            <a:noAutofit/>
          </a:bodyPr>
          <a:lstStyle/>
          <a:p>
            <a:pPr algn="l"/>
            <a:r>
              <a:rPr lang="en-US" sz="1000" b="1">
                <a:solidFill>
                  <a:srgbClr val="DC5A5A"/>
                </a:solidFill>
                <a:latin typeface="Futura"/>
                <a:cs typeface="Futura"/>
              </a:rPr>
              <a:t>LOWEST CONFIDENCE</a:t>
            </a:r>
          </a:p>
        </p:txBody>
      </p:sp>
      <p:sp>
        <p:nvSpPr>
          <p:cNvPr id="20" name="TextBox 19">
            <a:extLst>
              <a:ext uri="{FF2B5EF4-FFF2-40B4-BE49-F238E27FC236}">
                <a16:creationId xmlns:a16="http://schemas.microsoft.com/office/drawing/2014/main" id="{1D7459A9-6636-1F48-BE8A-4E36E39C09CB}"/>
              </a:ext>
            </a:extLst>
          </p:cNvPr>
          <p:cNvSpPr txBox="1"/>
          <p:nvPr/>
        </p:nvSpPr>
        <p:spPr>
          <a:xfrm>
            <a:off x="6350000" y="4343400"/>
            <a:ext cx="4826000" cy="1397000"/>
          </a:xfrm>
          <a:prstGeom prst="rect">
            <a:avLst/>
          </a:prstGeom>
          <a:noFill/>
          <a:ln>
            <a:noFill/>
          </a:ln>
        </p:spPr>
        <p:txBody>
          <a:bodyPr vertOverflow="overflow" vert="horz" wrap="square" rtlCol="0" anchor="t">
            <a:noAutofit/>
          </a:bodyPr>
          <a:lstStyle/>
          <a:p>
            <a:pPr algn="l"/>
            <a:r>
              <a:rPr lang="en-US" sz="1600">
                <a:solidFill>
                  <a:srgbClr val="102033"/>
                </a:solidFill>
                <a:latin typeface="Consolas"/>
                <a:cs typeface="Consolas"/>
              </a:rPr>
              <a:t>neutral — 78%
nitpick — 78%</a:t>
            </a:r>
          </a:p>
        </p:txBody>
      </p:sp>
      <p:sp>
        <p:nvSpPr>
          <p:cNvPr id="22" name="Rectangle 21">
            <a:extLst>
              <a:ext uri="{FF2B5EF4-FFF2-40B4-BE49-F238E27FC236}">
                <a16:creationId xmlns:a16="http://schemas.microsoft.com/office/drawing/2014/main" id="{B0F6A6ED-4385-8344-AFB0-448524A22E06}"/>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3CAB18A6-7B5E-4141-86C1-1ACCA5FA2EE5}"/>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24" name="TextBox 23">
            <a:extLst>
              <a:ext uri="{FF2B5EF4-FFF2-40B4-BE49-F238E27FC236}">
                <a16:creationId xmlns:a16="http://schemas.microsoft.com/office/drawing/2014/main" id="{C89C0EF7-F044-F641-848C-98B537CFB316}"/>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25" name="TextBox 24">
            <a:extLst>
              <a:ext uri="{FF2B5EF4-FFF2-40B4-BE49-F238E27FC236}">
                <a16:creationId xmlns:a16="http://schemas.microsoft.com/office/drawing/2014/main" id="{E19A7549-6CA8-5746-AF8C-0A3A87F851DC}"/>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1167851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1B553B-F59D-6A4A-8BA3-13F560D78567}"/>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800" b="1">
                <a:solidFill>
                  <a:srgbClr val="102033"/>
                </a:solidFill>
                <a:latin typeface="Futura"/>
                <a:cs typeface="Futura"/>
              </a:rPr>
              <a:t>The AI classifies · The math scores</a:t>
            </a:r>
          </a:p>
        </p:txBody>
      </p:sp>
      <p:sp>
        <p:nvSpPr>
          <p:cNvPr id="3" name="Rectangle 2">
            <a:extLst>
              <a:ext uri="{FF2B5EF4-FFF2-40B4-BE49-F238E27FC236}">
                <a16:creationId xmlns:a16="http://schemas.microsoft.com/office/drawing/2014/main" id="{CF75B3F5-4230-2248-8CDA-A3C53328D62F}"/>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4FC7B90A-D706-4342-AE62-269703EEE336}"/>
              </a:ext>
            </a:extLst>
          </p:cNvPr>
          <p:cNvSpPr/>
          <p:nvPr/>
        </p:nvSpPr>
        <p:spPr>
          <a:xfrm>
            <a:off x="1016000" y="2286000"/>
            <a:ext cx="4953000" cy="3619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C7982BA7-7FC8-E04E-AD2D-55C59AB56BF0}"/>
              </a:ext>
            </a:extLst>
          </p:cNvPr>
          <p:cNvSpPr/>
          <p:nvPr/>
        </p:nvSpPr>
        <p:spPr>
          <a:xfrm>
            <a:off x="1016000" y="2286000"/>
            <a:ext cx="4953000" cy="38100"/>
          </a:xfrm>
          <a:prstGeom prst="rect">
            <a:avLst/>
          </a:prstGeom>
          <a:solidFill>
            <a:srgbClr val="0D6EF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C940F633-7B52-BE44-899D-A477844B8659}"/>
              </a:ext>
            </a:extLst>
          </p:cNvPr>
          <p:cNvSpPr txBox="1"/>
          <p:nvPr/>
        </p:nvSpPr>
        <p:spPr>
          <a:xfrm>
            <a:off x="1320800" y="2540000"/>
            <a:ext cx="2540000" cy="203200"/>
          </a:xfrm>
          <a:prstGeom prst="rect">
            <a:avLst/>
          </a:prstGeom>
          <a:noFill/>
          <a:ln>
            <a:noFill/>
          </a:ln>
        </p:spPr>
        <p:txBody>
          <a:bodyPr vertOverflow="overflow" vert="horz" wrap="square" rtlCol="0" anchor="t">
            <a:noAutofit/>
          </a:bodyPr>
          <a:lstStyle/>
          <a:p>
            <a:pPr algn="l"/>
            <a:r>
              <a:rPr lang="en-US" sz="1000" b="1">
                <a:solidFill>
                  <a:srgbClr val="0D6EFD"/>
                </a:solidFill>
                <a:latin typeface="Futura"/>
                <a:cs typeface="Futura"/>
              </a:rPr>
              <a:t>STAGE 01 · AI</a:t>
            </a:r>
          </a:p>
        </p:txBody>
      </p:sp>
      <p:sp>
        <p:nvSpPr>
          <p:cNvPr id="8" name="TextBox 7">
            <a:extLst>
              <a:ext uri="{FF2B5EF4-FFF2-40B4-BE49-F238E27FC236}">
                <a16:creationId xmlns:a16="http://schemas.microsoft.com/office/drawing/2014/main" id="{DDF26C0C-EDBE-3147-B298-DB76CC3A193F}"/>
              </a:ext>
            </a:extLst>
          </p:cNvPr>
          <p:cNvSpPr txBox="1"/>
          <p:nvPr/>
        </p:nvSpPr>
        <p:spPr>
          <a:xfrm>
            <a:off x="1320800" y="2819400"/>
            <a:ext cx="4343400" cy="355600"/>
          </a:xfrm>
          <a:prstGeom prst="rect">
            <a:avLst/>
          </a:prstGeom>
          <a:noFill/>
          <a:ln>
            <a:noFill/>
          </a:ln>
        </p:spPr>
        <p:txBody>
          <a:bodyPr vertOverflow="overflow" vert="horz" wrap="square" rtlCol="0" anchor="t">
            <a:noAutofit/>
          </a:bodyPr>
          <a:lstStyle/>
          <a:p>
            <a:pPr algn="l"/>
            <a:r>
              <a:rPr lang="en-US" sz="2000" b="1">
                <a:solidFill>
                  <a:srgbClr val="102033"/>
                </a:solidFill>
                <a:latin typeface="Futura"/>
                <a:cs typeface="Futura"/>
              </a:rPr>
              <a:t>Claude classifies comments.</a:t>
            </a:r>
          </a:p>
        </p:txBody>
      </p:sp>
      <p:sp>
        <p:nvSpPr>
          <p:cNvPr id="9" name="Rectangle 8">
            <a:extLst>
              <a:ext uri="{FF2B5EF4-FFF2-40B4-BE49-F238E27FC236}">
                <a16:creationId xmlns:a16="http://schemas.microsoft.com/office/drawing/2014/main" id="{CDD32D67-3B97-4E49-BDBE-A92A123B64E0}"/>
              </a:ext>
            </a:extLst>
          </p:cNvPr>
          <p:cNvSpPr/>
          <p:nvPr/>
        </p:nvSpPr>
        <p:spPr>
          <a:xfrm>
            <a:off x="1320800" y="3429000"/>
            <a:ext cx="4343400" cy="2286000"/>
          </a:xfrm>
          <a:prstGeom prst="rect">
            <a:avLst/>
          </a:prstGeom>
          <a:solidFill>
            <a:srgbClr val="F6F6F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3A9DE96-0E27-E949-A8E0-69F7E46FC45C}"/>
              </a:ext>
            </a:extLst>
          </p:cNvPr>
          <p:cNvSpPr txBox="1"/>
          <p:nvPr/>
        </p:nvSpPr>
        <p:spPr>
          <a:xfrm>
            <a:off x="1498600" y="3606800"/>
            <a:ext cx="2540000" cy="177800"/>
          </a:xfrm>
          <a:prstGeom prst="rect">
            <a:avLst/>
          </a:prstGeom>
          <a:noFill/>
          <a:ln>
            <a:noFill/>
          </a:ln>
        </p:spPr>
        <p:txBody>
          <a:bodyPr vertOverflow="overflow" vert="horz" wrap="square" rtlCol="0" anchor="t">
            <a:noAutofit/>
          </a:bodyPr>
          <a:lstStyle/>
          <a:p>
            <a:pPr algn="l"/>
            <a:r>
              <a:rPr lang="en-US" sz="900" b="1">
                <a:solidFill>
                  <a:srgbClr val="6C757D"/>
                </a:solidFill>
                <a:latin typeface="Futura"/>
                <a:cs typeface="Futura"/>
              </a:rPr>
              <a:t>INPUT</a:t>
            </a:r>
          </a:p>
        </p:txBody>
      </p:sp>
      <p:sp>
        <p:nvSpPr>
          <p:cNvPr id="11" name="TextBox 10">
            <a:extLst>
              <a:ext uri="{FF2B5EF4-FFF2-40B4-BE49-F238E27FC236}">
                <a16:creationId xmlns:a16="http://schemas.microsoft.com/office/drawing/2014/main" id="{65FD29FB-2AA7-5945-9F49-83D00B4ED9CD}"/>
              </a:ext>
            </a:extLst>
          </p:cNvPr>
          <p:cNvSpPr txBox="1"/>
          <p:nvPr/>
        </p:nvSpPr>
        <p:spPr>
          <a:xfrm>
            <a:off x="1498600" y="3835400"/>
            <a:ext cx="3987800" cy="304800"/>
          </a:xfrm>
          <a:prstGeom prst="rect">
            <a:avLst/>
          </a:prstGeom>
          <a:noFill/>
          <a:ln>
            <a:noFill/>
          </a:ln>
        </p:spPr>
        <p:txBody>
          <a:bodyPr vertOverflow="overflow" vert="horz" wrap="square" rtlCol="0" anchor="t">
            <a:noAutofit/>
          </a:bodyPr>
          <a:lstStyle/>
          <a:p>
            <a:pPr algn="l"/>
            <a:r>
              <a:rPr lang="en-US" sz="1300">
                <a:solidFill>
                  <a:srgbClr val="102033"/>
                </a:solidFill>
                <a:latin typeface="Consolas"/>
                <a:cs typeface="Consolas"/>
              </a:rPr>
              <a:t>"This will crash in prod if X is nil"</a:t>
            </a:r>
          </a:p>
        </p:txBody>
      </p:sp>
      <p:sp>
        <p:nvSpPr>
          <p:cNvPr id="12" name="TextBox 11">
            <a:extLst>
              <a:ext uri="{FF2B5EF4-FFF2-40B4-BE49-F238E27FC236}">
                <a16:creationId xmlns:a16="http://schemas.microsoft.com/office/drawing/2014/main" id="{B40F3762-EEFC-6844-A80D-BFE362C67950}"/>
              </a:ext>
            </a:extLst>
          </p:cNvPr>
          <p:cNvSpPr txBox="1"/>
          <p:nvPr/>
        </p:nvSpPr>
        <p:spPr>
          <a:xfrm>
            <a:off x="1498600" y="4191000"/>
            <a:ext cx="381000" cy="254000"/>
          </a:xfrm>
          <a:prstGeom prst="rect">
            <a:avLst/>
          </a:prstGeom>
          <a:noFill/>
          <a:ln>
            <a:noFill/>
          </a:ln>
        </p:spPr>
        <p:txBody>
          <a:bodyPr vertOverflow="overflow" vert="horz" wrap="square" rtlCol="0" anchor="t">
            <a:noAutofit/>
          </a:bodyPr>
          <a:lstStyle/>
          <a:p>
            <a:pPr algn="l"/>
            <a:r>
              <a:rPr lang="en-US" sz="1400">
                <a:solidFill>
                  <a:srgbClr val="F79226"/>
                </a:solidFill>
                <a:latin typeface="Futura"/>
                <a:cs typeface="Futura"/>
              </a:rPr>
              <a:t>↓</a:t>
            </a:r>
          </a:p>
        </p:txBody>
      </p:sp>
      <p:sp>
        <p:nvSpPr>
          <p:cNvPr id="13" name="TextBox 12">
            <a:extLst>
              <a:ext uri="{FF2B5EF4-FFF2-40B4-BE49-F238E27FC236}">
                <a16:creationId xmlns:a16="http://schemas.microsoft.com/office/drawing/2014/main" id="{6A4B6977-DE47-864F-B610-F04BD6A84FC9}"/>
              </a:ext>
            </a:extLst>
          </p:cNvPr>
          <p:cNvSpPr txBox="1"/>
          <p:nvPr/>
        </p:nvSpPr>
        <p:spPr>
          <a:xfrm>
            <a:off x="1498600" y="4508500"/>
            <a:ext cx="2540000" cy="177800"/>
          </a:xfrm>
          <a:prstGeom prst="rect">
            <a:avLst/>
          </a:prstGeom>
          <a:noFill/>
          <a:ln>
            <a:noFill/>
          </a:ln>
        </p:spPr>
        <p:txBody>
          <a:bodyPr vertOverflow="overflow" vert="horz" wrap="square" rtlCol="0" anchor="t">
            <a:noAutofit/>
          </a:bodyPr>
          <a:lstStyle/>
          <a:p>
            <a:pPr algn="l"/>
            <a:r>
              <a:rPr lang="en-US" sz="900" b="1">
                <a:solidFill>
                  <a:srgbClr val="6C757D"/>
                </a:solidFill>
                <a:latin typeface="Futura"/>
                <a:cs typeface="Futura"/>
              </a:rPr>
              <a:t>OUTPUT</a:t>
            </a:r>
          </a:p>
        </p:txBody>
      </p:sp>
      <p:sp>
        <p:nvSpPr>
          <p:cNvPr id="14" name="TextBox 13">
            <a:extLst>
              <a:ext uri="{FF2B5EF4-FFF2-40B4-BE49-F238E27FC236}">
                <a16:creationId xmlns:a16="http://schemas.microsoft.com/office/drawing/2014/main" id="{B404F1C6-513F-6E4D-8F40-734C1ED3EC8F}"/>
              </a:ext>
            </a:extLst>
          </p:cNvPr>
          <p:cNvSpPr txBox="1"/>
          <p:nvPr/>
        </p:nvSpPr>
        <p:spPr>
          <a:xfrm>
            <a:off x="1498600" y="4737100"/>
            <a:ext cx="3987800" cy="355600"/>
          </a:xfrm>
          <a:prstGeom prst="rect">
            <a:avLst/>
          </a:prstGeom>
          <a:noFill/>
          <a:ln>
            <a:noFill/>
          </a:ln>
        </p:spPr>
        <p:txBody>
          <a:bodyPr vertOverflow="overflow" vert="horz" wrap="square" rtlCol="0" anchor="t">
            <a:noAutofit/>
          </a:bodyPr>
          <a:lstStyle/>
          <a:p>
            <a:r>
              <a:rPr lang="en-US" sz="1500" b="1">
                <a:solidFill>
                  <a:srgbClr val="F79226"/>
                </a:solidFill>
                <a:latin typeface="Consolas"/>
                <a:cs typeface="Consolas"/>
              </a:rPr>
              <a:t>bug_found</a:t>
            </a:r>
            <a:r>
              <a:rPr lang="en-US" sz="1500">
                <a:solidFill>
                  <a:srgbClr val="6C757D"/>
                </a:solidFill>
                <a:latin typeface="Consolas"/>
                <a:cs typeface="Consolas"/>
              </a:rPr>
              <a:t>  ·  </a:t>
            </a:r>
            <a:r>
              <a:rPr lang="en-US" sz="1500">
                <a:solidFill>
                  <a:srgbClr val="102033"/>
                </a:solidFill>
                <a:latin typeface="Consolas"/>
                <a:cs typeface="Consolas"/>
              </a:rPr>
              <a:t>confidence 0.87</a:t>
            </a:r>
          </a:p>
        </p:txBody>
      </p:sp>
      <p:sp>
        <p:nvSpPr>
          <p:cNvPr id="15" name="Rectangle 14">
            <a:extLst>
              <a:ext uri="{FF2B5EF4-FFF2-40B4-BE49-F238E27FC236}">
                <a16:creationId xmlns:a16="http://schemas.microsoft.com/office/drawing/2014/main" id="{AAA98913-951A-7943-9D46-1CF04B0FD849}"/>
              </a:ext>
            </a:extLst>
          </p:cNvPr>
          <p:cNvSpPr/>
          <p:nvPr/>
        </p:nvSpPr>
        <p:spPr>
          <a:xfrm>
            <a:off x="6223000" y="2286000"/>
            <a:ext cx="4953000" cy="36195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04B21A8F-DB96-E84E-857E-637B37AC76E3}"/>
              </a:ext>
            </a:extLst>
          </p:cNvPr>
          <p:cNvSpPr/>
          <p:nvPr/>
        </p:nvSpPr>
        <p:spPr>
          <a:xfrm>
            <a:off x="6223000" y="2286000"/>
            <a:ext cx="4953000" cy="38100"/>
          </a:xfrm>
          <a:prstGeom prst="rect">
            <a:avLst/>
          </a:prstGeom>
          <a:solidFill>
            <a:srgbClr val="43A44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57881929-64ED-3647-889F-1723DCC8D12C}"/>
              </a:ext>
            </a:extLst>
          </p:cNvPr>
          <p:cNvSpPr txBox="1"/>
          <p:nvPr/>
        </p:nvSpPr>
        <p:spPr>
          <a:xfrm>
            <a:off x="6527800" y="2540000"/>
            <a:ext cx="2540000" cy="203200"/>
          </a:xfrm>
          <a:prstGeom prst="rect">
            <a:avLst/>
          </a:prstGeom>
          <a:noFill/>
          <a:ln>
            <a:noFill/>
          </a:ln>
        </p:spPr>
        <p:txBody>
          <a:bodyPr vertOverflow="overflow" vert="horz" wrap="square" rtlCol="0" anchor="t">
            <a:noAutofit/>
          </a:bodyPr>
          <a:lstStyle/>
          <a:p>
            <a:pPr algn="l"/>
            <a:r>
              <a:rPr lang="en-US" sz="1000" b="1">
                <a:solidFill>
                  <a:srgbClr val="43A44A"/>
                </a:solidFill>
                <a:latin typeface="Futura"/>
                <a:cs typeface="Futura"/>
              </a:rPr>
              <a:t>STAGE 02 · MATH</a:t>
            </a:r>
          </a:p>
        </p:txBody>
      </p:sp>
      <p:sp>
        <p:nvSpPr>
          <p:cNvPr id="18" name="TextBox 17">
            <a:extLst>
              <a:ext uri="{FF2B5EF4-FFF2-40B4-BE49-F238E27FC236}">
                <a16:creationId xmlns:a16="http://schemas.microsoft.com/office/drawing/2014/main" id="{BFDC3E7A-070B-BB48-BF46-DA656127442E}"/>
              </a:ext>
            </a:extLst>
          </p:cNvPr>
          <p:cNvSpPr txBox="1"/>
          <p:nvPr/>
        </p:nvSpPr>
        <p:spPr>
          <a:xfrm>
            <a:off x="6527800" y="2819400"/>
            <a:ext cx="4343400" cy="355600"/>
          </a:xfrm>
          <a:prstGeom prst="rect">
            <a:avLst/>
          </a:prstGeom>
          <a:noFill/>
          <a:ln>
            <a:noFill/>
          </a:ln>
        </p:spPr>
        <p:txBody>
          <a:bodyPr vertOverflow="overflow" vert="horz" wrap="square" rtlCol="0" anchor="t">
            <a:noAutofit/>
          </a:bodyPr>
          <a:lstStyle/>
          <a:p>
            <a:pPr algn="l"/>
            <a:r>
              <a:rPr lang="en-US" sz="2000" b="1">
                <a:solidFill>
                  <a:srgbClr val="102033"/>
                </a:solidFill>
                <a:latin typeface="Futura"/>
                <a:cs typeface="Futura"/>
              </a:rPr>
              <a:t>Deterministic weights score.</a:t>
            </a:r>
          </a:p>
        </p:txBody>
      </p:sp>
      <p:sp>
        <p:nvSpPr>
          <p:cNvPr id="19" name="Rectangle 18">
            <a:extLst>
              <a:ext uri="{FF2B5EF4-FFF2-40B4-BE49-F238E27FC236}">
                <a16:creationId xmlns:a16="http://schemas.microsoft.com/office/drawing/2014/main" id="{79CE2604-ED9A-FD4B-8327-C9704E2882AA}"/>
              </a:ext>
            </a:extLst>
          </p:cNvPr>
          <p:cNvSpPr/>
          <p:nvPr/>
        </p:nvSpPr>
        <p:spPr>
          <a:xfrm>
            <a:off x="6527800" y="3429000"/>
            <a:ext cx="4343400" cy="2286000"/>
          </a:xfrm>
          <a:prstGeom prst="rect">
            <a:avLst/>
          </a:prstGeom>
          <a:solidFill>
            <a:srgbClr val="F6F6F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7853203E-F184-DF48-BFD3-4FE2480C470B}"/>
              </a:ext>
            </a:extLst>
          </p:cNvPr>
          <p:cNvSpPr txBox="1"/>
          <p:nvPr/>
        </p:nvSpPr>
        <p:spPr>
          <a:xfrm>
            <a:off x="6705600" y="3606800"/>
            <a:ext cx="3987800" cy="1778000"/>
          </a:xfrm>
          <a:prstGeom prst="rect">
            <a:avLst/>
          </a:prstGeom>
          <a:noFill/>
          <a:ln>
            <a:noFill/>
          </a:ln>
        </p:spPr>
        <p:txBody>
          <a:bodyPr vertOverflow="overflow" vert="horz" wrap="square" rtlCol="0" anchor="t">
            <a:noAutofit/>
          </a:bodyPr>
          <a:lstStyle/>
          <a:p>
            <a:pPr>
              <a:lnSpc>
                <a:spcPts val="1400"/>
              </a:lnSpc>
            </a:pPr>
            <a:r>
              <a:rPr lang="en-US" sz="900" b="1">
                <a:solidFill>
                  <a:srgbClr val="6C757D"/>
                </a:solidFill>
                <a:latin typeface="Futura"/>
              </a:rPr>
              <a:t>WEIGHTS (PER OCCURRENCE)</a:t>
            </a:r>
          </a:p>
          <a:p>
            <a:pPr>
              <a:lnSpc>
                <a:spcPts val="800"/>
              </a:lnSpc>
            </a:pPr>
            <a:endParaRPr lang="en-US" sz="900"/>
          </a:p>
          <a:p>
            <a:pPr>
              <a:lnSpc>
                <a:spcPts val="1700"/>
              </a:lnSpc>
            </a:pPr>
            <a:r>
              <a:rPr lang="en-US" sz="1200">
                <a:solidFill>
                  <a:srgbClr val="102033"/>
                </a:solidFill>
                <a:latin typeface="Consolas"/>
                <a:cs typeface="Consolas"/>
              </a:rPr>
              <a:t>security_issue      </a:t>
            </a:r>
            <a:r>
              <a:rPr lang="en-US" sz="1200" b="1">
                <a:solidFill>
                  <a:srgbClr val="DC5A5A"/>
                </a:solidFill>
                <a:latin typeface="Consolas"/>
                <a:cs typeface="Consolas"/>
              </a:rPr>
              <a:t>−3.0</a:t>
            </a:r>
          </a:p>
          <a:p>
            <a:pPr>
              <a:lnSpc>
                <a:spcPts val="1700"/>
              </a:lnSpc>
            </a:pPr>
            <a:r>
              <a:rPr lang="en-US" sz="1200">
                <a:solidFill>
                  <a:srgbClr val="102033"/>
                </a:solidFill>
                <a:latin typeface="Consolas"/>
                <a:cs typeface="Consolas"/>
              </a:rPr>
              <a:t>missing_tests        </a:t>
            </a:r>
            <a:r>
              <a:rPr lang="en-US" sz="1200" b="1">
                <a:solidFill>
                  <a:srgbClr val="DC5A5A"/>
                </a:solidFill>
                <a:latin typeface="Consolas"/>
                <a:cs typeface="Consolas"/>
              </a:rPr>
              <a:t>−2.5</a:t>
            </a:r>
          </a:p>
          <a:p>
            <a:pPr>
              <a:lnSpc>
                <a:spcPts val="1700"/>
              </a:lnSpc>
            </a:pPr>
            <a:r>
              <a:rPr lang="en-US" sz="1200">
                <a:solidFill>
                  <a:srgbClr val="102033"/>
                </a:solidFill>
                <a:latin typeface="Consolas"/>
                <a:cs typeface="Consolas"/>
              </a:rPr>
              <a:t>bug_found             </a:t>
            </a:r>
            <a:r>
              <a:rPr lang="en-US" sz="1200" b="1">
                <a:solidFill>
                  <a:srgbClr val="DC5A5A"/>
                </a:solidFill>
                <a:latin typeface="Consolas"/>
                <a:cs typeface="Consolas"/>
              </a:rPr>
              <a:t>−2.0</a:t>
            </a:r>
          </a:p>
          <a:p>
            <a:pPr>
              <a:lnSpc>
                <a:spcPts val="1700"/>
              </a:lnSpc>
            </a:pPr>
            <a:r>
              <a:rPr lang="en-US" sz="1200">
                <a:solidFill>
                  <a:srgbClr val="102033"/>
                </a:solidFill>
                <a:latin typeface="Consolas"/>
                <a:cs typeface="Consolas"/>
              </a:rPr>
              <a:t>design_issue         </a:t>
            </a:r>
            <a:r>
              <a:rPr lang="en-US" sz="1200" b="1">
                <a:solidFill>
                  <a:srgbClr val="DC5A5A"/>
                </a:solidFill>
                <a:latin typeface="Consolas"/>
                <a:cs typeface="Consolas"/>
              </a:rPr>
              <a:t>−1.0</a:t>
            </a:r>
          </a:p>
          <a:p>
            <a:pPr>
              <a:lnSpc>
                <a:spcPts val="1700"/>
              </a:lnSpc>
            </a:pPr>
            <a:r>
              <a:rPr lang="en-US" sz="1200">
                <a:solidFill>
                  <a:srgbClr val="102033"/>
                </a:solidFill>
                <a:latin typeface="Consolas"/>
                <a:cs typeface="Consolas"/>
              </a:rPr>
              <a:t>praise                   </a:t>
            </a:r>
            <a:r>
              <a:rPr lang="en-US" sz="1200" b="1">
                <a:solidFill>
                  <a:srgbClr val="43A44A"/>
                </a:solidFill>
                <a:latin typeface="Consolas"/>
                <a:cs typeface="Consolas"/>
              </a:rPr>
              <a:t>+0.3</a:t>
            </a:r>
          </a:p>
        </p:txBody>
      </p:sp>
      <p:sp>
        <p:nvSpPr>
          <p:cNvPr id="22" name="Rectangle 21">
            <a:extLst>
              <a:ext uri="{FF2B5EF4-FFF2-40B4-BE49-F238E27FC236}">
                <a16:creationId xmlns:a16="http://schemas.microsoft.com/office/drawing/2014/main" id="{BC8726BD-D75D-6E43-B01C-4C8BBBE2E019}"/>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6EE7F408-7311-E042-B30D-F607083553C2}"/>
              </a:ext>
            </a:extLst>
          </p:cNvPr>
          <p:cNvSpPr txBox="1"/>
          <p:nvPr/>
        </p:nvSpPr>
        <p:spPr>
          <a:xfrm>
            <a:off x="101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Eric Martin</a:t>
            </a:r>
          </a:p>
        </p:txBody>
      </p:sp>
      <p:sp>
        <p:nvSpPr>
          <p:cNvPr id="24" name="TextBox 23">
            <a:extLst>
              <a:ext uri="{FF2B5EF4-FFF2-40B4-BE49-F238E27FC236}">
                <a16:creationId xmlns:a16="http://schemas.microsoft.com/office/drawing/2014/main" id="{734CEA82-8FF4-C843-AB89-3845380EC116}"/>
              </a:ext>
            </a:extLst>
          </p:cNvPr>
          <p:cNvSpPr txBox="1"/>
          <p:nvPr/>
        </p:nvSpPr>
        <p:spPr>
          <a:xfrm>
            <a:off x="3556000" y="6540500"/>
            <a:ext cx="5080000" cy="228600"/>
          </a:xfrm>
          <a:prstGeom prst="rect">
            <a:avLst/>
          </a:prstGeom>
          <a:noFill/>
          <a:ln>
            <a:noFill/>
          </a:ln>
        </p:spPr>
        <p:txBody>
          <a:bodyPr vertOverflow="overflow" vert="horz" wrap="square" rtlCol="0" anchor="t">
            <a:noAutofit/>
          </a:bodyPr>
          <a:lstStyle/>
          <a:p>
            <a:pPr algn="l"/>
            <a:r>
              <a:rPr lang="en-US" sz="1000" i="1">
                <a:solidFill>
                  <a:srgbClr val="6C757D"/>
                </a:solidFill>
                <a:latin typeface="Futura"/>
                <a:cs typeface="Futura"/>
              </a:rPr>
              <a:t>From PRs to Performance</a:t>
            </a:r>
          </a:p>
        </p:txBody>
      </p:sp>
      <p:sp>
        <p:nvSpPr>
          <p:cNvPr id="25" name="TextBox 24">
            <a:extLst>
              <a:ext uri="{FF2B5EF4-FFF2-40B4-BE49-F238E27FC236}">
                <a16:creationId xmlns:a16="http://schemas.microsoft.com/office/drawing/2014/main" id="{28412B74-EB17-3D4D-9657-60CD659E1020}"/>
              </a:ext>
            </a:extLst>
          </p:cNvPr>
          <p:cNvSpPr txBox="1"/>
          <p:nvPr/>
        </p:nvSpPr>
        <p:spPr>
          <a:xfrm>
            <a:off x="8636000" y="6540500"/>
            <a:ext cx="2540000" cy="228600"/>
          </a:xfrm>
          <a:prstGeom prst="rect">
            <a:avLst/>
          </a:prstGeom>
          <a:noFill/>
          <a:ln>
            <a:noFill/>
          </a:ln>
        </p:spPr>
        <p:txBody>
          <a:bodyPr vertOverflow="overflow" vert="horz" wrap="square" rtlCol="0" anchor="t">
            <a:noAutofit/>
          </a:bodyPr>
          <a:lstStyle/>
          <a:p>
            <a:pPr algn="l"/>
            <a:r>
              <a:rPr lang="en-US" sz="1000">
                <a:solidFill>
                  <a:srgbClr val="6C757D"/>
                </a:solidFill>
                <a:latin typeface="Futura"/>
                <a:cs typeface="Futura"/>
              </a:rPr>
              <a:t>Momentum 2026</a:t>
            </a:r>
          </a:p>
        </p:txBody>
      </p:sp>
    </p:spTree>
    <p:extLst>
      <p:ext uri="{BB962C8B-B14F-4D97-AF65-F5344CB8AC3E}">
        <p14:creationId xmlns:p14="http://schemas.microsoft.com/office/powerpoint/2010/main" val="425859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82751F-681A-A344-BB4D-8EE53A967E33}"/>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THE METRICS GRAVEYARD</a:t>
            </a:r>
          </a:p>
        </p:txBody>
      </p:sp>
      <p:sp>
        <p:nvSpPr>
          <p:cNvPr id="3" name="TextBox 2">
            <a:extLst>
              <a:ext uri="{FF2B5EF4-FFF2-40B4-BE49-F238E27FC236}">
                <a16:creationId xmlns:a16="http://schemas.microsoft.com/office/drawing/2014/main" id="{D9C2F5B5-DFF1-5048-B931-72D5EA602280}"/>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600" b="1">
                <a:solidFill>
                  <a:srgbClr val="102033"/>
                </a:solidFill>
                <a:latin typeface="Futura"/>
                <a:cs typeface="Futura"/>
              </a:rPr>
              <a:t>Metrics to bury</a:t>
            </a:r>
          </a:p>
        </p:txBody>
      </p:sp>
      <p:sp>
        <p:nvSpPr>
          <p:cNvPr id="4" name="Rectangle 3">
            <a:extLst>
              <a:ext uri="{FF2B5EF4-FFF2-40B4-BE49-F238E27FC236}">
                <a16:creationId xmlns:a16="http://schemas.microsoft.com/office/drawing/2014/main" id="{3FC73570-0B15-AA48-9A87-FD98EE0509B6}"/>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DD10ADB0-8FF1-7E45-9D86-F5C41323A109}"/>
              </a:ext>
            </a:extLst>
          </p:cNvPr>
          <p:cNvSpPr txBox="1"/>
          <p:nvPr/>
        </p:nvSpPr>
        <p:spPr>
          <a:xfrm>
            <a:off x="1016000" y="1841500"/>
            <a:ext cx="10414000" cy="279400"/>
          </a:xfrm>
          <a:prstGeom prst="rect">
            <a:avLst/>
          </a:prstGeom>
          <a:noFill/>
          <a:ln>
            <a:noFill/>
          </a:ln>
        </p:spPr>
        <p:txBody>
          <a:bodyPr vertOverflow="overflow" vert="horz" wrap="square" rtlCol="0" anchor="t">
            <a:noAutofit/>
          </a:bodyPr>
          <a:lstStyle/>
          <a:p>
            <a:pPr algn="l"/>
            <a:r>
              <a:rPr lang="en-US" sz="1500" i="1">
                <a:solidFill>
                  <a:srgbClr val="6C757D"/>
                </a:solidFill>
                <a:latin typeface="Futura"/>
                <a:cs typeface="Futura"/>
              </a:rPr>
              <a:t>What NOT to measure.</a:t>
            </a:r>
          </a:p>
        </p:txBody>
      </p:sp>
      <p:sp>
        <p:nvSpPr>
          <p:cNvPr id="6" name="Rectangle 5">
            <a:extLst>
              <a:ext uri="{FF2B5EF4-FFF2-40B4-BE49-F238E27FC236}">
                <a16:creationId xmlns:a16="http://schemas.microsoft.com/office/drawing/2014/main" id="{7D92F0DF-9435-A646-9A4F-5C3498336122}"/>
              </a:ext>
            </a:extLst>
          </p:cNvPr>
          <p:cNvSpPr/>
          <p:nvPr/>
        </p:nvSpPr>
        <p:spPr>
          <a:xfrm>
            <a:off x="1016000" y="2413000"/>
            <a:ext cx="5080000" cy="16256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0EB30A29-4081-D544-A63D-81EDE95E9020}"/>
              </a:ext>
            </a:extLst>
          </p:cNvPr>
          <p:cNvSpPr/>
          <p:nvPr/>
        </p:nvSpPr>
        <p:spPr>
          <a:xfrm>
            <a:off x="1016000" y="2413000"/>
            <a:ext cx="38100" cy="1625600"/>
          </a:xfrm>
          <a:prstGeom prst="rect">
            <a:avLst/>
          </a:prstGeom>
          <a:solidFill>
            <a:srgbClr val="DC5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2700BE1-E381-8D4B-A15A-466C910D535F}"/>
              </a:ext>
            </a:extLst>
          </p:cNvPr>
          <p:cNvSpPr txBox="1"/>
          <p:nvPr/>
        </p:nvSpPr>
        <p:spPr>
          <a:xfrm>
            <a:off x="1320800" y="2667000"/>
            <a:ext cx="4470400" cy="381000"/>
          </a:xfrm>
          <a:prstGeom prst="rect">
            <a:avLst/>
          </a:prstGeom>
          <a:noFill/>
          <a:ln>
            <a:noFill/>
          </a:ln>
        </p:spPr>
        <p:txBody>
          <a:bodyPr vertOverflow="overflow" vert="horz" wrap="square" rtlCol="0" anchor="t">
            <a:noAutofit/>
          </a:bodyPr>
          <a:lstStyle/>
          <a:p>
            <a:pPr algn="l"/>
            <a:r>
              <a:rPr lang="en-US" b="1">
                <a:solidFill>
                  <a:srgbClr val="102033"/>
                </a:solidFill>
                <a:latin typeface="Futura"/>
                <a:cs typeface="Futura"/>
              </a:rPr>
              <a:t>Lines of code</a:t>
            </a:r>
          </a:p>
        </p:txBody>
      </p:sp>
      <p:sp>
        <p:nvSpPr>
          <p:cNvPr id="10" name="Rectangle 9">
            <a:extLst>
              <a:ext uri="{FF2B5EF4-FFF2-40B4-BE49-F238E27FC236}">
                <a16:creationId xmlns:a16="http://schemas.microsoft.com/office/drawing/2014/main" id="{764C4CF8-766F-A74C-B579-19EF91FC5A26}"/>
              </a:ext>
            </a:extLst>
          </p:cNvPr>
          <p:cNvSpPr/>
          <p:nvPr/>
        </p:nvSpPr>
        <p:spPr>
          <a:xfrm>
            <a:off x="6350000" y="2413000"/>
            <a:ext cx="5080000" cy="16256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9B029727-B8D6-6E42-8717-1D6393416C4E}"/>
              </a:ext>
            </a:extLst>
          </p:cNvPr>
          <p:cNvSpPr/>
          <p:nvPr/>
        </p:nvSpPr>
        <p:spPr>
          <a:xfrm>
            <a:off x="6350000" y="2413000"/>
            <a:ext cx="38100" cy="1625600"/>
          </a:xfrm>
          <a:prstGeom prst="rect">
            <a:avLst/>
          </a:prstGeom>
          <a:solidFill>
            <a:srgbClr val="DC5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BC465885-3563-7C4E-8550-6DD1C50A407D}"/>
              </a:ext>
            </a:extLst>
          </p:cNvPr>
          <p:cNvSpPr txBox="1"/>
          <p:nvPr/>
        </p:nvSpPr>
        <p:spPr>
          <a:xfrm>
            <a:off x="6654800" y="2667000"/>
            <a:ext cx="4470400" cy="381000"/>
          </a:xfrm>
          <a:prstGeom prst="rect">
            <a:avLst/>
          </a:prstGeom>
          <a:noFill/>
          <a:ln>
            <a:noFill/>
          </a:ln>
        </p:spPr>
        <p:txBody>
          <a:bodyPr vertOverflow="overflow" vert="horz" wrap="square" rtlCol="0" anchor="t">
            <a:noAutofit/>
          </a:bodyPr>
          <a:lstStyle/>
          <a:p>
            <a:pPr algn="l"/>
            <a:r>
              <a:rPr lang="en-US" b="1" dirty="0">
                <a:solidFill>
                  <a:srgbClr val="102033"/>
                </a:solidFill>
                <a:latin typeface="Futura"/>
                <a:cs typeface="Futura"/>
              </a:rPr>
              <a:t>Individual velocity as a ranking</a:t>
            </a:r>
          </a:p>
        </p:txBody>
      </p:sp>
      <p:sp>
        <p:nvSpPr>
          <p:cNvPr id="13" name="TextBox 12">
            <a:extLst>
              <a:ext uri="{FF2B5EF4-FFF2-40B4-BE49-F238E27FC236}">
                <a16:creationId xmlns:a16="http://schemas.microsoft.com/office/drawing/2014/main" id="{41D0BDDE-F530-7546-A9F1-53FE5E1C972C}"/>
              </a:ext>
            </a:extLst>
          </p:cNvPr>
          <p:cNvSpPr txBox="1"/>
          <p:nvPr/>
        </p:nvSpPr>
        <p:spPr>
          <a:xfrm>
            <a:off x="6654800" y="3098800"/>
            <a:ext cx="4470400" cy="825500"/>
          </a:xfrm>
          <a:prstGeom prst="rect">
            <a:avLst/>
          </a:prstGeom>
          <a:noFill/>
          <a:ln>
            <a:noFill/>
          </a:ln>
        </p:spPr>
        <p:txBody>
          <a:bodyPr vertOverflow="overflow" vert="horz" wrap="square" rtlCol="0" anchor="t">
            <a:noAutofit/>
          </a:bodyPr>
          <a:lstStyle/>
          <a:p>
            <a:pPr algn="l"/>
            <a:r>
              <a:rPr lang="en-US" sz="1300" dirty="0">
                <a:solidFill>
                  <a:srgbClr val="4A5663"/>
                </a:solidFill>
                <a:latin typeface="Futura"/>
                <a:cs typeface="Futura"/>
              </a:rPr>
              <a:t>The moment velocity becomes a leaderboard; it stops measuring output and starts measuring gaming skill. Goodhart's Law in action.</a:t>
            </a:r>
          </a:p>
        </p:txBody>
      </p:sp>
      <p:sp>
        <p:nvSpPr>
          <p:cNvPr id="14" name="Rectangle 13">
            <a:extLst>
              <a:ext uri="{FF2B5EF4-FFF2-40B4-BE49-F238E27FC236}">
                <a16:creationId xmlns:a16="http://schemas.microsoft.com/office/drawing/2014/main" id="{F1254FDF-0C66-CB4E-83C5-D7856D7BE945}"/>
              </a:ext>
            </a:extLst>
          </p:cNvPr>
          <p:cNvSpPr/>
          <p:nvPr/>
        </p:nvSpPr>
        <p:spPr>
          <a:xfrm>
            <a:off x="1016000" y="4254500"/>
            <a:ext cx="5080000" cy="16256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FF535EAB-FED7-E343-839F-A40F56340EC6}"/>
              </a:ext>
            </a:extLst>
          </p:cNvPr>
          <p:cNvSpPr/>
          <p:nvPr/>
        </p:nvSpPr>
        <p:spPr>
          <a:xfrm>
            <a:off x="1016000" y="4254500"/>
            <a:ext cx="38100" cy="1625600"/>
          </a:xfrm>
          <a:prstGeom prst="rect">
            <a:avLst/>
          </a:prstGeom>
          <a:solidFill>
            <a:srgbClr val="DC5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AB38006E-B3A3-EE47-8BEA-93A71296D298}"/>
              </a:ext>
            </a:extLst>
          </p:cNvPr>
          <p:cNvSpPr txBox="1"/>
          <p:nvPr/>
        </p:nvSpPr>
        <p:spPr>
          <a:xfrm>
            <a:off x="1320800" y="4508500"/>
            <a:ext cx="4470400" cy="381000"/>
          </a:xfrm>
          <a:prstGeom prst="rect">
            <a:avLst/>
          </a:prstGeom>
          <a:noFill/>
          <a:ln>
            <a:noFill/>
          </a:ln>
        </p:spPr>
        <p:txBody>
          <a:bodyPr vertOverflow="overflow" vert="horz" wrap="square" rtlCol="0" anchor="t">
            <a:noAutofit/>
          </a:bodyPr>
          <a:lstStyle/>
          <a:p>
            <a:pPr algn="l"/>
            <a:r>
              <a:rPr lang="en-US" b="1" dirty="0">
                <a:solidFill>
                  <a:srgbClr val="102033"/>
                </a:solidFill>
                <a:latin typeface="Futura"/>
                <a:cs typeface="Futura"/>
              </a:rPr>
              <a:t>PR turnaround time, no context</a:t>
            </a:r>
          </a:p>
        </p:txBody>
      </p:sp>
      <p:sp>
        <p:nvSpPr>
          <p:cNvPr id="17" name="TextBox 16">
            <a:extLst>
              <a:ext uri="{FF2B5EF4-FFF2-40B4-BE49-F238E27FC236}">
                <a16:creationId xmlns:a16="http://schemas.microsoft.com/office/drawing/2014/main" id="{503DDA6D-444D-414B-8D6F-9EB34E91A4CB}"/>
              </a:ext>
            </a:extLst>
          </p:cNvPr>
          <p:cNvSpPr txBox="1"/>
          <p:nvPr/>
        </p:nvSpPr>
        <p:spPr>
          <a:xfrm>
            <a:off x="1320800" y="4940300"/>
            <a:ext cx="4470400" cy="825500"/>
          </a:xfrm>
          <a:prstGeom prst="rect">
            <a:avLst/>
          </a:prstGeom>
          <a:noFill/>
          <a:ln>
            <a:noFill/>
          </a:ln>
        </p:spPr>
        <p:txBody>
          <a:bodyPr vertOverflow="overflow" vert="horz" wrap="square" rtlCol="0" anchor="t">
            <a:noAutofit/>
          </a:bodyPr>
          <a:lstStyle/>
          <a:p>
            <a:pPr algn="l"/>
            <a:r>
              <a:rPr lang="en-US" sz="1300" dirty="0">
                <a:solidFill>
                  <a:srgbClr val="4A5663"/>
                </a:solidFill>
                <a:latin typeface="Futura"/>
                <a:cs typeface="Futura"/>
              </a:rPr>
              <a:t>Some PRs should take longer. A one-line typo fix and a 40-file migration are not the same PR. Treating them the same penalizes careful review.</a:t>
            </a:r>
          </a:p>
        </p:txBody>
      </p:sp>
      <p:sp>
        <p:nvSpPr>
          <p:cNvPr id="18" name="Rectangle 17">
            <a:extLst>
              <a:ext uri="{FF2B5EF4-FFF2-40B4-BE49-F238E27FC236}">
                <a16:creationId xmlns:a16="http://schemas.microsoft.com/office/drawing/2014/main" id="{606D6AF7-55BC-9042-82B5-39738D1D70B0}"/>
              </a:ext>
            </a:extLst>
          </p:cNvPr>
          <p:cNvSpPr/>
          <p:nvPr/>
        </p:nvSpPr>
        <p:spPr>
          <a:xfrm>
            <a:off x="6350000" y="4254500"/>
            <a:ext cx="5080000" cy="1625600"/>
          </a:xfrm>
          <a:prstGeom prst="rect">
            <a:avLst/>
          </a:prstGeom>
          <a:solidFill>
            <a:srgbClr val="FFFFFF"/>
          </a:solidFill>
          <a:ln w="9525" cap="flat" cmpd="sng" algn="ctr">
            <a:solidFill>
              <a:srgbClr val="E6E7E8"/>
            </a:solidFill>
            <a:prstDash val="solid"/>
            <a:miter lim="800000"/>
          </a:ln>
          <a:effectLst>
            <a:outerShdw blurRad="101600" dist="50800" dir="5400000" algn="tl"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926DD82E-379C-5C44-A65E-D7CCB4CA94FE}"/>
              </a:ext>
            </a:extLst>
          </p:cNvPr>
          <p:cNvSpPr/>
          <p:nvPr/>
        </p:nvSpPr>
        <p:spPr>
          <a:xfrm>
            <a:off x="6350000" y="4254500"/>
            <a:ext cx="38100" cy="1625600"/>
          </a:xfrm>
          <a:prstGeom prst="rect">
            <a:avLst/>
          </a:prstGeom>
          <a:solidFill>
            <a:srgbClr val="DC5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0448C28B-B0F2-0845-9B1C-6264A1BE1CAC}"/>
              </a:ext>
            </a:extLst>
          </p:cNvPr>
          <p:cNvSpPr txBox="1"/>
          <p:nvPr/>
        </p:nvSpPr>
        <p:spPr>
          <a:xfrm>
            <a:off x="6654800" y="4508500"/>
            <a:ext cx="4470400" cy="381000"/>
          </a:xfrm>
          <a:prstGeom prst="rect">
            <a:avLst/>
          </a:prstGeom>
          <a:noFill/>
          <a:ln>
            <a:noFill/>
          </a:ln>
        </p:spPr>
        <p:txBody>
          <a:bodyPr vertOverflow="overflow" vert="horz" wrap="square" rtlCol="0" anchor="t">
            <a:noAutofit/>
          </a:bodyPr>
          <a:lstStyle/>
          <a:p>
            <a:pPr algn="l"/>
            <a:r>
              <a:rPr lang="en-US" b="1" dirty="0">
                <a:solidFill>
                  <a:srgbClr val="102033"/>
                </a:solidFill>
                <a:latin typeface="Futura"/>
                <a:cs typeface="Futura"/>
              </a:rPr>
              <a:t>Commit frequency</a:t>
            </a:r>
          </a:p>
        </p:txBody>
      </p:sp>
      <p:sp>
        <p:nvSpPr>
          <p:cNvPr id="21" name="TextBox 20">
            <a:extLst>
              <a:ext uri="{FF2B5EF4-FFF2-40B4-BE49-F238E27FC236}">
                <a16:creationId xmlns:a16="http://schemas.microsoft.com/office/drawing/2014/main" id="{621B946A-EE99-2449-A9CD-ECA149C0FEA3}"/>
              </a:ext>
            </a:extLst>
          </p:cNvPr>
          <p:cNvSpPr txBox="1"/>
          <p:nvPr/>
        </p:nvSpPr>
        <p:spPr>
          <a:xfrm>
            <a:off x="6654800" y="4940300"/>
            <a:ext cx="4470400" cy="825500"/>
          </a:xfrm>
          <a:prstGeom prst="rect">
            <a:avLst/>
          </a:prstGeom>
          <a:noFill/>
          <a:ln>
            <a:noFill/>
          </a:ln>
        </p:spPr>
        <p:txBody>
          <a:bodyPr vertOverflow="overflow" vert="horz" wrap="square" rtlCol="0" anchor="t">
            <a:noAutofit/>
          </a:bodyPr>
          <a:lstStyle/>
          <a:p>
            <a:pPr algn="l"/>
            <a:r>
              <a:rPr lang="en-US" sz="1300" dirty="0">
                <a:solidFill>
                  <a:srgbClr val="4A5663"/>
                </a:solidFill>
                <a:latin typeface="Futura"/>
                <a:cs typeface="Futura"/>
              </a:rPr>
              <a:t>Your Git history is not a fitness tracker. This metric just teaches engineers that `git commit -m "</a:t>
            </a:r>
            <a:r>
              <a:rPr lang="en-US" sz="1300" dirty="0" err="1">
                <a:solidFill>
                  <a:srgbClr val="4A5663"/>
                </a:solidFill>
                <a:latin typeface="Futura"/>
                <a:cs typeface="Futura"/>
              </a:rPr>
              <a:t>wip</a:t>
            </a:r>
            <a:r>
              <a:rPr lang="en-US" sz="1300" dirty="0">
                <a:solidFill>
                  <a:srgbClr val="4A5663"/>
                </a:solidFill>
                <a:latin typeface="Futura"/>
                <a:cs typeface="Futura"/>
              </a:rPr>
              <a:t>"` fifteen times a day is what success looks like.</a:t>
            </a:r>
          </a:p>
        </p:txBody>
      </p:sp>
      <p:sp>
        <p:nvSpPr>
          <p:cNvPr id="23" name="Rectangle 22">
            <a:extLst>
              <a:ext uri="{FF2B5EF4-FFF2-40B4-BE49-F238E27FC236}">
                <a16:creationId xmlns:a16="http://schemas.microsoft.com/office/drawing/2014/main" id="{88E719ED-4877-4F43-AF30-74AFA250B500}"/>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02D048A8-2A28-574D-B2DB-B70D5F111D63}"/>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25" name="TextBox 24">
            <a:extLst>
              <a:ext uri="{FF2B5EF4-FFF2-40B4-BE49-F238E27FC236}">
                <a16:creationId xmlns:a16="http://schemas.microsoft.com/office/drawing/2014/main" id="{558B431F-5B53-144C-8DC9-C4B9E0A11F2C}"/>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6" name="TextBox 25">
            <a:extLst>
              <a:ext uri="{FF2B5EF4-FFF2-40B4-BE49-F238E27FC236}">
                <a16:creationId xmlns:a16="http://schemas.microsoft.com/office/drawing/2014/main" id="{7798459C-5187-984C-A34C-6884F859DD62}"/>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sp>
        <p:nvSpPr>
          <p:cNvPr id="9" name="TextBox 8">
            <a:extLst>
              <a:ext uri="{FF2B5EF4-FFF2-40B4-BE49-F238E27FC236}">
                <a16:creationId xmlns:a16="http://schemas.microsoft.com/office/drawing/2014/main" id="{5D606D71-C325-5441-80CE-249CCA26D7BF}"/>
              </a:ext>
            </a:extLst>
          </p:cNvPr>
          <p:cNvSpPr txBox="1"/>
          <p:nvPr/>
        </p:nvSpPr>
        <p:spPr>
          <a:xfrm>
            <a:off x="1320800" y="3098800"/>
            <a:ext cx="4470400" cy="825500"/>
          </a:xfrm>
          <a:prstGeom prst="rect">
            <a:avLst/>
          </a:prstGeom>
          <a:noFill/>
          <a:ln>
            <a:noFill/>
          </a:ln>
        </p:spPr>
        <p:txBody>
          <a:bodyPr vertOverflow="overflow" vert="horz" wrap="square" rtlCol="0" anchor="t">
            <a:noAutofit/>
          </a:bodyPr>
          <a:lstStyle/>
          <a:p>
            <a:pPr algn="l"/>
            <a:r>
              <a:rPr lang="en-US" sz="1300">
                <a:solidFill>
                  <a:srgbClr val="4A5663"/>
                </a:solidFill>
                <a:latin typeface="Futura"/>
                <a:cs typeface="Futura"/>
              </a:rPr>
              <a:t>Congratulations!  You just incentivized copy-paste. A senior who deletes 2,000 lines in a refactor looks unproductive. Every other measure says they're the MVP.</a:t>
            </a:r>
          </a:p>
        </p:txBody>
      </p:sp>
    </p:spTree>
    <p:custDataLst>
      <p:tags r:id="rId1"/>
    </p:custDataLst>
    <p:extLst>
      <p:ext uri="{BB962C8B-B14F-4D97-AF65-F5344CB8AC3E}">
        <p14:creationId xmlns:p14="http://schemas.microsoft.com/office/powerpoint/2010/main" val="687429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200"/>
                                        <p:tgtEl>
                                          <p:spTgt spid="1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200"/>
                                        <p:tgtEl>
                                          <p:spTgt spid="15"/>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up)">
                                      <p:cBhvr>
                                        <p:cTn id="24" dur="500"/>
                                        <p:tgtEl>
                                          <p:spTgt spid="14"/>
                                        </p:tgtEl>
                                      </p:cBhvr>
                                    </p:animEffect>
                                  </p:childTnLst>
                                </p:cTn>
                              </p:par>
                              <p:par>
                                <p:cTn id="25" presetID="10" presetClass="entr" presetSubtype="0" fill="hold" grpId="0" nodeType="withEffect">
                                  <p:stCondLst>
                                    <p:cond delay="2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4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up)">
                                      <p:cBhvr>
                                        <p:cTn id="35" dur="200"/>
                                        <p:tgtEl>
                                          <p:spTgt spid="19"/>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40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A8E479-D228-A24D-A9AB-F698A22D6EAC}"/>
              </a:ext>
            </a:extLst>
          </p:cNvPr>
          <p:cNvSpPr txBox="1"/>
          <p:nvPr/>
        </p:nvSpPr>
        <p:spPr>
          <a:xfrm>
            <a:off x="1016000" y="571500"/>
            <a:ext cx="6350000" cy="254000"/>
          </a:xfrm>
          <a:prstGeom prst="rect">
            <a:avLst/>
          </a:prstGeom>
          <a:noFill/>
          <a:ln>
            <a:noFill/>
          </a:ln>
        </p:spPr>
        <p:txBody>
          <a:bodyPr vertOverflow="overflow" vert="horz" wrap="square" rtlCol="0" anchor="t">
            <a:noAutofit/>
          </a:bodyPr>
          <a:lstStyle/>
          <a:p>
            <a:pPr algn="l"/>
            <a:r>
              <a:rPr lang="en-US" sz="1100" b="1">
                <a:solidFill>
                  <a:srgbClr val="F79226"/>
                </a:solidFill>
                <a:latin typeface="Futura"/>
                <a:cs typeface="Futura"/>
              </a:rPr>
              <a:t>SECTION 03  ·  PR SIGNALS</a:t>
            </a:r>
          </a:p>
        </p:txBody>
      </p:sp>
      <p:sp>
        <p:nvSpPr>
          <p:cNvPr id="3" name="TextBox 2">
            <a:extLst>
              <a:ext uri="{FF2B5EF4-FFF2-40B4-BE49-F238E27FC236}">
                <a16:creationId xmlns:a16="http://schemas.microsoft.com/office/drawing/2014/main" id="{D0B8742B-1B89-8140-A1B6-0F80C879AC01}"/>
              </a:ext>
            </a:extLst>
          </p:cNvPr>
          <p:cNvSpPr txBox="1"/>
          <p:nvPr/>
        </p:nvSpPr>
        <p:spPr>
          <a:xfrm>
            <a:off x="1016000" y="952500"/>
            <a:ext cx="10414000" cy="508000"/>
          </a:xfrm>
          <a:prstGeom prst="rect">
            <a:avLst/>
          </a:prstGeom>
          <a:noFill/>
          <a:ln>
            <a:noFill/>
          </a:ln>
        </p:spPr>
        <p:txBody>
          <a:bodyPr vertOverflow="overflow" vert="horz" wrap="square" rtlCol="0" anchor="t">
            <a:noAutofit/>
          </a:bodyPr>
          <a:lstStyle/>
          <a:p>
            <a:pPr algn="l"/>
            <a:r>
              <a:rPr lang="en-US" sz="2200" b="1">
                <a:solidFill>
                  <a:srgbClr val="102033"/>
                </a:solidFill>
                <a:latin typeface="Futura"/>
                <a:cs typeface="Futura"/>
              </a:rPr>
              <a:t>Standards drift · is the codebase getting better or worse?</a:t>
            </a:r>
          </a:p>
        </p:txBody>
      </p:sp>
      <p:sp>
        <p:nvSpPr>
          <p:cNvPr id="4" name="Rectangle 3">
            <a:extLst>
              <a:ext uri="{FF2B5EF4-FFF2-40B4-BE49-F238E27FC236}">
                <a16:creationId xmlns:a16="http://schemas.microsoft.com/office/drawing/2014/main" id="{C8445DF7-492C-6743-89E9-6319C3289E17}"/>
              </a:ext>
            </a:extLst>
          </p:cNvPr>
          <p:cNvSpPr/>
          <p:nvPr/>
        </p:nvSpPr>
        <p:spPr>
          <a:xfrm>
            <a:off x="1016000" y="1587500"/>
            <a:ext cx="1016000" cy="25400"/>
          </a:xfrm>
          <a:prstGeom prst="rect">
            <a:avLst/>
          </a:prstGeom>
          <a:solidFill>
            <a:srgbClr val="F7922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50E175D1-EBC3-114C-9BD7-522464841DDD}"/>
              </a:ext>
            </a:extLst>
          </p:cNvPr>
          <p:cNvSpPr/>
          <p:nvPr/>
        </p:nvSpPr>
        <p:spPr>
          <a:xfrm>
            <a:off x="1397000" y="5372100"/>
            <a:ext cx="152400" cy="152400"/>
          </a:xfrm>
          <a:prstGeom prst="rect">
            <a:avLst/>
          </a:prstGeom>
          <a:solidFill>
            <a:srgbClr val="DC5A5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BD6E6F8C-9F68-3E4B-909D-5FC42121E4EB}"/>
              </a:ext>
            </a:extLst>
          </p:cNvPr>
          <p:cNvSpPr txBox="1"/>
          <p:nvPr/>
        </p:nvSpPr>
        <p:spPr>
          <a:xfrm>
            <a:off x="1651000" y="5334000"/>
            <a:ext cx="1968500" cy="228600"/>
          </a:xfrm>
          <a:prstGeom prst="rect">
            <a:avLst/>
          </a:prstGeom>
          <a:noFill/>
          <a:ln>
            <a:noFill/>
          </a:ln>
        </p:spPr>
        <p:txBody>
          <a:bodyPr vertOverflow="overflow" vert="horz" wrap="square" rtlCol="0" anchor="t">
            <a:noAutofit/>
          </a:bodyPr>
          <a:lstStyle/>
          <a:p>
            <a:pPr algn="l"/>
            <a:r>
              <a:rPr lang="en-US" sz="1100" b="1">
                <a:solidFill>
                  <a:srgbClr val="102033"/>
                </a:solidFill>
                <a:latin typeface="Futura"/>
                <a:cs typeface="Futura"/>
              </a:rPr>
              <a:t>CRITICAL</a:t>
            </a:r>
          </a:p>
        </p:txBody>
      </p:sp>
      <p:sp>
        <p:nvSpPr>
          <p:cNvPr id="11" name="Rectangle 10">
            <a:extLst>
              <a:ext uri="{FF2B5EF4-FFF2-40B4-BE49-F238E27FC236}">
                <a16:creationId xmlns:a16="http://schemas.microsoft.com/office/drawing/2014/main" id="{26B2946B-D438-2C4B-972A-509758602CED}"/>
              </a:ext>
            </a:extLst>
          </p:cNvPr>
          <p:cNvSpPr/>
          <p:nvPr/>
        </p:nvSpPr>
        <p:spPr>
          <a:xfrm>
            <a:off x="3937000" y="5372100"/>
            <a:ext cx="152400" cy="152400"/>
          </a:xfrm>
          <a:prstGeom prst="rect">
            <a:avLst/>
          </a:prstGeom>
          <a:solidFill>
            <a:srgbClr val="FC9D5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28BECC1E-4273-1941-83D5-18A1B4762B12}"/>
              </a:ext>
            </a:extLst>
          </p:cNvPr>
          <p:cNvSpPr txBox="1"/>
          <p:nvPr/>
        </p:nvSpPr>
        <p:spPr>
          <a:xfrm>
            <a:off x="4191000" y="5334000"/>
            <a:ext cx="1968500" cy="228600"/>
          </a:xfrm>
          <a:prstGeom prst="rect">
            <a:avLst/>
          </a:prstGeom>
          <a:noFill/>
          <a:ln>
            <a:noFill/>
          </a:ln>
        </p:spPr>
        <p:txBody>
          <a:bodyPr vertOverflow="overflow" vert="horz" wrap="square" rtlCol="0" anchor="t">
            <a:noAutofit/>
          </a:bodyPr>
          <a:lstStyle/>
          <a:p>
            <a:pPr algn="l"/>
            <a:r>
              <a:rPr lang="en-US" sz="1100" b="1">
                <a:solidFill>
                  <a:srgbClr val="102033"/>
                </a:solidFill>
                <a:latin typeface="Futura"/>
                <a:cs typeface="Futura"/>
              </a:rPr>
              <a:t>QUALITY</a:t>
            </a:r>
          </a:p>
        </p:txBody>
      </p:sp>
      <p:sp>
        <p:nvSpPr>
          <p:cNvPr id="13" name="Rectangle 12">
            <a:extLst>
              <a:ext uri="{FF2B5EF4-FFF2-40B4-BE49-F238E27FC236}">
                <a16:creationId xmlns:a16="http://schemas.microsoft.com/office/drawing/2014/main" id="{B49271C4-65EC-B043-8AE5-03665E6BDFDB}"/>
              </a:ext>
            </a:extLst>
          </p:cNvPr>
          <p:cNvSpPr/>
          <p:nvPr/>
        </p:nvSpPr>
        <p:spPr>
          <a:xfrm>
            <a:off x="6477000" y="5372100"/>
            <a:ext cx="152400" cy="152400"/>
          </a:xfrm>
          <a:prstGeom prst="rect">
            <a:avLst/>
          </a:prstGeom>
          <a:solidFill>
            <a:srgbClr val="6F42C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DD9AB934-F5B9-8443-A7BE-63615E9A1D9A}"/>
              </a:ext>
            </a:extLst>
          </p:cNvPr>
          <p:cNvSpPr txBox="1"/>
          <p:nvPr/>
        </p:nvSpPr>
        <p:spPr>
          <a:xfrm>
            <a:off x="6731000" y="5334000"/>
            <a:ext cx="1968500" cy="228600"/>
          </a:xfrm>
          <a:prstGeom prst="rect">
            <a:avLst/>
          </a:prstGeom>
          <a:noFill/>
          <a:ln>
            <a:noFill/>
          </a:ln>
        </p:spPr>
        <p:txBody>
          <a:bodyPr vertOverflow="overflow" vert="horz" wrap="square" rtlCol="0" anchor="t">
            <a:noAutofit/>
          </a:bodyPr>
          <a:lstStyle/>
          <a:p>
            <a:pPr algn="l"/>
            <a:r>
              <a:rPr lang="en-US" sz="1100" b="1">
                <a:solidFill>
                  <a:srgbClr val="102033"/>
                </a:solidFill>
                <a:latin typeface="Futura"/>
                <a:cs typeface="Futura"/>
              </a:rPr>
              <a:t>TESTING</a:t>
            </a:r>
          </a:p>
        </p:txBody>
      </p:sp>
      <p:sp>
        <p:nvSpPr>
          <p:cNvPr id="15" name="Rectangle 14">
            <a:extLst>
              <a:ext uri="{FF2B5EF4-FFF2-40B4-BE49-F238E27FC236}">
                <a16:creationId xmlns:a16="http://schemas.microsoft.com/office/drawing/2014/main" id="{B3418790-2F8D-994E-8A62-45D28A9C8DEA}"/>
              </a:ext>
            </a:extLst>
          </p:cNvPr>
          <p:cNvSpPr/>
          <p:nvPr/>
        </p:nvSpPr>
        <p:spPr>
          <a:xfrm>
            <a:off x="9017000" y="5372100"/>
            <a:ext cx="152400" cy="152400"/>
          </a:xfrm>
          <a:prstGeom prst="rect">
            <a:avLst/>
          </a:prstGeom>
          <a:solidFill>
            <a:schemeClr val="tx1">
              <a:lumMod val="50000"/>
              <a:lumOff val="5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956647BC-4F65-3F43-884C-2B135ABF0645}"/>
              </a:ext>
            </a:extLst>
          </p:cNvPr>
          <p:cNvSpPr txBox="1"/>
          <p:nvPr/>
        </p:nvSpPr>
        <p:spPr>
          <a:xfrm>
            <a:off x="9271000" y="5334000"/>
            <a:ext cx="1968500" cy="228600"/>
          </a:xfrm>
          <a:prstGeom prst="rect">
            <a:avLst/>
          </a:prstGeom>
          <a:noFill/>
          <a:ln>
            <a:noFill/>
          </a:ln>
        </p:spPr>
        <p:txBody>
          <a:bodyPr vertOverflow="overflow" vert="horz" wrap="square" rtlCol="0" anchor="t">
            <a:noAutofit/>
          </a:bodyPr>
          <a:lstStyle/>
          <a:p>
            <a:pPr algn="l"/>
            <a:r>
              <a:rPr lang="en-US" sz="1100" b="1">
                <a:solidFill>
                  <a:srgbClr val="102033"/>
                </a:solidFill>
                <a:latin typeface="Futura"/>
                <a:cs typeface="Futura"/>
              </a:rPr>
              <a:t>STYLE &amp; DOCS</a:t>
            </a:r>
          </a:p>
        </p:txBody>
      </p:sp>
      <p:sp>
        <p:nvSpPr>
          <p:cNvPr id="17" name="TextBox 16">
            <a:extLst>
              <a:ext uri="{FF2B5EF4-FFF2-40B4-BE49-F238E27FC236}">
                <a16:creationId xmlns:a16="http://schemas.microsoft.com/office/drawing/2014/main" id="{5DF2C2A4-7110-4748-B09D-18CE0D7109DD}"/>
              </a:ext>
            </a:extLst>
          </p:cNvPr>
          <p:cNvSpPr txBox="1"/>
          <p:nvPr/>
        </p:nvSpPr>
        <p:spPr>
          <a:xfrm>
            <a:off x="1397000" y="5715000"/>
            <a:ext cx="9906000" cy="279400"/>
          </a:xfrm>
          <a:prstGeom prst="rect">
            <a:avLst/>
          </a:prstGeom>
          <a:noFill/>
          <a:ln>
            <a:noFill/>
          </a:ln>
        </p:spPr>
        <p:txBody>
          <a:bodyPr vertOverflow="overflow" vert="horz" wrap="square" rtlCol="0" anchor="t">
            <a:noAutofit/>
          </a:bodyPr>
          <a:lstStyle/>
          <a:p>
            <a:pPr algn="l"/>
            <a:r>
              <a:rPr lang="en-US" sz="1200" i="1">
                <a:solidFill>
                  <a:srgbClr val="6C757D"/>
                </a:solidFill>
                <a:latin typeface="Futura"/>
                <a:cs typeface="Futura"/>
              </a:rPr>
              <a:t>Each line = issue category, normalized per PR. Shipping more shouldn't spike the chart.</a:t>
            </a:r>
          </a:p>
        </p:txBody>
      </p:sp>
      <p:sp>
        <p:nvSpPr>
          <p:cNvPr id="18" name="Rectangle 17">
            <a:extLst>
              <a:ext uri="{FF2B5EF4-FFF2-40B4-BE49-F238E27FC236}">
                <a16:creationId xmlns:a16="http://schemas.microsoft.com/office/drawing/2014/main" id="{672E5E97-E148-3E44-BA2A-E646761BC062}"/>
              </a:ext>
            </a:extLst>
          </p:cNvPr>
          <p:cNvSpPr/>
          <p:nvPr/>
        </p:nvSpPr>
        <p:spPr>
          <a:xfrm>
            <a:off x="1016000" y="6413500"/>
            <a:ext cx="10160000" cy="12700"/>
          </a:xfrm>
          <a:prstGeom prst="rect">
            <a:avLst/>
          </a:prstGeom>
          <a:solidFill>
            <a:srgbClr val="E6E7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11B73E77-B2CD-A74F-8536-AF4B8BD19CB4}"/>
              </a:ext>
            </a:extLst>
          </p:cNvPr>
          <p:cNvSpPr txBox="1"/>
          <p:nvPr/>
        </p:nvSpPr>
        <p:spPr>
          <a:xfrm>
            <a:off x="101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Eric Martin</a:t>
            </a:r>
          </a:p>
        </p:txBody>
      </p:sp>
      <p:sp>
        <p:nvSpPr>
          <p:cNvPr id="20" name="TextBox 19">
            <a:extLst>
              <a:ext uri="{FF2B5EF4-FFF2-40B4-BE49-F238E27FC236}">
                <a16:creationId xmlns:a16="http://schemas.microsoft.com/office/drawing/2014/main" id="{F0ED4BB1-19AE-114A-964B-C1213E81E467}"/>
              </a:ext>
            </a:extLst>
          </p:cNvPr>
          <p:cNvSpPr txBox="1"/>
          <p:nvPr/>
        </p:nvSpPr>
        <p:spPr>
          <a:xfrm>
            <a:off x="3556000" y="6540500"/>
            <a:ext cx="5080000" cy="254000"/>
          </a:xfrm>
          <a:prstGeom prst="rect">
            <a:avLst/>
          </a:prstGeom>
          <a:noFill/>
          <a:ln>
            <a:noFill/>
          </a:ln>
        </p:spPr>
        <p:txBody>
          <a:bodyPr vertOverflow="overflow" vert="horz" wrap="square" rtlCol="0" anchor="t">
            <a:noAutofit/>
          </a:bodyPr>
          <a:lstStyle/>
          <a:p>
            <a:pPr algn="l"/>
            <a:r>
              <a:rPr lang="en-US" sz="1100" i="1">
                <a:solidFill>
                  <a:srgbClr val="6C757D"/>
                </a:solidFill>
                <a:latin typeface="Futura"/>
                <a:cs typeface="Futura"/>
              </a:rPr>
              <a:t>From PRs to Performance</a:t>
            </a:r>
          </a:p>
        </p:txBody>
      </p:sp>
      <p:sp>
        <p:nvSpPr>
          <p:cNvPr id="21" name="TextBox 20">
            <a:extLst>
              <a:ext uri="{FF2B5EF4-FFF2-40B4-BE49-F238E27FC236}">
                <a16:creationId xmlns:a16="http://schemas.microsoft.com/office/drawing/2014/main" id="{204CC962-1872-2C42-8C59-59132B30282D}"/>
              </a:ext>
            </a:extLst>
          </p:cNvPr>
          <p:cNvSpPr txBox="1"/>
          <p:nvPr/>
        </p:nvSpPr>
        <p:spPr>
          <a:xfrm>
            <a:off x="8636000" y="6540500"/>
            <a:ext cx="2540000" cy="254000"/>
          </a:xfrm>
          <a:prstGeom prst="rect">
            <a:avLst/>
          </a:prstGeom>
          <a:noFill/>
          <a:ln>
            <a:noFill/>
          </a:ln>
        </p:spPr>
        <p:txBody>
          <a:bodyPr vertOverflow="overflow" vert="horz" wrap="square" rtlCol="0" anchor="t">
            <a:noAutofit/>
          </a:bodyPr>
          <a:lstStyle/>
          <a:p>
            <a:pPr algn="l"/>
            <a:r>
              <a:rPr lang="en-US" sz="1100">
                <a:solidFill>
                  <a:srgbClr val="6C757D"/>
                </a:solidFill>
                <a:latin typeface="Futura"/>
                <a:cs typeface="Futura"/>
              </a:rPr>
              <a:t>Momentum 2026</a:t>
            </a:r>
          </a:p>
        </p:txBody>
      </p:sp>
      <p:pic>
        <p:nvPicPr>
          <p:cNvPr id="25" name="Picture 24">
            <a:extLst>
              <a:ext uri="{FF2B5EF4-FFF2-40B4-BE49-F238E27FC236}">
                <a16:creationId xmlns:a16="http://schemas.microsoft.com/office/drawing/2014/main" id="{B3173077-D3B8-05F3-5FFD-8A7F04FD7968}"/>
              </a:ext>
            </a:extLst>
          </p:cNvPr>
          <p:cNvPicPr>
            <a:picLocks noChangeAspect="1"/>
          </p:cNvPicPr>
          <p:nvPr/>
        </p:nvPicPr>
        <p:blipFill>
          <a:blip r:embed="rId3"/>
          <a:stretch>
            <a:fillRect/>
          </a:stretch>
        </p:blipFill>
        <p:spPr>
          <a:xfrm>
            <a:off x="2209800" y="2095838"/>
            <a:ext cx="7772400" cy="272907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811961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8.7|35.9|19.6"/>
</p:tagLst>
</file>

<file path=ppt/tags/tag2.xml><?xml version="1.0" encoding="utf-8"?>
<p:tagLst xmlns:a="http://schemas.openxmlformats.org/drawingml/2006/main" xmlns:r="http://schemas.openxmlformats.org/officeDocument/2006/relationships" xmlns:p="http://schemas.openxmlformats.org/presentationml/2006/main">
  <p:tag name="TIMING" val="|12.4|18.2"/>
</p:tagLst>
</file>

<file path=ppt/tags/tag3.xml><?xml version="1.0" encoding="utf-8"?>
<p:tagLst xmlns:a="http://schemas.openxmlformats.org/drawingml/2006/main" xmlns:r="http://schemas.openxmlformats.org/officeDocument/2006/relationships" xmlns:p="http://schemas.openxmlformats.org/presentationml/2006/main">
  <p:tag name="TIMING" val="|7.7|84.5"/>
</p:tagLst>
</file>

<file path=ppt/tags/tag4.xml><?xml version="1.0" encoding="utf-8"?>
<p:tagLst xmlns:a="http://schemas.openxmlformats.org/drawingml/2006/main" xmlns:r="http://schemas.openxmlformats.org/officeDocument/2006/relationships" xmlns:p="http://schemas.openxmlformats.org/presentationml/2006/main">
  <p:tag name="TIMING" val="|18.2|25.7"/>
</p:tagLst>
</file>

<file path=ppt/tags/tag5.xml><?xml version="1.0" encoding="utf-8"?>
<p:tagLst xmlns:a="http://schemas.openxmlformats.org/drawingml/2006/main" xmlns:r="http://schemas.openxmlformats.org/officeDocument/2006/relationships" xmlns:p="http://schemas.openxmlformats.org/presentationml/2006/main">
  <p:tag name="TIMING" val="|32.4|15|14.2"/>
</p:tagLst>
</file>

<file path=ppt/tags/tag6.xml><?xml version="1.0" encoding="utf-8"?>
<p:tagLst xmlns:a="http://schemas.openxmlformats.org/drawingml/2006/main" xmlns:r="http://schemas.openxmlformats.org/officeDocument/2006/relationships" xmlns:p="http://schemas.openxmlformats.org/presentationml/2006/main">
  <p:tag name="TIMING" val="|4.9|13.4|22.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6DF847-8171-0248-ACB7-D042AE450DA0}">
  <we:reference id="WA200010001" version="1.0.0.1" store="Omex" storeType="OMEX"/>
  <we:alternateReferences>
    <we:reference id="WA200010001" version="1.0.0.1" store="WA200010001" storeType="OMEX"/>
  </we:alternateReferences>
  <we:properties>
    <we:property name="claude.fileId" value="&quot;4344827b-ef57-410d-a4c3-51c3eae1ea5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Droplet</Template>
  <TotalTime>7921</TotalTime>
  <Words>8150</Words>
  <Application>Microsoft Macintosh PowerPoint</Application>
  <PresentationFormat>Widescreen</PresentationFormat>
  <Paragraphs>627</Paragraphs>
  <Slides>53</Slides>
  <Notes>45</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53</vt:i4>
      </vt:variant>
    </vt:vector>
  </HeadingPairs>
  <TitlesOfParts>
    <vt:vector size="65" baseType="lpstr">
      <vt:lpstr>Aptos</vt:lpstr>
      <vt:lpstr>Aptos Display</vt:lpstr>
      <vt:lpstr>Arial</vt:lpstr>
      <vt:lpstr>Consolas</vt:lpstr>
      <vt:lpstr>Futura</vt:lpstr>
      <vt:lpstr>Futura Light</vt:lpstr>
      <vt:lpstr>Futura Medium</vt:lpstr>
      <vt:lpstr>Montserrat</vt:lpstr>
      <vt:lpstr>Play</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Martin</dc:creator>
  <cp:lastModifiedBy>Eric Martin</cp:lastModifiedBy>
  <cp:revision>2</cp:revision>
  <dcterms:created xsi:type="dcterms:W3CDTF">2026-04-16T17:42:24Z</dcterms:created>
  <dcterms:modified xsi:type="dcterms:W3CDTF">2026-10-15T13:40:29Z</dcterms:modified>
</cp:coreProperties>
</file>